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5D07F"/>
                </a:solidFill>
                <a:latin typeface="Calibri"/>
              </a:defRPr>
            </a:pPr>
            <a:r>
              <a:t>PaddyGuard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F5EC"/>
                </a:solidFill>
                <a:latin typeface="Calibri"/>
              </a:defRPr>
            </a:pPr>
            <a:r>
              <a:t>Deep Learning-Based Rice Leaf Disease Detection</a:t>
            </a:r>
            <a:br/>
            <a:r>
              <a:t>&amp; Variable-Rate Chemical Spraying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FB3A0"/>
                </a:solidFill>
                <a:latin typeface="Calibri"/>
              </a:defRPr>
            </a:pPr>
            <a:r>
              <a:t>Review III — Panel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B3A0"/>
                </a:solidFill>
                <a:latin typeface="Calibri"/>
              </a:defRPr>
            </a:pPr>
            <a:r>
              <a:t>Based on Tewari et al. (2020)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Problem Statement &amp;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20-40% of global crop yield lost to plant diseases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Traditional uniform spraying wastes chemicals &amp; harms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Manual disease diagnosis is slow and subjective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Existing systems lack real severity measurement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CNN classifier identifies the disease type (6 classes incl. Healthy)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Trained segmentation model measures actual diseased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Disease-specific dosing: different diseases get different spray 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Variable-rate spray: solenoid open time proportional to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Interactive web demo for real-time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System Architecture —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1.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User uploads</a:t>
            </a:r>
            <a:br/>
            <a:r>
              <a:t>a leaf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2.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EfficientNetV2-B0</a:t>
            </a:r>
            <a:br/>
            <a:r>
              <a:t>identifies disease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3.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U-Net detects</a:t>
            </a:r>
            <a:br/>
            <a:r>
              <a:t>lesion pixels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59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4. 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diseased ÷ leaf</a:t>
            </a:r>
            <a:br/>
            <a:r>
              <a:t>= severity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371600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A5A"/>
                </a:solidFill>
                <a:latin typeface="Calibri"/>
              </a:defRPr>
            </a:pPr>
            <a:r>
              <a:t>5. Spray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C_eff → solenoid</a:t>
            </a:r>
            <a:br/>
            <a:r>
              <a:t>open time (t_s)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Key novelty: The CNN diagnoses WHICH disease; segmentation measures HOW MUCH.</a:t>
            </a:r>
            <a:br/>
            <a:r>
              <a:t>These are independent — the disease type then scales the spray dose via a per-disease factor.</a:t>
            </a:r>
            <a:br/>
            <a:r>
              <a:t>Interactive leaf tracing (MobileSAM / free-form polygon) isolates the main leaf from cluttered backgrounds.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Modules Implemented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503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 Classifier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EfficientNetV2-B0 (transfer learning)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Lesion Segmenter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U-Net (MobileNetV2 encoder), Dice+BCE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Isolation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MobileSAM + free-form lasso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Severity Measurement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diseased px ÷ leaf px × 100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Disease-Specific Dosing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Per-disease factor × base coefficient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Variable-Rate Spray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Standardized solenoid timing (0.5–3.0s)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Confidence Gate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Flag uncertain predictions (&lt;70%)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Web Demo (PaddyGuard)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Flask + animated frontend (3 tabs)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Classifier Results — 3-Class Model (UCI Dataset)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test set: 164 images the model never saw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7040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Bacterial leaf blight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 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smut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Interpretation: Bacterial leaf blight classified perfectly.</a:t>
            </a:r>
            <a:br/>
            <a:r>
              <a:t>The small error is Brown spot ↔ Leaf smut (visually similar tan lesions).</a:t>
            </a:r>
            <a:br/>
            <a:r>
              <a:t>91.5% test accuracy on a fully held-out set demonstrates the architecture works well with sufficient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Classifier Results — 6-Class Merged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validation: 815 images · 4 of 6 classes evaluated (HF dataset)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7040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Neck_Blast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Brown_Spot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83.8% overall · Neck blast: perfect (1.00 F1) · Healthy: strong (0.85 F1)</a:t>
            </a:r>
            <a:br/>
            <a:r>
              <a:t>The spray/don't-spray decision (Healthy vs diseased) is reliable.</a:t>
            </a:r>
            <a:br/>
            <a:r>
              <a:t>Blast vs Brown spot are the weaker pair (both tan lesions) — addressable with more data.</a:t>
            </a:r>
            <a:br/>
            <a:r>
              <a:t>Bacterial Blight &amp; Leaf Smut (55 images each) not in this eval set — known data limitation.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Lesion Segmenter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Evaluated on PlantSeg validation set: 1,247 images with expert pixel masks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9601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Our U-Net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PlantSeg Best (SegNext)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PlantSeg DeepLabV3+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0.4450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0.4452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0.2508–0.2718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Mean Dice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0.5641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Our lightweight binary U-Net (MobileNetV2 encoder) achieves 0.445 IoU —</a:t>
            </a:r>
            <a:br/>
            <a:r>
              <a:t>on par with the PlantSeg paper's BEST baseline (SegNext-MSCAN-L at 0.4452 mIoU)</a:t>
            </a:r>
            <a:br/>
            <a:r>
              <a:t>while being far smaller and faster.</a:t>
            </a:r>
            <a:br/>
            <a:br/>
            <a:r>
              <a:t>Note: PlantSeg baselines are on 115-class multi-disease segmentation;</a:t>
            </a:r>
            <a:br/>
            <a:r>
              <a:t>our task is simpler (binary lesion vs not), but the comparison demonstrates</a:t>
            </a:r>
            <a:br/>
            <a:r>
              <a:t>competitive pixel-level disease detection on in-the-wild images.</a:t>
            </a:r>
            <a:br/>
            <a:br/>
            <a:r>
              <a:t>The trained model clearly outperforms the classical colour-threshold method</a:t>
            </a:r>
            <a:br/>
            <a:r>
              <a:t>on cluttered field photos.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Severity → Variable-Rate Spray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960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822960"/>
                <a:gridCol w="1828800"/>
                <a:gridCol w="1828800"/>
                <a:gridCol w="1828800"/>
                <a:gridCol w="1188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Severity %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Base C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Bact. blight (×1.2)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Brown spot (×1.0)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Leaf smut (×0.8)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Spray time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 (Healthy)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0.00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0.1 – 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~1.1–1.4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5.1 – 20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~1.6–2.2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&gt; 20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~2.1–2.9 s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onsolas"/>
              </a:defRPr>
            </a:pPr>
            <a:r>
              <a:t>Equations (Tewari et al. 2020):</a:t>
            </a:r>
            <a:br/>
            <a:r>
              <a:t>  a = (C_eff × A) / (d × 10)  [mL/hill]     A=500 L/ha, d=25 hills/m²</a:t>
            </a:r>
            <a:br/>
            <a:r>
              <a:t>  t_s = t_min + C_eff × (t_max − t_min)       t_min=0.5s, t_max=3.0s</a:t>
            </a:r>
            <a:br/>
            <a:br/>
            <a:r>
              <a:t>Solenoid timing standardized to a real 0.5–3.0s valve window</a:t>
            </a:r>
            <a:br/>
            <a:r>
              <a:t>(UNL Extension G2302; Agriculture 2024, 14(3), 361).</a:t>
            </a:r>
            <a:br/>
            <a:r>
              <a:t>Disease-specific factors ensure the CNN's diagnosis genuinely affects the spray dose.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Robustness &amp; Safety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Confidence Gate (70%)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Sub-70% predictions flagged as 'uncertain' —</a:t>
            </a:r>
            <a:br/>
            <a:r>
              <a:t>stops the system from asserting shaky guesses.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Severity Floor (1.5%)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If diseased area &lt; 1.5% of leaf, treated as Healthy →</a:t>
            </a:r>
            <a:br/>
            <a:r>
              <a:t>no spray. Eliminates false positives from stray specks.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Graceful Fallbacks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Trained segmenter → colour method; SAM → auto leaf mask.</a:t>
            </a:r>
            <a:br/>
            <a:r>
              <a:t>Every component degrades gracefully if unavailable.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Interactive Leaf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Free-form polygon drawn by user becomes the leaf mask.</a:t>
            </a:r>
            <a:br/>
            <a:r>
              <a:t>Solves the 'background counted as leaf'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t>Known 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Bacterial Blight &amp; Leaf Smut: only 55 training images each → weakest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Blast vs Brown Spot confusion (visually similar tan lesions)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Field-photo segmentation imperfect on very cluttered backgrounds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Spray timing (0.5–3.0s) is a research-backed default, not hardware-calibrated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PlantSeg segmenter evaluated at 0.445 IoU — strong but not pixel-perfect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Collect more balanced training data for weak classes (biggest accuracy lever)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Higher input resolution (299/384 px) to distinguish similar lesions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3230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Larger backbone (EfficientNetV2-B2/B3) for better 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797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Hardware calibration: measure actual pump/nozzle → tune spray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272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Deploy on edge device (TFLite on Raspberry Pi / ESP32 for field use)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5D07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5EC"/>
                </a:solidFill>
                <a:latin typeface="Consolas"/>
              </a:defRPr>
            </a:pPr>
            <a:r>
              <a:t>python app/server.py → http://127.0.0.1:5000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FB3A0"/>
                </a:solidFill>
                <a:latin typeface="Calibri"/>
              </a:defRPr>
            </a:pPr>
            <a:r>
              <a:t>1. Upload a rice leaf image (drag &amp; drop)</a:t>
            </a:r>
            <a:br/>
            <a:r>
              <a:t>2. Auto-analysis: disease class + severity + spray decision</a:t>
            </a:r>
            <a:br/>
            <a:r>
              <a:t>3. Trace around the main leaf for precise isolation</a:t>
            </a:r>
            <a:br/>
            <a:r>
              <a:t>4. Watch: animated severity formulas → disease-specific dosing → spray hose animation</a:t>
            </a:r>
            <a:br/>
            <a:r>
              <a:t>5. History tab: browse all past analyses</a:t>
            </a:r>
            <a:br/>
            <a:r>
              <a:t>6. About tab: pipeline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5D07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F5E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B3A0"/>
                </a:solidFill>
                <a:latin typeface="Calibri"/>
              </a:defRPr>
            </a:pPr>
            <a:r>
              <a:t>PaddyGuard · EfficientNetV2-B0 + U-Net Segmentation + MobileSAM</a:t>
            </a:r>
            <a:br/>
            <a:r>
              <a:t>Based on Tewari et al. (2020) 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