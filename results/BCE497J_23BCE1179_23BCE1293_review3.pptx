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74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6" r:id="rId14"/>
    <p:sldId id="27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56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05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2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461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650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05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58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088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152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39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92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7958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551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288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3527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142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632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5D11027-2A18-4057-8628-C59931EAF63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1F179A7-BF08-4EF9-B8B7-BADDAC24B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8335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548441" y="2676733"/>
            <a:ext cx="7772400" cy="1470025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 sz="2400" b="1">
                <a:solidFill>
                  <a:srgbClr val="1B3A5C"/>
                </a:solidFill>
              </a:defRPr>
            </a:pPr>
            <a:r>
              <a:rPr lang="en-US" sz="2400" b="1" dirty="0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Deep Learning and </a:t>
            </a:r>
            <a:r>
              <a:rPr lang="en-US" sz="2400" b="1" dirty="0" err="1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IoT</a:t>
            </a:r>
            <a:r>
              <a:rPr lang="en-US" sz="2400" b="1" dirty="0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-Based Real-Time</a:t>
            </a:r>
          </a:p>
          <a:p>
            <a:pPr>
              <a:defRPr sz="2400" b="1">
                <a:solidFill>
                  <a:srgbClr val="1B3A5C"/>
                </a:solidFill>
              </a:defRPr>
            </a:pPr>
            <a:r>
              <a:rPr lang="en-US" sz="2400" b="1" dirty="0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Variable-Rate Chemical Spraying System</a:t>
            </a:r>
          </a:p>
          <a:p>
            <a:pPr>
              <a:defRPr sz="2400" b="1">
                <a:solidFill>
                  <a:srgbClr val="1B3A5C"/>
                </a:solidFill>
              </a:defRPr>
            </a:pPr>
            <a:r>
              <a:rPr lang="en-US" sz="2400" b="1" dirty="0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for Disease Control in Paddy Crop</a:t>
            </a:r>
            <a:endParaRPr lang="en-US" sz="2400" b="1" dirty="0">
              <a:solidFill>
                <a:schemeClr val="bg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3019245" y="4537493"/>
            <a:ext cx="5175849" cy="1549879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defRPr sz="1400">
                <a:solidFill>
                  <a:srgbClr val="2E5E8E"/>
                </a:solidFill>
              </a:defRPr>
            </a:pPr>
            <a:r>
              <a:rPr lang="en-IN" sz="1400" dirty="0" err="1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Sourish</a:t>
            </a:r>
            <a:r>
              <a:rPr lang="en-IN" sz="1400" dirty="0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 Das (23BCE1179) &amp; Aditya Singh (23BCE1293)</a:t>
            </a:r>
          </a:p>
          <a:p>
            <a:pPr>
              <a:defRPr sz="1400">
                <a:solidFill>
                  <a:srgbClr val="2E5E8E"/>
                </a:solidFill>
              </a:defRPr>
            </a:pPr>
            <a:r>
              <a:rPr lang="en-IN" sz="1400" dirty="0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Guide – </a:t>
            </a:r>
            <a:r>
              <a:rPr lang="en-IN" sz="1400" dirty="0" err="1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Dr.</a:t>
            </a:r>
            <a:r>
              <a:rPr lang="en-IN" sz="1400" dirty="0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 </a:t>
            </a:r>
            <a:r>
              <a:rPr lang="en-IN" sz="1400" dirty="0" err="1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Vergin</a:t>
            </a:r>
            <a:r>
              <a:rPr lang="en-IN" sz="1400" dirty="0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 Raja </a:t>
            </a:r>
            <a:r>
              <a:rPr lang="en-IN" sz="1400" dirty="0" err="1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Sarobin</a:t>
            </a:r>
            <a:r>
              <a:rPr lang="en-IN" sz="1400" dirty="0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 M.</a:t>
            </a:r>
          </a:p>
          <a:p>
            <a:pPr>
              <a:defRPr sz="1400">
                <a:solidFill>
                  <a:srgbClr val="2E5E8E"/>
                </a:solidFill>
              </a:defRPr>
            </a:pPr>
            <a:r>
              <a:rPr lang="en-IN" sz="1400" dirty="0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BCSE497J - Project I | Fall Semester 2026-27</a:t>
            </a:r>
          </a:p>
          <a:p>
            <a:pPr>
              <a:defRPr sz="1400">
                <a:solidFill>
                  <a:srgbClr val="2E5E8E"/>
                </a:solidFill>
              </a:defRPr>
            </a:pPr>
            <a:r>
              <a:rPr lang="en-IN" sz="1400" dirty="0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School of Computer Science and Engineering (SCOPE)</a:t>
            </a:r>
          </a:p>
          <a:p>
            <a:pPr>
              <a:defRPr sz="1400">
                <a:solidFill>
                  <a:srgbClr val="2E5E8E"/>
                </a:solidFill>
              </a:defRPr>
            </a:pPr>
            <a:r>
              <a:rPr lang="en-IN" sz="1400" dirty="0" smtClean="0">
                <a:solidFill>
                  <a:schemeClr val="bg2">
                    <a:lumMod val="25000"/>
                    <a:lumOff val="75000"/>
                  </a:schemeClr>
                </a:solidFill>
              </a:rPr>
              <a:t>VIT Chennai</a:t>
            </a:r>
            <a:endParaRPr lang="en-IN" sz="1400" dirty="0">
              <a:solidFill>
                <a:schemeClr val="bg2">
                  <a:lumMod val="25000"/>
                  <a:lumOff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950" t="2166" r="1327" b="2560"/>
          <a:stretch/>
        </p:blipFill>
        <p:spPr>
          <a:xfrm>
            <a:off x="3428999" y="470753"/>
            <a:ext cx="4235570" cy="181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948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0624" y="859536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rPr dirty="0">
                <a:solidFill>
                  <a:schemeClr val="tx2">
                    <a:lumMod val="90000"/>
                  </a:schemeClr>
                </a:solidFill>
              </a:rPr>
              <a:t>Problem Statement &amp; Objective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682496"/>
            <a:ext cx="5486400" cy="274320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86537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5D07F"/>
                </a:solidFill>
                <a:latin typeface="Calibri"/>
              </a:defRPr>
            </a:pPr>
            <a:r>
              <a:rPr dirty="0"/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32257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20-40% of global crop yield lost to plant diseases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67004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Traditional uniform spraying wastes chemicals &amp; harms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017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dirty="0"/>
              <a:t>• Manual disease diagnosis is slow and subjective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36499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Existing systems lack real severity measurement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82496"/>
            <a:ext cx="5486400" cy="274320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55664" y="186537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2257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CNN classifier identifies the disease type (6 classes incl. Healthy)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67004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Trained segmentation model measures actual diseased area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3017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Disease-specific dosing: different diseases get different spray intensity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36499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Variable-rate spray: solenoid open time proportional to severity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712463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t>• Interactive web demo for real-time diagnosis</a:t>
            </a:r>
          </a:p>
        </p:txBody>
      </p:sp>
    </p:spTree>
    <p:extLst>
      <p:ext uri="{BB962C8B-B14F-4D97-AF65-F5344CB8AC3E}">
        <p14:creationId xmlns:p14="http://schemas.microsoft.com/office/powerpoint/2010/main" val="183008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4632" y="740664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rPr sz="3200" dirty="0">
                <a:solidFill>
                  <a:schemeClr val="tx2">
                    <a:lumMod val="90000"/>
                  </a:schemeClr>
                </a:solidFill>
              </a:rPr>
              <a:t>System Architecture —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4632" y="1837944"/>
            <a:ext cx="2103120" cy="201168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621792" y="1929384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5D07F"/>
                </a:solidFill>
                <a:latin typeface="Calibri"/>
              </a:defRPr>
            </a:pPr>
            <a:r>
              <a:rPr dirty="0"/>
              <a:t>1.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478024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/>
              <a:t>User uploads</a:t>
            </a:r>
            <a:br>
              <a:rPr sz="1400"/>
            </a:br>
            <a:r>
              <a:rPr sz="1400"/>
              <a:t>a leaf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16352" y="1837944"/>
            <a:ext cx="2103120" cy="201168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2953511" y="1929384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2. Classify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3511" y="2478024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/>
              <a:t>EfficientNetV2-B0</a:t>
            </a:r>
            <a:br>
              <a:rPr sz="1400"/>
            </a:br>
            <a:r>
              <a:rPr sz="1400"/>
              <a:t>identifies disease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8072" y="1837944"/>
            <a:ext cx="2103120" cy="201168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285232" y="1929384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3.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2" y="2478024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/>
              <a:t>U-Net detects</a:t>
            </a:r>
            <a:br>
              <a:rPr sz="1400"/>
            </a:br>
            <a:r>
              <a:rPr sz="1400"/>
              <a:t>lesion pixels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791" y="1837944"/>
            <a:ext cx="2103120" cy="201168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7616951" y="1929384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443"/>
                </a:solidFill>
                <a:latin typeface="Calibri"/>
              </a:defRPr>
            </a:pPr>
            <a:r>
              <a:t>4. Severity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1" y="2478024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/>
              <a:t>diseased ÷ leaf</a:t>
            </a:r>
            <a:br>
              <a:rPr sz="1400"/>
            </a:br>
            <a:r>
              <a:rPr sz="1400"/>
              <a:t>= severity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11512" y="1837944"/>
            <a:ext cx="2103120" cy="201168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9948672" y="1929384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A5A"/>
                </a:solidFill>
                <a:latin typeface="Calibri"/>
              </a:defRPr>
            </a:pPr>
            <a:r>
              <a:t>5. Spray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48672" y="2478024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/>
              <a:t>C_eff → solenoid</a:t>
            </a:r>
            <a:br>
              <a:rPr sz="1400"/>
            </a:br>
            <a:r>
              <a:rPr sz="1400"/>
              <a:t>open time (t_s)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370832"/>
            <a:ext cx="10972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B3A0"/>
                </a:solidFill>
                <a:latin typeface="Calibri"/>
              </a:defRPr>
            </a:pPr>
            <a:r>
              <a:rPr dirty="0">
                <a:solidFill>
                  <a:schemeClr val="tx2">
                    <a:lumMod val="90000"/>
                  </a:schemeClr>
                </a:solidFill>
              </a:rPr>
              <a:t>Key novelty: The CNN diagnoses WHICH disease; segmentation measures HOW MUCH.</a:t>
            </a:r>
            <a:br>
              <a:rPr dirty="0">
                <a:solidFill>
                  <a:schemeClr val="tx2">
                    <a:lumMod val="90000"/>
                  </a:schemeClr>
                </a:solidFill>
              </a:rPr>
            </a:br>
            <a:r>
              <a:rPr dirty="0">
                <a:solidFill>
                  <a:schemeClr val="tx2">
                    <a:lumMod val="90000"/>
                  </a:schemeClr>
                </a:solidFill>
              </a:rPr>
              <a:t>These are independent — the disease type then scales the spray dose via a per-disease factor.</a:t>
            </a:r>
            <a:br>
              <a:rPr dirty="0">
                <a:solidFill>
                  <a:schemeClr val="tx2">
                    <a:lumMod val="90000"/>
                  </a:schemeClr>
                </a:solidFill>
              </a:rPr>
            </a:br>
            <a:r>
              <a:rPr dirty="0">
                <a:solidFill>
                  <a:schemeClr val="tx2">
                    <a:lumMod val="90000"/>
                  </a:schemeClr>
                </a:solidFill>
              </a:rPr>
              <a:t>Interactive leaf tracing (</a:t>
            </a:r>
            <a:r>
              <a:rPr dirty="0" err="1">
                <a:solidFill>
                  <a:schemeClr val="tx2">
                    <a:lumMod val="90000"/>
                  </a:schemeClr>
                </a:solidFill>
              </a:rPr>
              <a:t>MobileSAM</a:t>
            </a:r>
            <a:r>
              <a:rPr dirty="0">
                <a:solidFill>
                  <a:schemeClr val="tx2">
                    <a:lumMod val="90000"/>
                  </a:schemeClr>
                </a:solidFill>
              </a:rPr>
              <a:t> / free-form polygon) isolates the main leaf from cluttered backgrounds.</a:t>
            </a:r>
          </a:p>
        </p:txBody>
      </p:sp>
    </p:spTree>
    <p:extLst>
      <p:ext uri="{BB962C8B-B14F-4D97-AF65-F5344CB8AC3E}">
        <p14:creationId xmlns:p14="http://schemas.microsoft.com/office/powerpoint/2010/main" val="251471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992" r="4338"/>
          <a:stretch/>
        </p:blipFill>
        <p:spPr>
          <a:xfrm>
            <a:off x="1922023" y="129396"/>
            <a:ext cx="7851706" cy="16526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82151" y="2025483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rPr dirty="0">
                <a:solidFill>
                  <a:schemeClr val="tx2">
                    <a:lumMod val="90000"/>
                  </a:schemeClr>
                </a:solidFill>
              </a:rPr>
              <a:t>Modules Implemented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170734"/>
              </p:ext>
            </p:extLst>
          </p:nvPr>
        </p:nvGraphicFramePr>
        <p:xfrm>
          <a:off x="1682151" y="2727673"/>
          <a:ext cx="85039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rPr dirty="0"/>
                        <a:t>Method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Disease Classifier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EfficientNetV2-B0 (transfer learning)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Trained &amp; 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Lesion Segmenter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U-Net (MobileNetV2 encoder), Dice+BCE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Trained &amp; 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Leaf Isolation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MobileSAM + free-form lasso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Severity Measurement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diseased px ÷ leaf px × 100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Disease-Specific Dosing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Per-disease factor × base coefficient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Variable-Rate Spray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Standardized solenoid timing (0.5–3.0s)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Confidence Gate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Flag uncertain predictions (&lt;70%)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Web Demo (PaddyGuard)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Flask + animated frontend (3 tabs)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rPr dirty="0"/>
                        <a:t>Deployed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22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199" y="274320"/>
            <a:ext cx="115002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rPr dirty="0">
                <a:solidFill>
                  <a:schemeClr val="tx2">
                    <a:lumMod val="90000"/>
                  </a:schemeClr>
                </a:solidFill>
              </a:rPr>
              <a:t>Classifier Results — 3-Class Model (UCI Dataset)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1005839"/>
            <a:ext cx="57501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B3A0"/>
                </a:solidFill>
                <a:latin typeface="Calibri"/>
              </a:defRPr>
            </a:pPr>
            <a:r>
              <a:t>Held-out test set: 164 images the model never saw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968947"/>
              </p:ext>
            </p:extLst>
          </p:nvPr>
        </p:nvGraphicFramePr>
        <p:xfrm>
          <a:off x="457200" y="1554480"/>
          <a:ext cx="5941793" cy="2471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8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8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422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22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Bacterial leaf blight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22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Brown spot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22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Leaf smut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22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Overall accuracy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0.915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164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498" y="1472183"/>
            <a:ext cx="5226717" cy="44800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297680"/>
            <a:ext cx="566755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B3A0"/>
                </a:solidFill>
                <a:latin typeface="Calibri"/>
              </a:defRPr>
            </a:pPr>
            <a:r>
              <a:rPr sz="1600" dirty="0">
                <a:solidFill>
                  <a:schemeClr val="tx2">
                    <a:lumMod val="90000"/>
                  </a:schemeClr>
                </a:solidFill>
              </a:rPr>
              <a:t>Bacterial leaf blight classified perfectly. The small error is</a:t>
            </a:r>
            <a:br>
              <a:rPr sz="1600" dirty="0">
                <a:solidFill>
                  <a:schemeClr val="tx2">
                    <a:lumMod val="90000"/>
                  </a:schemeClr>
                </a:solidFill>
              </a:rPr>
            </a:br>
            <a:r>
              <a:rPr sz="1600" dirty="0">
                <a:solidFill>
                  <a:schemeClr val="tx2">
                    <a:lumMod val="90000"/>
                  </a:schemeClr>
                </a:solidFill>
              </a:rPr>
              <a:t>Brown spot ↔ Leaf smut (visually similar tan lesions).</a:t>
            </a:r>
            <a:br>
              <a:rPr sz="1600" dirty="0">
                <a:solidFill>
                  <a:schemeClr val="tx2">
                    <a:lumMod val="90000"/>
                  </a:schemeClr>
                </a:solidFill>
              </a:rPr>
            </a:br>
            <a:r>
              <a:rPr sz="1600" dirty="0">
                <a:solidFill>
                  <a:schemeClr val="tx2">
                    <a:lumMod val="90000"/>
                  </a:schemeClr>
                </a:solidFill>
              </a:rPr>
              <a:t>91.5% on a fully held-out set shows the architecture works well</a:t>
            </a:r>
            <a:br>
              <a:rPr sz="1600" dirty="0">
                <a:solidFill>
                  <a:schemeClr val="tx2">
                    <a:lumMod val="90000"/>
                  </a:schemeClr>
                </a:solidFill>
              </a:rPr>
            </a:br>
            <a:r>
              <a:rPr sz="1600" dirty="0">
                <a:solidFill>
                  <a:schemeClr val="tx2">
                    <a:lumMod val="90000"/>
                  </a:schemeClr>
                </a:solidFill>
              </a:rPr>
              <a:t>when class data is sufficient.</a:t>
            </a:r>
          </a:p>
        </p:txBody>
      </p:sp>
    </p:spTree>
    <p:extLst>
      <p:ext uri="{BB962C8B-B14F-4D97-AF65-F5344CB8AC3E}">
        <p14:creationId xmlns:p14="http://schemas.microsoft.com/office/powerpoint/2010/main" val="1996099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40" y="761628"/>
            <a:ext cx="9993120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2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6815" y="308826"/>
            <a:ext cx="11642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rPr sz="3600" dirty="0">
                <a:solidFill>
                  <a:schemeClr val="tx2">
                    <a:lumMod val="90000"/>
                  </a:schemeClr>
                </a:solidFill>
              </a:rPr>
              <a:t>Classifier Results — 6-Class Merged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815" y="1040346"/>
            <a:ext cx="7761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B3A0"/>
                </a:solidFill>
                <a:latin typeface="Calibri"/>
              </a:defRPr>
            </a:pPr>
            <a:r>
              <a:t>Held-out validation: 815 images · 4 of 6 classes evaluated (HF dataset)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996395"/>
              </p:ext>
            </p:extLst>
          </p:nvPr>
        </p:nvGraphicFramePr>
        <p:xfrm>
          <a:off x="396813" y="1588986"/>
          <a:ext cx="6015480" cy="2671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0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0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526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130C"/>
                          </a:solidFill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35D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2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Neck_Blast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206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2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288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2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Brown_Spot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2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Blast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0.67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195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2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Overall accuracy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0.838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F5EC"/>
                          </a:solidFill>
                          <a:latin typeface="Calibri"/>
                        </a:defRPr>
                      </a:pPr>
                      <a:r>
                        <a:t>815</a:t>
                      </a:r>
                    </a:p>
                  </a:txBody>
                  <a:tcPr>
                    <a:solidFill>
                      <a:srgbClr val="122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confusion_matrix_mer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174" y="1497545"/>
            <a:ext cx="5189653" cy="45409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6815" y="4515065"/>
            <a:ext cx="63065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B3A0"/>
                </a:solidFill>
                <a:latin typeface="Calibri"/>
              </a:defRPr>
            </a:pPr>
            <a:r>
              <a:rPr sz="1600" dirty="0">
                <a:solidFill>
                  <a:schemeClr val="tx2">
                    <a:lumMod val="90000"/>
                  </a:schemeClr>
                </a:solidFill>
              </a:rPr>
              <a:t>Neck blast: perfect (1.00) · Healthy: strong (0.85) — the spray/</a:t>
            </a:r>
            <a:br>
              <a:rPr sz="1600" dirty="0">
                <a:solidFill>
                  <a:schemeClr val="tx2">
                    <a:lumMod val="90000"/>
                  </a:schemeClr>
                </a:solidFill>
              </a:rPr>
            </a:br>
            <a:r>
              <a:rPr sz="1600" dirty="0">
                <a:solidFill>
                  <a:schemeClr val="tx2">
                    <a:lumMod val="90000"/>
                  </a:schemeClr>
                </a:solidFill>
              </a:rPr>
              <a:t>don't-spray decision is reliable. Blast vs Brown spot are the</a:t>
            </a:r>
            <a:br>
              <a:rPr sz="1600" dirty="0">
                <a:solidFill>
                  <a:schemeClr val="tx2">
                    <a:lumMod val="90000"/>
                  </a:schemeClr>
                </a:solidFill>
              </a:rPr>
            </a:br>
            <a:r>
              <a:rPr sz="1600" dirty="0">
                <a:solidFill>
                  <a:schemeClr val="tx2">
                    <a:lumMod val="90000"/>
                  </a:schemeClr>
                </a:solidFill>
              </a:rPr>
              <a:t>weaker pair (both tan lesions). Bacterial Blight &amp; Leaf Smut</a:t>
            </a:r>
            <a:br>
              <a:rPr sz="1600" dirty="0">
                <a:solidFill>
                  <a:schemeClr val="tx2">
                    <a:lumMod val="90000"/>
                  </a:schemeClr>
                </a:solidFill>
              </a:rPr>
            </a:br>
            <a:r>
              <a:rPr sz="1600" dirty="0">
                <a:solidFill>
                  <a:schemeClr val="tx2">
                    <a:lumMod val="90000"/>
                  </a:schemeClr>
                </a:solidFill>
              </a:rPr>
              <a:t>(55 </a:t>
            </a:r>
            <a:r>
              <a:rPr sz="1600" dirty="0" err="1">
                <a:solidFill>
                  <a:schemeClr val="tx2">
                    <a:lumMod val="90000"/>
                  </a:schemeClr>
                </a:solidFill>
              </a:rPr>
              <a:t>imgs</a:t>
            </a:r>
            <a:r>
              <a:rPr sz="1600" dirty="0">
                <a:solidFill>
                  <a:schemeClr val="tx2">
                    <a:lumMod val="90000"/>
                  </a:schemeClr>
                </a:solidFill>
              </a:rPr>
              <a:t> each) — known data limitation.</a:t>
            </a:r>
          </a:p>
        </p:txBody>
      </p:sp>
    </p:spTree>
    <p:extLst>
      <p:ext uri="{BB962C8B-B14F-4D97-AF65-F5344CB8AC3E}">
        <p14:creationId xmlns:p14="http://schemas.microsoft.com/office/powerpoint/2010/main" val="1988682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24" y="524369"/>
            <a:ext cx="10583752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790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03" y="109074"/>
            <a:ext cx="10526594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93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534" y="969265"/>
            <a:ext cx="9961389" cy="471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09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47153"/>
            <a:ext cx="10698068" cy="67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29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6" y="95559"/>
            <a:ext cx="10759266" cy="676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58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24486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rPr sz="3200" dirty="0">
                <a:solidFill>
                  <a:schemeClr val="tx2">
                    <a:lumMod val="90000"/>
                  </a:schemeClr>
                </a:solidFill>
              </a:rPr>
              <a:t>Robustness &amp; Safety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47446"/>
            <a:ext cx="5394960" cy="219456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731520" y="1530326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443"/>
                </a:solidFill>
                <a:latin typeface="Calibri"/>
              </a:defRPr>
            </a:pPr>
            <a:r>
              <a:t>Confidence Gate (70%)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78966"/>
            <a:ext cx="484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/>
              <a:t>Sub-70% predictions flagged as 'uncertain' —</a:t>
            </a:r>
            <a:br>
              <a:rPr sz="1400"/>
            </a:br>
            <a:r>
              <a:rPr sz="1400"/>
              <a:t>stops the system from asserting shaky guesses.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47446"/>
            <a:ext cx="5394960" cy="219456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6492240" y="1530326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5D07F"/>
                </a:solidFill>
                <a:latin typeface="Calibri"/>
              </a:defRPr>
            </a:pPr>
            <a:r>
              <a:t>Severity Floor (1.5%)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78966"/>
            <a:ext cx="484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/>
              <a:t>If diseased area &lt; 1.5% of leaf, treated as Healthy →</a:t>
            </a:r>
            <a:br>
              <a:rPr sz="1400"/>
            </a:br>
            <a:r>
              <a:rPr sz="1400"/>
              <a:t>no spray. Eliminates false positives from stray specks.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07766"/>
            <a:ext cx="5394960" cy="219456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731520" y="4090646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Graceful Fallbacks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39286"/>
            <a:ext cx="484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/>
              <a:t>Trained segmenter → colour method; SAM → auto leaf mask.</a:t>
            </a:r>
            <a:br>
              <a:rPr sz="1400"/>
            </a:br>
            <a:r>
              <a:rPr sz="1400"/>
              <a:t>Every component degrades gracefully if unavailable.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07766"/>
            <a:ext cx="5394960" cy="219456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6492240" y="4090646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Interactive Leaf Tracing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639286"/>
            <a:ext cx="484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/>
              <a:t>Free-form polygon drawn by user becomes the leaf mask.</a:t>
            </a:r>
            <a:br>
              <a:rPr sz="1400"/>
            </a:br>
            <a:r>
              <a:rPr sz="1400"/>
              <a:t>Solves the 'background counted as leaf' problem.</a:t>
            </a:r>
          </a:p>
        </p:txBody>
      </p:sp>
    </p:spTree>
    <p:extLst>
      <p:ext uri="{BB962C8B-B14F-4D97-AF65-F5344CB8AC3E}">
        <p14:creationId xmlns:p14="http://schemas.microsoft.com/office/powerpoint/2010/main" val="2807993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2694" y="61075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5D07F"/>
                </a:solidFill>
                <a:latin typeface="Calibri"/>
              </a:defRPr>
            </a:pPr>
            <a:r>
              <a:rPr sz="3200"/>
              <a:t>Known Limitations &amp;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2694" y="1433710"/>
            <a:ext cx="5486400" cy="365760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697014" y="1616590"/>
            <a:ext cx="4937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443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014" y="2073790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 dirty="0"/>
              <a:t>• Bacterial Blight &amp; Leaf Smut: only 55 training images each → weakest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014" y="2593773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 dirty="0"/>
              <a:t>• Blast vs Brown Spot confusion (visually similar tan lesions)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014" y="2921772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 dirty="0"/>
              <a:t>• Field-photo segmentation imperfect on very cluttered backgrounds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014" y="3440252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 dirty="0"/>
              <a:t>• Spray timing (0.5–3.0s) is a research-backed default, not hardware-calibrated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014" y="3963472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 dirty="0"/>
              <a:t>• </a:t>
            </a:r>
            <a:r>
              <a:rPr sz="1400" dirty="0" err="1"/>
              <a:t>PlantSeg</a:t>
            </a:r>
            <a:r>
              <a:rPr sz="1400" dirty="0"/>
              <a:t> </a:t>
            </a:r>
            <a:r>
              <a:rPr sz="1400" dirty="0" err="1"/>
              <a:t>segmenter</a:t>
            </a:r>
            <a:r>
              <a:rPr sz="1400" dirty="0"/>
              <a:t> evaluated at 0.445 </a:t>
            </a:r>
            <a:r>
              <a:rPr sz="1400" dirty="0" err="1"/>
              <a:t>IoU</a:t>
            </a:r>
            <a:r>
              <a:rPr sz="1400" dirty="0"/>
              <a:t> — strong but not pixel-perfect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10886" y="1433710"/>
            <a:ext cx="5486400" cy="3657600"/>
          </a:xfrm>
          <a:prstGeom prst="roundRect">
            <a:avLst/>
          </a:prstGeom>
          <a:solidFill>
            <a:srgbClr val="12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6457734" y="1616590"/>
            <a:ext cx="4937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6F36B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7734" y="1987927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 dirty="0"/>
              <a:t>• Collect more balanced training data for weak classes (biggest accuracy lever</a:t>
            </a:r>
            <a:r>
              <a:rPr sz="1400" dirty="0" smtClean="0"/>
              <a:t>)</a:t>
            </a:r>
            <a:endParaRPr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6457734" y="2472299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 dirty="0"/>
              <a:t>• Higher input resolution (299/384 </a:t>
            </a:r>
            <a:r>
              <a:rPr sz="1400" dirty="0" err="1"/>
              <a:t>px</a:t>
            </a:r>
            <a:r>
              <a:rPr sz="1400" dirty="0"/>
              <a:t>) to distinguish similar lesions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7734" y="2926233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 dirty="0"/>
              <a:t>• Larger backbone (EfficientNetV2-B2/B3) for better feature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7734" y="3409628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 dirty="0"/>
              <a:t>• Hardware calibration: measure actual pump/nozzle → tune spray timing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734" y="3932848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5EC"/>
                </a:solidFill>
                <a:latin typeface="Calibri"/>
              </a:defRPr>
            </a:pPr>
            <a:r>
              <a:rPr sz="1400" dirty="0"/>
              <a:t>• Deploy on edge device (</a:t>
            </a:r>
            <a:r>
              <a:rPr sz="1400" dirty="0" err="1"/>
              <a:t>TFLite</a:t>
            </a:r>
            <a:r>
              <a:rPr sz="1400" dirty="0"/>
              <a:t> on Raspberry Pi / ESP32 for field use)</a:t>
            </a:r>
          </a:p>
        </p:txBody>
      </p:sp>
    </p:spTree>
    <p:extLst>
      <p:ext uri="{BB962C8B-B14F-4D97-AF65-F5344CB8AC3E}">
        <p14:creationId xmlns:p14="http://schemas.microsoft.com/office/powerpoint/2010/main" val="1300604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3"/>
            <a:ext cx="10353763" cy="1420930"/>
          </a:xfrm>
        </p:spPr>
        <p:txBody>
          <a:bodyPr>
            <a:normAutofit/>
          </a:bodyPr>
          <a:lstStyle/>
          <a:p>
            <a:r>
              <a:rPr lang="en-IN" sz="4000" dirty="0" smtClean="0"/>
              <a:t>We are open to take questions…</a:t>
            </a:r>
            <a:endParaRPr lang="en-IN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915358" y="4138492"/>
            <a:ext cx="10352199" cy="1140644"/>
          </a:xfrm>
        </p:spPr>
        <p:txBody>
          <a:bodyPr>
            <a:normAutofit/>
          </a:bodyPr>
          <a:lstStyle/>
          <a:p>
            <a:r>
              <a:rPr lang="en-IN" sz="2400" dirty="0" smtClean="0"/>
              <a:t>Thank you…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709250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94</TotalTime>
  <Words>601</Words>
  <Application>Microsoft Office PowerPoint</Application>
  <PresentationFormat>Widescreen</PresentationFormat>
  <Paragraphs>141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Calisto MT</vt:lpstr>
      <vt:lpstr>Trebuchet MS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 are open to take questions…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SOURISH DAS</dc:creator>
  <cp:lastModifiedBy>SOURISH DAS</cp:lastModifiedBy>
  <cp:revision>34</cp:revision>
  <dcterms:created xsi:type="dcterms:W3CDTF">2026-09-15T17:22:35Z</dcterms:created>
  <dcterms:modified xsi:type="dcterms:W3CDTF">2026-09-16T06:17:15Z</dcterms:modified>
</cp:coreProperties>
</file>