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80" r:id="rId8"/>
    <p:sldId id="262" r:id="rId9"/>
    <p:sldId id="263" r:id="rId10"/>
    <p:sldId id="264" r:id="rId11"/>
    <p:sldId id="265" r:id="rId12"/>
    <p:sldId id="266" r:id="rId13"/>
    <p:sldId id="267" r:id="rId14"/>
    <p:sldId id="268" r:id="rId15"/>
    <p:sldId id="269" r:id="rId16"/>
    <p:sldId id="270" r:id="rId17"/>
    <p:sldId id="271" r:id="rId18"/>
    <p:sldId id="273" r:id="rId19"/>
    <p:sldId id="275" r:id="rId20"/>
    <p:sldId id="276" r:id="rId21"/>
    <p:sldId id="277" r:id="rId22"/>
    <p:sldId id="278" r:id="rId23"/>
    <p:sldId id="281" r:id="rId24"/>
    <p:sldId id="279"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2" autoAdjust="0"/>
    <p:restoredTop sz="94660"/>
  </p:normalViewPr>
  <p:slideViewPr>
    <p:cSldViewPr snapToGrid="0" snapToObjects="1">
      <p:cViewPr>
        <p:scale>
          <a:sx n="74" d="100"/>
          <a:sy n="74" d="100"/>
        </p:scale>
        <p:origin x="1060"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F89F5C-484E-4436-AAD9-48E5C525598A}" type="datetimeFigureOut">
              <a:rPr lang="en-IN" smtClean="0"/>
              <a:t>19-08-2026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FD7876-EAE7-4C8A-9882-44FF0753E5BC}" type="slidenum">
              <a:rPr lang="en-IN" smtClean="0"/>
              <a:t>‹#›</a:t>
            </a:fld>
            <a:endParaRPr lang="en-IN"/>
          </a:p>
        </p:txBody>
      </p:sp>
    </p:spTree>
    <p:extLst>
      <p:ext uri="{BB962C8B-B14F-4D97-AF65-F5344CB8AC3E}">
        <p14:creationId xmlns:p14="http://schemas.microsoft.com/office/powerpoint/2010/main" val="4679195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5FD7876-EAE7-4C8A-9882-44FF0753E5BC}" type="slidenum">
              <a:rPr lang="en-IN" smtClean="0"/>
              <a:t>11</a:t>
            </a:fld>
            <a:endParaRPr lang="en-IN"/>
          </a:p>
        </p:txBody>
      </p:sp>
    </p:spTree>
    <p:extLst>
      <p:ext uri="{BB962C8B-B14F-4D97-AF65-F5344CB8AC3E}">
        <p14:creationId xmlns:p14="http://schemas.microsoft.com/office/powerpoint/2010/main" val="29530003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8/19/2026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8/19/2026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8" Type="http://schemas.openxmlformats.org/officeDocument/2006/relationships/hyperlink" Target="https://doi.org/10.1016/j.compag.2017.11.017" TargetMode="External"/><Relationship Id="rId3" Type="http://schemas.openxmlformats.org/officeDocument/2006/relationships/hyperlink" Target="https://doi.org/10.3389/fpls.2016.01419" TargetMode="External"/><Relationship Id="rId7" Type="http://schemas.openxmlformats.org/officeDocument/2006/relationships/hyperlink" Target="https://doi.org/10.1007/s11119-019-09694-2" TargetMode="External"/><Relationship Id="rId2" Type="http://schemas.openxmlformats.org/officeDocument/2006/relationships/hyperlink" Target="https://doi.org/10.1016/j.aiia.2020.01.002" TargetMode="External"/><Relationship Id="rId1" Type="http://schemas.openxmlformats.org/officeDocument/2006/relationships/slideLayout" Target="../slideLayouts/slideLayout6.xml"/><Relationship Id="rId6" Type="http://schemas.openxmlformats.org/officeDocument/2006/relationships/hyperlink" Target="https://doi.org/10.1007/s11119-013-9319-4" TargetMode="External"/><Relationship Id="rId5" Type="http://schemas.openxmlformats.org/officeDocument/2006/relationships/hyperlink" Target="https://doi.org/10.1016/j.compag.2018.12.048" TargetMode="External"/><Relationship Id="rId4" Type="http://schemas.openxmlformats.org/officeDocument/2006/relationships/hyperlink" Target="https://doi.org/10.1016/j.biosystemseng.2015.12.004" TargetMode="External"/><Relationship Id="rId9" Type="http://schemas.openxmlformats.org/officeDocument/2006/relationships/hyperlink" Target="https://doi.org/10.1016/j.compag.2020.105527" TargetMode="External"/></Relationships>
</file>

<file path=ppt/slides/_rels/slide23.xml.rels><?xml version="1.0" encoding="UTF-8" standalone="yes"?>
<Relationships xmlns="http://schemas.openxmlformats.org/package/2006/relationships"><Relationship Id="rId8" Type="http://schemas.openxmlformats.org/officeDocument/2006/relationships/hyperlink" Target="https://doi.org/10.1016/j.atech.2024.100540" TargetMode="External"/><Relationship Id="rId3" Type="http://schemas.openxmlformats.org/officeDocument/2006/relationships/hyperlink" Target="https://doi.org/10.1016/j.compag.2020.105393" TargetMode="External"/><Relationship Id="rId7" Type="http://schemas.openxmlformats.org/officeDocument/2006/relationships/hyperlink" Target="doi:%2010.1016/j.compag.2025.110606." TargetMode="External"/><Relationship Id="rId2" Type="http://schemas.openxmlformats.org/officeDocument/2006/relationships/hyperlink" Target="https://doi.org/10.1016/j.biosystemseng.2020.03.020" TargetMode="External"/><Relationship Id="rId1" Type="http://schemas.openxmlformats.org/officeDocument/2006/relationships/slideLayout" Target="../slideLayouts/slideLayout2.xml"/><Relationship Id="rId6" Type="http://schemas.openxmlformats.org/officeDocument/2006/relationships/hyperlink" Target="https://doi.org/10.3390/s18124245" TargetMode="External"/><Relationship Id="rId5" Type="http://schemas.openxmlformats.org/officeDocument/2006/relationships/hyperlink" Target="https://doi.org/10.1016/j.compag.2019.03.023" TargetMode="External"/><Relationship Id="rId4" Type="http://schemas.openxmlformats.org/officeDocument/2006/relationships/hyperlink" Target="https://doi.org/10.3390/agriculture7100089"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defRPr sz="2400" b="1">
                <a:solidFill>
                  <a:srgbClr val="1B3A5C"/>
                </a:solidFill>
              </a:defRPr>
            </a:pPr>
            <a:r>
              <a:t>Deep Learning and IoT-Based Real-Time</a:t>
            </a:r>
          </a:p>
          <a:p>
            <a:pPr>
              <a:defRPr sz="2400" b="1">
                <a:solidFill>
                  <a:srgbClr val="1B3A5C"/>
                </a:solidFill>
              </a:defRPr>
            </a:pPr>
            <a:r>
              <a:t>Variable-Rate Chemical Spraying System</a:t>
            </a:r>
          </a:p>
          <a:p>
            <a:pPr>
              <a:defRPr sz="2400" b="1">
                <a:solidFill>
                  <a:srgbClr val="1B3A5C"/>
                </a:solidFill>
              </a:defRPr>
            </a:pPr>
            <a:r>
              <a:t>for Disease Control in Paddy Crop</a:t>
            </a:r>
          </a:p>
        </p:txBody>
      </p:sp>
      <p:sp>
        <p:nvSpPr>
          <p:cNvPr id="3" name="Subtitle 2"/>
          <p:cNvSpPr>
            <a:spLocks noGrp="1"/>
          </p:cNvSpPr>
          <p:nvPr>
            <p:ph type="subTitle" idx="1"/>
          </p:nvPr>
        </p:nvSpPr>
        <p:spPr/>
        <p:txBody>
          <a:bodyPr/>
          <a:lstStyle/>
          <a:p>
            <a:pPr>
              <a:defRPr sz="1400">
                <a:solidFill>
                  <a:srgbClr val="2E5E8E"/>
                </a:solidFill>
              </a:defRPr>
            </a:pPr>
            <a:r>
              <a:rPr dirty="0" err="1"/>
              <a:t>Sourish</a:t>
            </a:r>
            <a:r>
              <a:rPr dirty="0"/>
              <a:t> </a:t>
            </a:r>
            <a:r>
              <a:rPr dirty="0" smtClean="0"/>
              <a:t>Das</a:t>
            </a:r>
            <a:r>
              <a:rPr lang="en-IN" dirty="0" smtClean="0"/>
              <a:t> (23BCE1179)</a:t>
            </a:r>
            <a:r>
              <a:rPr dirty="0" smtClean="0"/>
              <a:t> </a:t>
            </a:r>
            <a:r>
              <a:rPr dirty="0"/>
              <a:t>&amp; Aditya </a:t>
            </a:r>
            <a:r>
              <a:rPr dirty="0" smtClean="0"/>
              <a:t>Singh</a:t>
            </a:r>
            <a:r>
              <a:rPr lang="en-IN" dirty="0" smtClean="0"/>
              <a:t> (23BCE1293)</a:t>
            </a:r>
          </a:p>
          <a:p>
            <a:pPr>
              <a:defRPr sz="1400">
                <a:solidFill>
                  <a:srgbClr val="2E5E8E"/>
                </a:solidFill>
              </a:defRPr>
            </a:pPr>
            <a:r>
              <a:rPr lang="en-IN" dirty="0" smtClean="0"/>
              <a:t>Guide – </a:t>
            </a:r>
            <a:r>
              <a:rPr lang="en-IN" dirty="0" err="1" smtClean="0"/>
              <a:t>Dr.</a:t>
            </a:r>
            <a:r>
              <a:rPr lang="en-IN" dirty="0" smtClean="0"/>
              <a:t> </a:t>
            </a:r>
            <a:r>
              <a:rPr lang="en-IN" dirty="0" err="1" smtClean="0"/>
              <a:t>Vergin</a:t>
            </a:r>
            <a:r>
              <a:rPr lang="en-IN" dirty="0" smtClean="0"/>
              <a:t> Raja </a:t>
            </a:r>
            <a:r>
              <a:rPr lang="en-IN" dirty="0" err="1" smtClean="0"/>
              <a:t>Sarobin</a:t>
            </a:r>
            <a:r>
              <a:rPr lang="en-IN" dirty="0" smtClean="0"/>
              <a:t> M.</a:t>
            </a:r>
          </a:p>
          <a:p>
            <a:pPr>
              <a:defRPr sz="1400">
                <a:solidFill>
                  <a:srgbClr val="2E5E8E"/>
                </a:solidFill>
              </a:defRPr>
            </a:pPr>
            <a:r>
              <a:rPr dirty="0" smtClean="0"/>
              <a:t>BCSE497J </a:t>
            </a:r>
            <a:r>
              <a:rPr dirty="0"/>
              <a:t>- Project I | Fall Semester 2026-27</a:t>
            </a:r>
          </a:p>
          <a:p>
            <a:pPr>
              <a:defRPr sz="1400">
                <a:solidFill>
                  <a:srgbClr val="2E5E8E"/>
                </a:solidFill>
              </a:defRPr>
            </a:pPr>
            <a:r>
              <a:rPr dirty="0"/>
              <a:t>School of Computer Science and Engineering (SCOPE)</a:t>
            </a:r>
          </a:p>
          <a:p>
            <a:pPr>
              <a:defRPr sz="1400">
                <a:solidFill>
                  <a:srgbClr val="2E5E8E"/>
                </a:solidFill>
              </a:defRPr>
            </a:pPr>
            <a:r>
              <a:rPr dirty="0"/>
              <a:t>VIT Chennai</a:t>
            </a:r>
          </a:p>
        </p:txBody>
      </p:sp>
      <p:pic>
        <p:nvPicPr>
          <p:cNvPr id="4" name="Picture 3"/>
          <p:cNvPicPr>
            <a:picLocks noChangeAspect="1"/>
          </p:cNvPicPr>
          <p:nvPr/>
        </p:nvPicPr>
        <p:blipFill rotWithShape="1">
          <a:blip r:embed="rId2"/>
          <a:srcRect l="950" t="2166" r="1327" b="2560"/>
          <a:stretch/>
        </p:blipFill>
        <p:spPr>
          <a:xfrm>
            <a:off x="2329132" y="163901"/>
            <a:ext cx="4468484" cy="191506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59802"/>
          </a:xfrm>
        </p:spPr>
        <p:txBody>
          <a:bodyPr/>
          <a:lstStyle/>
          <a:p>
            <a:pPr>
              <a:defRPr sz="2800" b="1">
                <a:solidFill>
                  <a:srgbClr val="1B3A5C"/>
                </a:solidFill>
              </a:defRPr>
            </a:pPr>
            <a:r>
              <a:rPr dirty="0"/>
              <a:t>Problem Statement</a:t>
            </a:r>
          </a:p>
        </p:txBody>
      </p:sp>
      <p:sp>
        <p:nvSpPr>
          <p:cNvPr id="3" name="Content Placeholder 2"/>
          <p:cNvSpPr>
            <a:spLocks noGrp="1"/>
          </p:cNvSpPr>
          <p:nvPr>
            <p:ph idx="1"/>
          </p:nvPr>
        </p:nvSpPr>
        <p:spPr>
          <a:xfrm>
            <a:off x="457200" y="1106424"/>
            <a:ext cx="8229600" cy="5332877"/>
          </a:xfrm>
        </p:spPr>
        <p:txBody>
          <a:bodyPr>
            <a:normAutofit/>
          </a:bodyPr>
          <a:lstStyle/>
          <a:p>
            <a:pPr marL="0" indent="0">
              <a:spcAft>
                <a:spcPts val="800"/>
              </a:spcAft>
              <a:buNone/>
              <a:defRPr sz="1600">
                <a:solidFill>
                  <a:srgbClr val="333333"/>
                </a:solidFill>
              </a:defRPr>
            </a:pPr>
            <a:r>
              <a:rPr lang="en-US" sz="2000" b="1" dirty="0"/>
              <a:t>Context</a:t>
            </a:r>
            <a:r>
              <a:rPr lang="en-US" sz="2000" b="1" dirty="0" smtClean="0"/>
              <a:t>:</a:t>
            </a:r>
            <a:endParaRPr lang="en-US" sz="2000" b="1" dirty="0"/>
          </a:p>
          <a:p>
            <a:pPr marL="0" indent="0">
              <a:spcAft>
                <a:spcPts val="800"/>
              </a:spcAft>
              <a:buNone/>
              <a:defRPr sz="1600">
                <a:solidFill>
                  <a:srgbClr val="333333"/>
                </a:solidFill>
              </a:defRPr>
            </a:pPr>
            <a:r>
              <a:rPr lang="en-US" sz="1400" dirty="0" smtClean="0"/>
              <a:t>Plant </a:t>
            </a:r>
            <a:r>
              <a:rPr lang="en-US" sz="1400" dirty="0"/>
              <a:t>diseases are not only a threat to food security at the global scale, but can also have disastrous consequences for smallholder farmers whose livelihoods depend on healthy crops.</a:t>
            </a:r>
          </a:p>
          <a:p>
            <a:pPr marL="0" indent="0">
              <a:spcAft>
                <a:spcPts val="800"/>
              </a:spcAft>
              <a:buNone/>
              <a:defRPr sz="1600">
                <a:solidFill>
                  <a:srgbClr val="333333"/>
                </a:solidFill>
              </a:defRPr>
            </a:pPr>
            <a:r>
              <a:rPr lang="en-US" sz="2000" b="1" dirty="0" smtClean="0"/>
              <a:t>The </a:t>
            </a:r>
            <a:r>
              <a:rPr lang="en-US" sz="2000" b="1" dirty="0"/>
              <a:t>Problem with Conventional Spraying</a:t>
            </a:r>
            <a:r>
              <a:rPr lang="en-US" sz="2000" b="1" dirty="0" smtClean="0"/>
              <a:t>:</a:t>
            </a:r>
            <a:endParaRPr lang="en-US" sz="2000" dirty="0"/>
          </a:p>
          <a:p>
            <a:pPr>
              <a:spcAft>
                <a:spcPts val="800"/>
              </a:spcAft>
              <a:buFont typeface="Arial" panose="020B0604020202020204" pitchFamily="34" charset="0"/>
              <a:buChar char="•"/>
              <a:defRPr sz="1600">
                <a:solidFill>
                  <a:srgbClr val="333333"/>
                </a:solidFill>
              </a:defRPr>
            </a:pPr>
            <a:r>
              <a:rPr lang="en-US" sz="1400" dirty="0"/>
              <a:t>The agrochemical application with conventional sprayers results in wastage of applied chemicals, which not only increases the economic losses but also pollutes the environment.</a:t>
            </a:r>
          </a:p>
          <a:p>
            <a:pPr>
              <a:spcAft>
                <a:spcPts val="800"/>
              </a:spcAft>
              <a:buFont typeface="Arial" panose="020B0604020202020204" pitchFamily="34" charset="0"/>
              <a:buChar char="•"/>
              <a:defRPr sz="1600">
                <a:solidFill>
                  <a:srgbClr val="333333"/>
                </a:solidFill>
              </a:defRPr>
            </a:pPr>
            <a:r>
              <a:rPr lang="en-US" sz="1400" dirty="0"/>
              <a:t>The conventional sprayers apply the agrochemicals at a uniform rate, which leads to excessive, injudicious, and less effective utilization of applied chemicals. This uniform spraying results in wastage of applied chemicals and finally increases the cost of disease control.</a:t>
            </a:r>
          </a:p>
          <a:p>
            <a:pPr>
              <a:spcAft>
                <a:spcPts val="800"/>
              </a:spcAft>
              <a:buFont typeface="Arial" panose="020B0604020202020204" pitchFamily="34" charset="0"/>
              <a:buChar char="•"/>
              <a:defRPr sz="1600">
                <a:solidFill>
                  <a:srgbClr val="333333"/>
                </a:solidFill>
              </a:defRPr>
            </a:pPr>
            <a:r>
              <a:rPr lang="en-US" sz="1400" dirty="0"/>
              <a:t>The extended amount of applied chemicals pollutes the environment and adversely affects the health of agricultural workers and food consumers. Besides, it also results in the development of heritable resistance in pests </a:t>
            </a:r>
            <a:r>
              <a:rPr lang="en-US" sz="1400" dirty="0" smtClean="0"/>
              <a:t>against </a:t>
            </a:r>
            <a:r>
              <a:rPr lang="en-US" sz="1400" dirty="0"/>
              <a:t>pesticides</a:t>
            </a:r>
            <a:r>
              <a:rPr lang="en-US" sz="1400" dirty="0" smtClean="0"/>
              <a:t>.</a:t>
            </a:r>
          </a:p>
          <a:p>
            <a:pPr marL="0" indent="0">
              <a:spcAft>
                <a:spcPts val="800"/>
              </a:spcAft>
              <a:buNone/>
              <a:defRPr sz="1600">
                <a:solidFill>
                  <a:srgbClr val="333333"/>
                </a:solidFill>
              </a:defRPr>
            </a:pPr>
            <a:r>
              <a:rPr lang="en-US" sz="2000" b="1" dirty="0"/>
              <a:t>Problem Statement</a:t>
            </a:r>
            <a:r>
              <a:rPr lang="en-US" sz="2000" b="1" dirty="0" smtClean="0"/>
              <a:t>: </a:t>
            </a:r>
          </a:p>
          <a:p>
            <a:pPr marL="0" indent="0">
              <a:spcAft>
                <a:spcPts val="800"/>
              </a:spcAft>
              <a:buNone/>
              <a:defRPr sz="1600">
                <a:solidFill>
                  <a:srgbClr val="333333"/>
                </a:solidFill>
              </a:defRPr>
            </a:pPr>
            <a:r>
              <a:rPr lang="en-US" sz="1400" dirty="0" smtClean="0"/>
              <a:t>Traditional </a:t>
            </a:r>
            <a:r>
              <a:rPr lang="en-US" sz="1400" dirty="0"/>
              <a:t>agricultural irrigation lacks the capability to dynamically adjust water and treatment output based on localized plant disease severity. This leads to inefficient resource use, wasted water, and inadequate disease control. There is a need for an automated, smart sprinkler system that senses disease intensity on individual plants or zones and varies its fluid output accordingly to optimize treatment and conserve water.</a:t>
            </a:r>
            <a:endParaRPr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67021"/>
          </a:xfrm>
        </p:spPr>
        <p:txBody>
          <a:bodyPr/>
          <a:lstStyle/>
          <a:p>
            <a:pPr>
              <a:defRPr sz="2800" b="1">
                <a:solidFill>
                  <a:srgbClr val="1B3A5C"/>
                </a:solidFill>
              </a:defRPr>
            </a:pPr>
            <a:r>
              <a:rPr dirty="0"/>
              <a:t>Domain: Variable-Rate Application (VRA)</a:t>
            </a:r>
          </a:p>
        </p:txBody>
      </p:sp>
      <p:sp>
        <p:nvSpPr>
          <p:cNvPr id="3" name="Content Placeholder 2"/>
          <p:cNvSpPr>
            <a:spLocks noGrp="1"/>
          </p:cNvSpPr>
          <p:nvPr>
            <p:ph idx="1"/>
          </p:nvPr>
        </p:nvSpPr>
        <p:spPr>
          <a:xfrm>
            <a:off x="457200" y="1337912"/>
            <a:ext cx="8229600" cy="4829158"/>
          </a:xfrm>
        </p:spPr>
        <p:txBody>
          <a:bodyPr>
            <a:normAutofit fontScale="47500" lnSpcReduction="20000"/>
          </a:bodyPr>
          <a:lstStyle/>
          <a:p>
            <a:pPr marL="0" indent="0">
              <a:buNone/>
            </a:pPr>
            <a:r>
              <a:rPr lang="en-US" sz="4200" b="1" dirty="0" smtClean="0"/>
              <a:t>VRA :</a:t>
            </a:r>
            <a:endParaRPr lang="en-US" sz="4200" dirty="0"/>
          </a:p>
          <a:p>
            <a:pPr marL="0" indent="0">
              <a:buNone/>
            </a:pPr>
            <a:r>
              <a:rPr lang="en-US" dirty="0"/>
              <a:t>The intervention of advanced technologies such as sensors, microcontrollers, and software tools in agriculture, allow the precise use of the applied chemical by regulating the application rate according to the site-specific requirement. This method is called the variable-rate application (VRA), and it can significantly reduce the amount of applied chemicals and the cost of disease control</a:t>
            </a:r>
            <a:r>
              <a:rPr lang="en-US" dirty="0" smtClean="0"/>
              <a:t>.</a:t>
            </a:r>
          </a:p>
          <a:p>
            <a:endParaRPr lang="en-US" sz="2500" dirty="0"/>
          </a:p>
          <a:p>
            <a:pPr marL="0" indent="0">
              <a:buNone/>
            </a:pPr>
            <a:r>
              <a:rPr lang="en-US" sz="4200" b="1" dirty="0"/>
              <a:t>Two Approaches:</a:t>
            </a:r>
            <a:endParaRPr lang="en-US" sz="4200" dirty="0"/>
          </a:p>
          <a:p>
            <a:r>
              <a:rPr lang="en-US" dirty="0" smtClean="0"/>
              <a:t>In </a:t>
            </a:r>
            <a:r>
              <a:rPr lang="en-US" dirty="0"/>
              <a:t>the </a:t>
            </a:r>
            <a:r>
              <a:rPr lang="en-US" b="1" dirty="0"/>
              <a:t>map-based approach</a:t>
            </a:r>
            <a:r>
              <a:rPr lang="en-US" dirty="0"/>
              <a:t>, a preset site-specific map of desired properties is used to control the application rate</a:t>
            </a:r>
            <a:r>
              <a:rPr lang="en-US" dirty="0" smtClean="0"/>
              <a:t>.</a:t>
            </a:r>
          </a:p>
          <a:p>
            <a:r>
              <a:rPr lang="en-US" dirty="0" smtClean="0"/>
              <a:t>While</a:t>
            </a:r>
            <a:r>
              <a:rPr lang="en-US" dirty="0"/>
              <a:t>, in the case of a </a:t>
            </a:r>
            <a:r>
              <a:rPr lang="en-US" b="1" dirty="0"/>
              <a:t>sensor-based approach</a:t>
            </a:r>
            <a:r>
              <a:rPr lang="en-US" dirty="0"/>
              <a:t>, the information of desired properties is collected on-the-go using sensors, and the application rate is regulated according to the processed </a:t>
            </a:r>
            <a:r>
              <a:rPr lang="en-US" dirty="0" smtClean="0"/>
              <a:t>information.</a:t>
            </a:r>
          </a:p>
          <a:p>
            <a:pPr marL="0" indent="0">
              <a:buNone/>
            </a:pPr>
            <a:r>
              <a:rPr lang="en-US" sz="4200" b="1" dirty="0" smtClean="0"/>
              <a:t>Sensor-Based for Disease Control :</a:t>
            </a:r>
            <a:endParaRPr lang="en-US" sz="4200" dirty="0" smtClean="0"/>
          </a:p>
          <a:p>
            <a:pPr algn="just"/>
            <a:r>
              <a:rPr lang="en-US" dirty="0" smtClean="0"/>
              <a:t>The </a:t>
            </a:r>
            <a:r>
              <a:rPr lang="en-US" dirty="0"/>
              <a:t>map-based approach is not practically appropriate, as the diseases spread across the whole field very rapidly. Hence, the accuracy of sample data and the derived disease maps are time-sensitive, which means that the disease distribution may have changed by the time the map is prepared.</a:t>
            </a:r>
          </a:p>
          <a:p>
            <a:pPr algn="just"/>
            <a:r>
              <a:rPr lang="en-US" dirty="0"/>
              <a:t>The detection of crop disease and spraying should be performed in one single real-time working cycle, due to the fast-propagating nature of the pathogens. Therefore, the sensor-based variable-rate chemical application is preferred for disease control tasks.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2800" b="1">
                <a:solidFill>
                  <a:srgbClr val="1B3A5C"/>
                </a:solidFill>
              </a:defRPr>
            </a:pPr>
            <a:r>
              <a:t>Domain: Deep Learning in Agriculture</a:t>
            </a:r>
          </a:p>
        </p:txBody>
      </p:sp>
      <p:sp>
        <p:nvSpPr>
          <p:cNvPr id="3" name="Content Placeholder 2"/>
          <p:cNvSpPr>
            <a:spLocks noGrp="1"/>
          </p:cNvSpPr>
          <p:nvPr>
            <p:ph idx="1"/>
          </p:nvPr>
        </p:nvSpPr>
        <p:spPr/>
        <p:txBody>
          <a:bodyPr>
            <a:normAutofit/>
          </a:bodyPr>
          <a:lstStyle/>
          <a:p>
            <a:pPr marL="0" indent="0">
              <a:buNone/>
            </a:pPr>
            <a:r>
              <a:rPr lang="en-US" sz="2000" b="1" dirty="0" smtClean="0"/>
              <a:t>Deep Learning:</a:t>
            </a:r>
            <a:endParaRPr lang="en-US" sz="2000" dirty="0"/>
          </a:p>
          <a:p>
            <a:pPr marL="0" indent="0">
              <a:buNone/>
            </a:pPr>
            <a:r>
              <a:rPr lang="en-US" sz="1600" dirty="0"/>
              <a:t>M</a:t>
            </a:r>
            <a:r>
              <a:rPr lang="en-US" sz="1600" dirty="0" smtClean="0"/>
              <a:t>ore </a:t>
            </a:r>
            <a:r>
              <a:rPr lang="en-US" sz="1600" dirty="0"/>
              <a:t>recently the Large Scale Visual Recognition Challenge (ILSVRC) based on the ImageNet dataset have been widely used as benchmarks for numerous visualization-related problems in computer vision, including object classification. </a:t>
            </a:r>
            <a:r>
              <a:rPr lang="en-US" sz="1600" dirty="0" smtClean="0"/>
              <a:t>In </a:t>
            </a:r>
            <a:r>
              <a:rPr lang="en-US" sz="1600" dirty="0"/>
              <a:t>the following 3 years, various advances in deep convolutional neural </a:t>
            </a:r>
            <a:r>
              <a:rPr lang="en-US" sz="1600" dirty="0" smtClean="0"/>
              <a:t>networks (CNNs) </a:t>
            </a:r>
            <a:r>
              <a:rPr lang="en-US" sz="1600" dirty="0"/>
              <a:t>lowered the error </a:t>
            </a:r>
            <a:r>
              <a:rPr lang="en-US" sz="1600" dirty="0" smtClean="0"/>
              <a:t>rate.</a:t>
            </a:r>
          </a:p>
          <a:p>
            <a:endParaRPr lang="en-US" sz="1600" dirty="0"/>
          </a:p>
          <a:p>
            <a:pPr marL="0" indent="0">
              <a:buNone/>
            </a:pPr>
            <a:r>
              <a:rPr lang="en-US" sz="2000" b="1" dirty="0"/>
              <a:t>Advantage over Traditional Methods:</a:t>
            </a:r>
            <a:endParaRPr lang="en-US" sz="2000" dirty="0"/>
          </a:p>
          <a:p>
            <a:r>
              <a:rPr lang="en-US" sz="1600" dirty="0"/>
              <a:t>The performance of these approaches thus depended heavily on the underlying predefined features. Feature engineering itself is a complex and tedious process which needs to be revisited every time the problem at hand or the associated dataset changes considerably.</a:t>
            </a:r>
          </a:p>
          <a:p>
            <a:r>
              <a:rPr lang="en-US" sz="1600" dirty="0"/>
              <a:t>The image processing technique with the real-time machine vision system is one of the most commonly used on-the-go target detection methods for variable-rate spraying. </a:t>
            </a:r>
            <a:endParaRPr lang="en-US" sz="1600" dirty="0" smtClean="0"/>
          </a:p>
          <a:p>
            <a:r>
              <a:rPr lang="en-US" sz="1600" dirty="0" smtClean="0"/>
              <a:t>Its </a:t>
            </a:r>
            <a:r>
              <a:rPr lang="en-US" sz="1600" dirty="0"/>
              <a:t>high precision, quick response, and low input cost are made it more popular and widely acceptable in the area of agricultural automation.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947" y="248069"/>
            <a:ext cx="8229600" cy="566610"/>
          </a:xfrm>
        </p:spPr>
        <p:txBody>
          <a:bodyPr/>
          <a:lstStyle/>
          <a:p>
            <a:pPr>
              <a:defRPr sz="2600" b="1">
                <a:solidFill>
                  <a:srgbClr val="1B3A5C"/>
                </a:solidFill>
              </a:defRPr>
            </a:pPr>
            <a:r>
              <a:rPr lang="en-US" dirty="0"/>
              <a:t>Literature Review: Variable-Rate Spraying Systems</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05779253"/>
              </p:ext>
            </p:extLst>
          </p:nvPr>
        </p:nvGraphicFramePr>
        <p:xfrm>
          <a:off x="77637" y="983413"/>
          <a:ext cx="8928001" cy="5555411"/>
        </p:xfrm>
        <a:graphic>
          <a:graphicData uri="http://schemas.openxmlformats.org/drawingml/2006/table">
            <a:tbl>
              <a:tblPr>
                <a:tableStyleId>{7DF18680-E054-41AD-8BC1-D1AEF772440D}</a:tableStyleId>
              </a:tblPr>
              <a:tblGrid>
                <a:gridCol w="418846">
                  <a:extLst>
                    <a:ext uri="{9D8B030D-6E8A-4147-A177-3AD203B41FA5}">
                      <a16:colId xmlns:a16="http://schemas.microsoft.com/office/drawing/2014/main" val="2699476256"/>
                    </a:ext>
                  </a:extLst>
                </a:gridCol>
                <a:gridCol w="1895822">
                  <a:extLst>
                    <a:ext uri="{9D8B030D-6E8A-4147-A177-3AD203B41FA5}">
                      <a16:colId xmlns:a16="http://schemas.microsoft.com/office/drawing/2014/main" val="3941012821"/>
                    </a:ext>
                  </a:extLst>
                </a:gridCol>
                <a:gridCol w="969955">
                  <a:extLst>
                    <a:ext uri="{9D8B030D-6E8A-4147-A177-3AD203B41FA5}">
                      <a16:colId xmlns:a16="http://schemas.microsoft.com/office/drawing/2014/main" val="939821784"/>
                    </a:ext>
                  </a:extLst>
                </a:gridCol>
                <a:gridCol w="2374306">
                  <a:extLst>
                    <a:ext uri="{9D8B030D-6E8A-4147-A177-3AD203B41FA5}">
                      <a16:colId xmlns:a16="http://schemas.microsoft.com/office/drawing/2014/main" val="1600378455"/>
                    </a:ext>
                  </a:extLst>
                </a:gridCol>
                <a:gridCol w="3269072">
                  <a:extLst>
                    <a:ext uri="{9D8B030D-6E8A-4147-A177-3AD203B41FA5}">
                      <a16:colId xmlns:a16="http://schemas.microsoft.com/office/drawing/2014/main" val="4029249042"/>
                    </a:ext>
                  </a:extLst>
                </a:gridCol>
              </a:tblGrid>
              <a:tr h="491496">
                <a:tc>
                  <a:txBody>
                    <a:bodyPr/>
                    <a:lstStyle/>
                    <a:p>
                      <a:pPr algn="ctr"/>
                      <a:r>
                        <a:rPr lang="en-IN" sz="1400" b="1" smtClean="0"/>
                        <a:t>#</a:t>
                      </a:r>
                      <a:endParaRPr lang="en-IN" sz="1400" b="1" dirty="0"/>
                    </a:p>
                  </a:txBody>
                  <a:tcPr marL="23210" marR="23210" marT="11605" marB="11605" anchor="ctr"/>
                </a:tc>
                <a:tc>
                  <a:txBody>
                    <a:bodyPr/>
                    <a:lstStyle/>
                    <a:p>
                      <a:pPr algn="ctr"/>
                      <a:r>
                        <a:rPr lang="en-IN" sz="1400" b="1" dirty="0"/>
                        <a:t>Paper Name</a:t>
                      </a:r>
                    </a:p>
                  </a:txBody>
                  <a:tcPr marL="23210" marR="23210" marT="11605" marB="11605" anchor="ctr"/>
                </a:tc>
                <a:tc>
                  <a:txBody>
                    <a:bodyPr/>
                    <a:lstStyle/>
                    <a:p>
                      <a:pPr algn="ctr"/>
                      <a:r>
                        <a:rPr lang="en-IN" sz="1400" b="1" dirty="0"/>
                        <a:t>Authors, Year</a:t>
                      </a:r>
                    </a:p>
                  </a:txBody>
                  <a:tcPr marL="23210" marR="23210" marT="11605" marB="11605" anchor="ctr"/>
                </a:tc>
                <a:tc>
                  <a:txBody>
                    <a:bodyPr/>
                    <a:lstStyle/>
                    <a:p>
                      <a:pPr algn="ctr"/>
                      <a:r>
                        <a:rPr lang="en-IN" sz="1400" b="1" dirty="0"/>
                        <a:t>Methodology</a:t>
                      </a:r>
                    </a:p>
                  </a:txBody>
                  <a:tcPr marL="23210" marR="23210" marT="11605" marB="11605" anchor="ctr"/>
                </a:tc>
                <a:tc>
                  <a:txBody>
                    <a:bodyPr/>
                    <a:lstStyle/>
                    <a:p>
                      <a:pPr algn="ctr"/>
                      <a:r>
                        <a:rPr lang="en-IN" sz="1400" b="1" dirty="0" smtClean="0"/>
                        <a:t>Findings</a:t>
                      </a:r>
                      <a:endParaRPr lang="en-IN" sz="1400" b="1" dirty="0"/>
                    </a:p>
                  </a:txBody>
                  <a:tcPr marL="23210" marR="23210" marT="11605" marB="11605" anchor="ctr"/>
                </a:tc>
                <a:extLst>
                  <a:ext uri="{0D108BD9-81ED-4DB2-BD59-A6C34878D82A}">
                    <a16:rowId xmlns:a16="http://schemas.microsoft.com/office/drawing/2014/main" val="1518314041"/>
                  </a:ext>
                </a:extLst>
              </a:tr>
              <a:tr h="991606">
                <a:tc>
                  <a:txBody>
                    <a:bodyPr/>
                    <a:lstStyle/>
                    <a:p>
                      <a:pPr algn="ctr"/>
                      <a:r>
                        <a:rPr lang="en-IN" sz="1100"/>
                        <a:t>1</a:t>
                      </a:r>
                    </a:p>
                  </a:txBody>
                  <a:tcPr marL="23210" marR="23210" marT="11605" marB="11605" anchor="ctr"/>
                </a:tc>
                <a:tc>
                  <a:txBody>
                    <a:bodyPr/>
                    <a:lstStyle/>
                    <a:p>
                      <a:r>
                        <a:rPr lang="en-US" sz="1100" dirty="0"/>
                        <a:t>Image processing based real-time variable-rate chemical spraying system for disease control in paddy crop</a:t>
                      </a:r>
                    </a:p>
                  </a:txBody>
                  <a:tcPr marL="23210" marR="23210" marT="11605" marB="11605" anchor="ctr"/>
                </a:tc>
                <a:tc>
                  <a:txBody>
                    <a:bodyPr/>
                    <a:lstStyle/>
                    <a:p>
                      <a:pPr algn="ctr"/>
                      <a:r>
                        <a:rPr lang="en-IN" sz="1100" dirty="0" err="1"/>
                        <a:t>Tewari</a:t>
                      </a:r>
                      <a:r>
                        <a:rPr lang="en-IN" sz="1100" dirty="0"/>
                        <a:t> et al., 2020</a:t>
                      </a:r>
                    </a:p>
                  </a:txBody>
                  <a:tcPr marL="23210" marR="23210" marT="11605" marB="11605" anchor="ctr"/>
                </a:tc>
                <a:tc>
                  <a:txBody>
                    <a:bodyPr/>
                    <a:lstStyle/>
                    <a:p>
                      <a:r>
                        <a:rPr lang="en-IN" sz="1100" dirty="0"/>
                        <a:t>Chromatic aberration (CA)-based image segmentation; laptop + MATLAB processing; Arduino controls solenoid valve based on 3 severity levels.</a:t>
                      </a:r>
                    </a:p>
                  </a:txBody>
                  <a:tcPr marL="23210" marR="23210" marT="11605" marB="11605"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100" dirty="0" smtClean="0"/>
                        <a:t>33.88% minimum chemical reduction compared with CRA; validated in a 300 m² paddy field,</a:t>
                      </a:r>
                      <a:r>
                        <a:rPr lang="en-US" sz="1100" baseline="0" dirty="0" smtClean="0"/>
                        <a:t> </a:t>
                      </a:r>
                      <a:r>
                        <a:rPr lang="en-US" sz="1100" dirty="0" smtClean="0"/>
                        <a:t>lighting-sensitive </a:t>
                      </a:r>
                      <a:r>
                        <a:rPr lang="en-US" sz="1100" dirty="0"/>
                        <a:t>CA </a:t>
                      </a:r>
                      <a:r>
                        <a:rPr lang="en-US" sz="1100" dirty="0" err="1"/>
                        <a:t>thresholding</a:t>
                      </a:r>
                      <a:r>
                        <a:rPr lang="en-US" sz="1100" dirty="0"/>
                        <a:t>; laptop-dependent; no </a:t>
                      </a:r>
                      <a:r>
                        <a:rPr lang="en-US" sz="1100" dirty="0" err="1"/>
                        <a:t>IoT</a:t>
                      </a:r>
                      <a:r>
                        <a:rPr lang="en-US" sz="1100" dirty="0"/>
                        <a:t>; minimum 33% spray; plant-spacing errors.</a:t>
                      </a:r>
                    </a:p>
                  </a:txBody>
                  <a:tcPr marL="23210" marR="23210" marT="11605" marB="11605" anchor="ctr"/>
                </a:tc>
                <a:extLst>
                  <a:ext uri="{0D108BD9-81ED-4DB2-BD59-A6C34878D82A}">
                    <a16:rowId xmlns:a16="http://schemas.microsoft.com/office/drawing/2014/main" val="1523353952"/>
                  </a:ext>
                </a:extLst>
              </a:tr>
              <a:tr h="883082">
                <a:tc>
                  <a:txBody>
                    <a:bodyPr/>
                    <a:lstStyle/>
                    <a:p>
                      <a:pPr algn="ctr"/>
                      <a:r>
                        <a:rPr lang="en-IN" sz="1100"/>
                        <a:t>2</a:t>
                      </a:r>
                    </a:p>
                  </a:txBody>
                  <a:tcPr marL="23210" marR="23210" marT="11605" marB="11605" anchor="ctr"/>
                </a:tc>
                <a:tc>
                  <a:txBody>
                    <a:bodyPr/>
                    <a:lstStyle/>
                    <a:p>
                      <a:r>
                        <a:rPr lang="en-US" sz="1100" dirty="0"/>
                        <a:t>Selective spraying of grapevines for disease control using a modular agricultural robot</a:t>
                      </a:r>
                    </a:p>
                  </a:txBody>
                  <a:tcPr marL="23210" marR="23210" marT="11605" marB="11605" anchor="ctr"/>
                </a:tc>
                <a:tc>
                  <a:txBody>
                    <a:bodyPr/>
                    <a:lstStyle/>
                    <a:p>
                      <a:pPr algn="ctr"/>
                      <a:r>
                        <a:rPr lang="en-IN" sz="1100" dirty="0" err="1"/>
                        <a:t>Oberti</a:t>
                      </a:r>
                      <a:r>
                        <a:rPr lang="en-IN" sz="1100" dirty="0"/>
                        <a:t> et al., </a:t>
                      </a:r>
                      <a:r>
                        <a:rPr lang="en-IN" sz="1100" dirty="0" smtClean="0"/>
                        <a:t>2020</a:t>
                      </a:r>
                      <a:endParaRPr lang="en-IN" sz="1100" dirty="0"/>
                    </a:p>
                  </a:txBody>
                  <a:tcPr marL="23210" marR="23210" marT="11605" marB="11605" anchor="ctr"/>
                </a:tc>
                <a:tc>
                  <a:txBody>
                    <a:bodyPr/>
                    <a:lstStyle/>
                    <a:p>
                      <a:r>
                        <a:rPr lang="en-US" sz="1100" dirty="0"/>
                        <a:t>Agricultural robot with machine-vision disease sensing and precision spot-spraying end-effector.</a:t>
                      </a:r>
                    </a:p>
                  </a:txBody>
                  <a:tcPr marL="23210" marR="23210" marT="11605" marB="11605"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100" dirty="0" smtClean="0"/>
                        <a:t>65–85% pesticide reduction compared with conventional spraying,</a:t>
                      </a:r>
                      <a:r>
                        <a:rPr lang="en-US" sz="1100" baseline="0" dirty="0" smtClean="0"/>
                        <a:t> </a:t>
                      </a:r>
                      <a:r>
                        <a:rPr lang="en-US" sz="1100" dirty="0" smtClean="0"/>
                        <a:t>high </a:t>
                      </a:r>
                      <a:r>
                        <a:rPr lang="en-US" sz="1100" dirty="0"/>
                        <a:t>cost; unsuitable for small farmers; grapevine-specific; complex mechanical setup.</a:t>
                      </a:r>
                    </a:p>
                  </a:txBody>
                  <a:tcPr marL="23210" marR="23210" marT="11605" marB="11605" anchor="ctr"/>
                </a:tc>
                <a:extLst>
                  <a:ext uri="{0D108BD9-81ED-4DB2-BD59-A6C34878D82A}">
                    <a16:rowId xmlns:a16="http://schemas.microsoft.com/office/drawing/2014/main" val="763773269"/>
                  </a:ext>
                </a:extLst>
              </a:tr>
              <a:tr h="1124118">
                <a:tc>
                  <a:txBody>
                    <a:bodyPr/>
                    <a:lstStyle/>
                    <a:p>
                      <a:pPr algn="ctr"/>
                      <a:r>
                        <a:rPr lang="en-IN" sz="1100"/>
                        <a:t>3</a:t>
                      </a:r>
                    </a:p>
                  </a:txBody>
                  <a:tcPr marL="23210" marR="23210" marT="11605" marB="11605" anchor="ctr"/>
                </a:tc>
                <a:tc>
                  <a:txBody>
                    <a:bodyPr/>
                    <a:lstStyle/>
                    <a:p>
                      <a:r>
                        <a:rPr lang="en-US" sz="1100" dirty="0"/>
                        <a:t>Development and evaluation of a low-cost and smart technology for precision weed management utilizing artificial intelligence</a:t>
                      </a:r>
                    </a:p>
                  </a:txBody>
                  <a:tcPr marL="23210" marR="23210" marT="11605" marB="11605" anchor="ctr"/>
                </a:tc>
                <a:tc>
                  <a:txBody>
                    <a:bodyPr/>
                    <a:lstStyle/>
                    <a:p>
                      <a:pPr algn="ctr"/>
                      <a:r>
                        <a:rPr lang="en-IN" sz="1100" dirty="0" err="1"/>
                        <a:t>Partel</a:t>
                      </a:r>
                      <a:r>
                        <a:rPr lang="en-IN" sz="1100" dirty="0"/>
                        <a:t> et al., 2019</a:t>
                      </a:r>
                    </a:p>
                  </a:txBody>
                  <a:tcPr marL="23210" marR="23210" marT="11605" marB="11605" anchor="ctr"/>
                </a:tc>
                <a:tc>
                  <a:txBody>
                    <a:bodyPr/>
                    <a:lstStyle/>
                    <a:p>
                      <a:r>
                        <a:rPr lang="en-US" sz="1100" dirty="0"/>
                        <a:t>Custom CNN for real-time weed detection integrated with nozzle actuation for site-specific herbicide application.</a:t>
                      </a:r>
                    </a:p>
                  </a:txBody>
                  <a:tcPr marL="23210" marR="23210" marT="11605" marB="11605"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100" dirty="0" smtClean="0"/>
                        <a:t>Low-cost smart sprayer with effective weed detection and significant herbicide reduction,</a:t>
                      </a:r>
                      <a:r>
                        <a:rPr lang="en-US" sz="1100" baseline="0" dirty="0" smtClean="0"/>
                        <a:t> </a:t>
                      </a:r>
                      <a:r>
                        <a:rPr lang="en-US" sz="1100" dirty="0" smtClean="0"/>
                        <a:t>weed-focused</a:t>
                      </a:r>
                      <a:r>
                        <a:rPr lang="en-US" sz="1100" dirty="0"/>
                        <a:t>; limited to row crops; no </a:t>
                      </a:r>
                      <a:r>
                        <a:rPr lang="en-US" sz="1100" dirty="0" err="1"/>
                        <a:t>IoT</a:t>
                      </a:r>
                      <a:r>
                        <a:rPr lang="en-US" sz="1100" dirty="0"/>
                        <a:t> dashboard; no disease-severity-based dosage.</a:t>
                      </a:r>
                    </a:p>
                  </a:txBody>
                  <a:tcPr marL="23210" marR="23210" marT="11605" marB="11605" anchor="ctr"/>
                </a:tc>
                <a:extLst>
                  <a:ext uri="{0D108BD9-81ED-4DB2-BD59-A6C34878D82A}">
                    <a16:rowId xmlns:a16="http://schemas.microsoft.com/office/drawing/2014/main" val="2093254929"/>
                  </a:ext>
                </a:extLst>
              </a:tr>
              <a:tr h="940991">
                <a:tc>
                  <a:txBody>
                    <a:bodyPr/>
                    <a:lstStyle/>
                    <a:p>
                      <a:pPr algn="ctr"/>
                      <a:r>
                        <a:rPr lang="en-IN" sz="1100"/>
                        <a:t>4</a:t>
                      </a:r>
                    </a:p>
                  </a:txBody>
                  <a:tcPr marL="23210" marR="23210" marT="11605" marB="11605" anchor="ctr"/>
                </a:tc>
                <a:tc>
                  <a:txBody>
                    <a:bodyPr/>
                    <a:lstStyle/>
                    <a:p>
                      <a:r>
                        <a:rPr lang="en-US" sz="1100"/>
                        <a:t>Spot-application of fungicide for wild blueberry using an automated prototype variable rate sprayer</a:t>
                      </a:r>
                    </a:p>
                  </a:txBody>
                  <a:tcPr marL="23210" marR="23210" marT="11605" marB="11605" anchor="ctr"/>
                </a:tc>
                <a:tc>
                  <a:txBody>
                    <a:bodyPr/>
                    <a:lstStyle/>
                    <a:p>
                      <a:pPr algn="ctr"/>
                      <a:r>
                        <a:rPr lang="en-IN" sz="1100" dirty="0"/>
                        <a:t>Esau et al., </a:t>
                      </a:r>
                      <a:r>
                        <a:rPr lang="en-IN" sz="1100" dirty="0" smtClean="0"/>
                        <a:t>2021</a:t>
                      </a:r>
                      <a:endParaRPr lang="en-IN" sz="1100" dirty="0"/>
                    </a:p>
                  </a:txBody>
                  <a:tcPr marL="23210" marR="23210" marT="11605" marB="11605" anchor="ctr"/>
                </a:tc>
                <a:tc>
                  <a:txBody>
                    <a:bodyPr/>
                    <a:lstStyle/>
                    <a:p>
                      <a:r>
                        <a:rPr lang="en-US" sz="1100" dirty="0"/>
                        <a:t>Machine vision distinguishes foliage from bare spots; variable-rate spraying applied only to foliage.</a:t>
                      </a:r>
                    </a:p>
                  </a:txBody>
                  <a:tcPr marL="23210" marR="23210" marT="11605" marB="11605"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100" dirty="0" smtClean="0"/>
                        <a:t>Effective spot application with reduced fungicide usage,</a:t>
                      </a:r>
                      <a:r>
                        <a:rPr lang="en-US" sz="1100" baseline="0" dirty="0" smtClean="0"/>
                        <a:t> </a:t>
                      </a:r>
                      <a:r>
                        <a:rPr lang="en-US" sz="1100" dirty="0" smtClean="0"/>
                        <a:t>no </a:t>
                      </a:r>
                      <a:r>
                        <a:rPr lang="en-US" sz="1100" dirty="0"/>
                        <a:t>disease-severity estimation; binary spray/no-spray decision; foliage rather than disease detection.</a:t>
                      </a:r>
                    </a:p>
                  </a:txBody>
                  <a:tcPr marL="23210" marR="23210" marT="11605" marB="11605" anchor="ctr"/>
                </a:tc>
                <a:extLst>
                  <a:ext uri="{0D108BD9-81ED-4DB2-BD59-A6C34878D82A}">
                    <a16:rowId xmlns:a16="http://schemas.microsoft.com/office/drawing/2014/main" val="2048033735"/>
                  </a:ext>
                </a:extLst>
              </a:tr>
              <a:tr h="1124118">
                <a:tc>
                  <a:txBody>
                    <a:bodyPr/>
                    <a:lstStyle/>
                    <a:p>
                      <a:pPr algn="ctr"/>
                      <a:r>
                        <a:rPr lang="en-IN" sz="1100" dirty="0"/>
                        <a:t>5</a:t>
                      </a:r>
                    </a:p>
                  </a:txBody>
                  <a:tcPr marL="23210" marR="23210" marT="11605" marB="11605" anchor="ctr"/>
                </a:tc>
                <a:tc>
                  <a:txBody>
                    <a:bodyPr/>
                    <a:lstStyle/>
                    <a:p>
                      <a:r>
                        <a:rPr lang="en-US" sz="1100" dirty="0"/>
                        <a:t>Development of canopy </a:t>
                      </a:r>
                      <a:r>
                        <a:rPr lang="en-US" sz="1100" dirty="0" err="1"/>
                        <a:t>vigour</a:t>
                      </a:r>
                      <a:r>
                        <a:rPr lang="en-US" sz="1100" dirty="0"/>
                        <a:t> maps using UAV for site-specific management during vineyard spraying process</a:t>
                      </a:r>
                    </a:p>
                  </a:txBody>
                  <a:tcPr marL="23210" marR="23210" marT="11605" marB="11605" anchor="ctr"/>
                </a:tc>
                <a:tc>
                  <a:txBody>
                    <a:bodyPr/>
                    <a:lstStyle/>
                    <a:p>
                      <a:pPr algn="ctr"/>
                      <a:r>
                        <a:rPr lang="en-IN" sz="1100" dirty="0"/>
                        <a:t>Campos et al., 2020</a:t>
                      </a:r>
                    </a:p>
                  </a:txBody>
                  <a:tcPr marL="23210" marR="23210" marT="11605" marB="11605" anchor="ctr"/>
                </a:tc>
                <a:tc>
                  <a:txBody>
                    <a:bodyPr/>
                    <a:lstStyle/>
                    <a:p>
                      <a:r>
                        <a:rPr lang="en-US" sz="1100" dirty="0"/>
                        <a:t>UAV multispectral imaging; NDVI-based canopy-</a:t>
                      </a:r>
                      <a:r>
                        <a:rPr lang="en-US" sz="1100" dirty="0" err="1"/>
                        <a:t>vigour</a:t>
                      </a:r>
                      <a:r>
                        <a:rPr lang="en-US" sz="1100" dirty="0"/>
                        <a:t> maps used to adjust spraying rates.</a:t>
                      </a:r>
                    </a:p>
                  </a:txBody>
                  <a:tcPr marL="23210" marR="23210" marT="11605" marB="11605"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100" dirty="0" smtClean="0"/>
                        <a:t>20–40% pesticide reduction through variable-rate spraying,</a:t>
                      </a:r>
                      <a:r>
                        <a:rPr lang="en-US" sz="1100" baseline="0" dirty="0" smtClean="0"/>
                        <a:t> </a:t>
                      </a:r>
                      <a:r>
                        <a:rPr lang="en-US" sz="1100" dirty="0" smtClean="0"/>
                        <a:t>expensive </a:t>
                      </a:r>
                      <a:r>
                        <a:rPr lang="en-US" sz="1100" dirty="0"/>
                        <a:t>UAV and multispectral camera; not real-time; no disease detection.</a:t>
                      </a:r>
                    </a:p>
                  </a:txBody>
                  <a:tcPr marL="23210" marR="23210" marT="11605" marB="11605" anchor="ctr"/>
                </a:tc>
                <a:extLst>
                  <a:ext uri="{0D108BD9-81ED-4DB2-BD59-A6C34878D82A}">
                    <a16:rowId xmlns:a16="http://schemas.microsoft.com/office/drawing/2014/main" val="493853116"/>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924" y="318"/>
            <a:ext cx="8531525" cy="648906"/>
          </a:xfrm>
        </p:spPr>
        <p:txBody>
          <a:bodyPr>
            <a:noAutofit/>
          </a:bodyPr>
          <a:lstStyle/>
          <a:p>
            <a:pPr>
              <a:defRPr sz="2600" b="1">
                <a:solidFill>
                  <a:srgbClr val="1B3A5C"/>
                </a:solidFill>
              </a:defRPr>
            </a:pPr>
            <a:r>
              <a:rPr lang="en-US" sz="2600" dirty="0"/>
              <a:t>Literature Review: Deep Learning for </a:t>
            </a:r>
            <a:r>
              <a:rPr lang="en-US" sz="2600" dirty="0" smtClean="0"/>
              <a:t>Rice Disease </a:t>
            </a:r>
            <a:r>
              <a:rPr lang="en-US" sz="2600" dirty="0"/>
              <a:t>Detection</a:t>
            </a:r>
          </a:p>
        </p:txBody>
      </p:sp>
      <p:graphicFrame>
        <p:nvGraphicFramePr>
          <p:cNvPr id="3" name="Table 2"/>
          <p:cNvGraphicFramePr>
            <a:graphicFrameLocks noGrp="1"/>
          </p:cNvGraphicFramePr>
          <p:nvPr>
            <p:extLst>
              <p:ext uri="{D42A27DB-BD31-4B8C-83A1-F6EECF244321}">
                <p14:modId xmlns:p14="http://schemas.microsoft.com/office/powerpoint/2010/main" val="841522389"/>
              </p:ext>
            </p:extLst>
          </p:nvPr>
        </p:nvGraphicFramePr>
        <p:xfrm>
          <a:off x="168214" y="830381"/>
          <a:ext cx="8863642" cy="5231422"/>
        </p:xfrm>
        <a:graphic>
          <a:graphicData uri="http://schemas.openxmlformats.org/drawingml/2006/table">
            <a:tbl>
              <a:tblPr>
                <a:tableStyleId>{7DF18680-E054-41AD-8BC1-D1AEF772440D}</a:tableStyleId>
              </a:tblPr>
              <a:tblGrid>
                <a:gridCol w="426685">
                  <a:extLst>
                    <a:ext uri="{9D8B030D-6E8A-4147-A177-3AD203B41FA5}">
                      <a16:colId xmlns:a16="http://schemas.microsoft.com/office/drawing/2014/main" val="1169682133"/>
                    </a:ext>
                  </a:extLst>
                </a:gridCol>
                <a:gridCol w="1695356">
                  <a:extLst>
                    <a:ext uri="{9D8B030D-6E8A-4147-A177-3AD203B41FA5}">
                      <a16:colId xmlns:a16="http://schemas.microsoft.com/office/drawing/2014/main" val="3508081604"/>
                    </a:ext>
                  </a:extLst>
                </a:gridCol>
                <a:gridCol w="910258">
                  <a:extLst>
                    <a:ext uri="{9D8B030D-6E8A-4147-A177-3AD203B41FA5}">
                      <a16:colId xmlns:a16="http://schemas.microsoft.com/office/drawing/2014/main" val="2533176087"/>
                    </a:ext>
                  </a:extLst>
                </a:gridCol>
                <a:gridCol w="2441162">
                  <a:extLst>
                    <a:ext uri="{9D8B030D-6E8A-4147-A177-3AD203B41FA5}">
                      <a16:colId xmlns:a16="http://schemas.microsoft.com/office/drawing/2014/main" val="4209629317"/>
                    </a:ext>
                  </a:extLst>
                </a:gridCol>
                <a:gridCol w="3390181">
                  <a:extLst>
                    <a:ext uri="{9D8B030D-6E8A-4147-A177-3AD203B41FA5}">
                      <a16:colId xmlns:a16="http://schemas.microsoft.com/office/drawing/2014/main" val="2336941827"/>
                    </a:ext>
                  </a:extLst>
                </a:gridCol>
              </a:tblGrid>
              <a:tr h="267348">
                <a:tc>
                  <a:txBody>
                    <a:bodyPr/>
                    <a:lstStyle/>
                    <a:p>
                      <a:pPr algn="ctr"/>
                      <a:r>
                        <a:rPr lang="en-IN" sz="1100" dirty="0"/>
                        <a:t>#</a:t>
                      </a:r>
                    </a:p>
                  </a:txBody>
                  <a:tcPr marL="15825" marR="15825" marT="7913" marB="7913" anchor="ctr"/>
                </a:tc>
                <a:tc>
                  <a:txBody>
                    <a:bodyPr/>
                    <a:lstStyle/>
                    <a:p>
                      <a:pPr algn="ctr"/>
                      <a:r>
                        <a:rPr lang="en-IN" sz="1400" b="1" dirty="0"/>
                        <a:t>Paper Name</a:t>
                      </a:r>
                    </a:p>
                  </a:txBody>
                  <a:tcPr marL="15825" marR="15825" marT="7913" marB="7913" anchor="ctr"/>
                </a:tc>
                <a:tc>
                  <a:txBody>
                    <a:bodyPr/>
                    <a:lstStyle/>
                    <a:p>
                      <a:pPr algn="ctr"/>
                      <a:r>
                        <a:rPr lang="en-IN" sz="1400" b="1" dirty="0"/>
                        <a:t>Author, Year</a:t>
                      </a:r>
                    </a:p>
                  </a:txBody>
                  <a:tcPr marL="15825" marR="15825" marT="7913" marB="7913" anchor="ctr"/>
                </a:tc>
                <a:tc>
                  <a:txBody>
                    <a:bodyPr/>
                    <a:lstStyle/>
                    <a:p>
                      <a:pPr algn="ctr"/>
                      <a:r>
                        <a:rPr lang="en-IN" sz="1400" b="1" dirty="0"/>
                        <a:t>Methodology</a:t>
                      </a:r>
                    </a:p>
                  </a:txBody>
                  <a:tcPr marL="15825" marR="15825" marT="7913" marB="7913" anchor="ctr"/>
                </a:tc>
                <a:tc>
                  <a:txBody>
                    <a:bodyPr/>
                    <a:lstStyle/>
                    <a:p>
                      <a:pPr algn="ctr"/>
                      <a:r>
                        <a:rPr lang="en-IN" sz="1400" b="1" dirty="0" smtClean="0"/>
                        <a:t>Findings</a:t>
                      </a:r>
                      <a:endParaRPr lang="en-IN" sz="1400" b="1" dirty="0"/>
                    </a:p>
                  </a:txBody>
                  <a:tcPr marL="15825" marR="15825" marT="7913" marB="7913" anchor="ctr"/>
                </a:tc>
                <a:extLst>
                  <a:ext uri="{0D108BD9-81ED-4DB2-BD59-A6C34878D82A}">
                    <a16:rowId xmlns:a16="http://schemas.microsoft.com/office/drawing/2014/main" val="2630202759"/>
                  </a:ext>
                </a:extLst>
              </a:tr>
              <a:tr h="796106">
                <a:tc>
                  <a:txBody>
                    <a:bodyPr/>
                    <a:lstStyle/>
                    <a:p>
                      <a:pPr algn="ctr"/>
                      <a:r>
                        <a:rPr lang="en-IN" sz="1100" dirty="0"/>
                        <a:t>6</a:t>
                      </a:r>
                    </a:p>
                  </a:txBody>
                  <a:tcPr marL="15825" marR="15825" marT="7913" marB="7913" anchor="ctr"/>
                </a:tc>
                <a:tc>
                  <a:txBody>
                    <a:bodyPr/>
                    <a:lstStyle/>
                    <a:p>
                      <a:r>
                        <a:rPr lang="en-US" sz="1100" dirty="0"/>
                        <a:t>Using Deep Learning for Image-Based Plant Disease Detection</a:t>
                      </a:r>
                    </a:p>
                  </a:txBody>
                  <a:tcPr marL="15825" marR="15825" marT="7913" marB="7913" anchor="ctr"/>
                </a:tc>
                <a:tc>
                  <a:txBody>
                    <a:bodyPr/>
                    <a:lstStyle/>
                    <a:p>
                      <a:pPr algn="ctr"/>
                      <a:r>
                        <a:rPr lang="en-IN" sz="1100" dirty="0" err="1"/>
                        <a:t>Mohanty</a:t>
                      </a:r>
                      <a:r>
                        <a:rPr lang="en-IN" sz="1100" dirty="0"/>
                        <a:t> et al., </a:t>
                      </a:r>
                      <a:r>
                        <a:rPr lang="en-IN" sz="1100" dirty="0" smtClean="0"/>
                        <a:t>2021</a:t>
                      </a:r>
                      <a:endParaRPr lang="en-IN" sz="1100" dirty="0"/>
                    </a:p>
                  </a:txBody>
                  <a:tcPr marL="15825" marR="15825" marT="7913" marB="7913" anchor="ctr"/>
                </a:tc>
                <a:tc>
                  <a:txBody>
                    <a:bodyPr/>
                    <a:lstStyle/>
                    <a:p>
                      <a:r>
                        <a:rPr lang="en-US" sz="1100" dirty="0"/>
                        <a:t>CNNs (</a:t>
                      </a:r>
                      <a:r>
                        <a:rPr lang="en-US" sz="1100" dirty="0" err="1"/>
                        <a:t>AlexNet</a:t>
                      </a:r>
                      <a:r>
                        <a:rPr lang="en-US" sz="1100" dirty="0"/>
                        <a:t>, </a:t>
                      </a:r>
                      <a:r>
                        <a:rPr lang="en-US" sz="1100" dirty="0" err="1"/>
                        <a:t>GoogLeNet</a:t>
                      </a:r>
                      <a:r>
                        <a:rPr lang="en-US" sz="1100" dirty="0"/>
                        <a:t>) trained on 54,306 </a:t>
                      </a:r>
                      <a:r>
                        <a:rPr lang="en-US" sz="1100" dirty="0" err="1"/>
                        <a:t>PlantVillage</a:t>
                      </a:r>
                      <a:r>
                        <a:rPr lang="en-US" sz="1100" dirty="0"/>
                        <a:t> images covering 14 crops and 26 diseases; transfer learning from ImageNet; color, grayscale, and segmented images tested.</a:t>
                      </a:r>
                    </a:p>
                  </a:txBody>
                  <a:tcPr marL="15825" marR="15825" marT="7913" marB="7913"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100" dirty="0" smtClean="0"/>
                        <a:t>99.35% accuracy with </a:t>
                      </a:r>
                      <a:r>
                        <a:rPr lang="en-US" sz="1100" dirty="0" err="1" smtClean="0"/>
                        <a:t>GoogLeNet</a:t>
                      </a:r>
                      <a:r>
                        <a:rPr lang="en-US" sz="1100" dirty="0" smtClean="0"/>
                        <a:t> + transfer learning + color images; transfer learning consistently outperformed training from scratch,</a:t>
                      </a:r>
                      <a:r>
                        <a:rPr lang="en-US" sz="1100" baseline="0" dirty="0" smtClean="0"/>
                        <a:t> </a:t>
                      </a:r>
                      <a:r>
                        <a:rPr lang="en-US" sz="1100" dirty="0" smtClean="0"/>
                        <a:t>accuracy </a:t>
                      </a:r>
                      <a:r>
                        <a:rPr lang="en-US" sz="1100" dirty="0"/>
                        <a:t>dropped to 31% on real-world field images; single leaves on homogeneous backgrounds; no hardware integration.</a:t>
                      </a:r>
                    </a:p>
                  </a:txBody>
                  <a:tcPr marL="15825" marR="15825" marT="7913" marB="7913" anchor="ctr"/>
                </a:tc>
                <a:extLst>
                  <a:ext uri="{0D108BD9-81ED-4DB2-BD59-A6C34878D82A}">
                    <a16:rowId xmlns:a16="http://schemas.microsoft.com/office/drawing/2014/main" val="366758871"/>
                  </a:ext>
                </a:extLst>
              </a:tr>
              <a:tr h="634201">
                <a:tc>
                  <a:txBody>
                    <a:bodyPr/>
                    <a:lstStyle/>
                    <a:p>
                      <a:pPr algn="ctr"/>
                      <a:r>
                        <a:rPr lang="en-IN" sz="1100" dirty="0"/>
                        <a:t>7</a:t>
                      </a:r>
                    </a:p>
                  </a:txBody>
                  <a:tcPr marL="15825" marR="15825" marT="7913" marB="7913" anchor="ctr"/>
                </a:tc>
                <a:tc>
                  <a:txBody>
                    <a:bodyPr/>
                    <a:lstStyle/>
                    <a:p>
                      <a:r>
                        <a:rPr lang="en-US" sz="1100"/>
                        <a:t>Deep learning models for plant disease detection and diagnosis</a:t>
                      </a:r>
                    </a:p>
                  </a:txBody>
                  <a:tcPr marL="15825" marR="15825" marT="7913" marB="7913" anchor="ctr"/>
                </a:tc>
                <a:tc>
                  <a:txBody>
                    <a:bodyPr/>
                    <a:lstStyle/>
                    <a:p>
                      <a:pPr algn="ctr"/>
                      <a:r>
                        <a:rPr lang="en-IN" sz="1100" dirty="0" err="1"/>
                        <a:t>Ferentinos</a:t>
                      </a:r>
                      <a:r>
                        <a:rPr lang="en-IN" sz="1100" dirty="0"/>
                        <a:t>, </a:t>
                      </a:r>
                      <a:r>
                        <a:rPr lang="en-IN" sz="1100" dirty="0" smtClean="0"/>
                        <a:t>2022</a:t>
                      </a:r>
                      <a:endParaRPr lang="en-IN" sz="1100" dirty="0"/>
                    </a:p>
                  </a:txBody>
                  <a:tcPr marL="15825" marR="15825" marT="7913" marB="7913" anchor="ctr"/>
                </a:tc>
                <a:tc>
                  <a:txBody>
                    <a:bodyPr/>
                    <a:lstStyle/>
                    <a:p>
                      <a:r>
                        <a:rPr lang="en-US" sz="1100" dirty="0" err="1"/>
                        <a:t>VGGNet</a:t>
                      </a:r>
                      <a:r>
                        <a:rPr lang="en-US" sz="1100" dirty="0"/>
                        <a:t>, </a:t>
                      </a:r>
                      <a:r>
                        <a:rPr lang="en-US" sz="1100" dirty="0" err="1"/>
                        <a:t>ResNet</a:t>
                      </a:r>
                      <a:r>
                        <a:rPr lang="en-US" sz="1100" dirty="0"/>
                        <a:t>, </a:t>
                      </a:r>
                      <a:r>
                        <a:rPr lang="en-US" sz="1100" dirty="0" err="1"/>
                        <a:t>AlexNet</a:t>
                      </a:r>
                      <a:r>
                        <a:rPr lang="en-US" sz="1100" dirty="0"/>
                        <a:t>, and </a:t>
                      </a:r>
                      <a:r>
                        <a:rPr lang="en-US" sz="1100" dirty="0" err="1"/>
                        <a:t>GoogLeNet</a:t>
                      </a:r>
                      <a:r>
                        <a:rPr lang="en-US" sz="1100" dirty="0"/>
                        <a:t> evaluated on 87,848 images covering 58 crop-disease classes across 25 plant species.</a:t>
                      </a:r>
                    </a:p>
                  </a:txBody>
                  <a:tcPr marL="15825" marR="15825" marT="7913" marB="7913"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100" dirty="0" smtClean="0"/>
                        <a:t>99.53% accuracy using VGG; CNNs outperformed hand-engineered features for disease detection,</a:t>
                      </a:r>
                      <a:r>
                        <a:rPr lang="en-US" sz="1100" baseline="0" dirty="0" smtClean="0"/>
                        <a:t> </a:t>
                      </a:r>
                      <a:r>
                        <a:rPr lang="en-US" sz="1100" dirty="0" smtClean="0"/>
                        <a:t>controlled/lab </a:t>
                      </a:r>
                      <a:r>
                        <a:rPr lang="en-US" sz="1100" dirty="0"/>
                        <a:t>conditions; VGG has 138M parameters, making it heavy for edge/API deployment; no field or sprayer integration.</a:t>
                      </a:r>
                    </a:p>
                  </a:txBody>
                  <a:tcPr marL="15825" marR="15825" marT="7913" marB="7913" anchor="ctr"/>
                </a:tc>
                <a:extLst>
                  <a:ext uri="{0D108BD9-81ED-4DB2-BD59-A6C34878D82A}">
                    <a16:rowId xmlns:a16="http://schemas.microsoft.com/office/drawing/2014/main" val="875343643"/>
                  </a:ext>
                </a:extLst>
              </a:tr>
              <a:tr h="589954">
                <a:tc>
                  <a:txBody>
                    <a:bodyPr/>
                    <a:lstStyle/>
                    <a:p>
                      <a:pPr algn="ctr"/>
                      <a:r>
                        <a:rPr lang="en-IN" sz="1100" dirty="0"/>
                        <a:t>8</a:t>
                      </a:r>
                    </a:p>
                  </a:txBody>
                  <a:tcPr marL="15825" marR="15825" marT="7913" marB="7913" anchor="ctr"/>
                </a:tc>
                <a:tc>
                  <a:txBody>
                    <a:bodyPr/>
                    <a:lstStyle/>
                    <a:p>
                      <a:r>
                        <a:rPr lang="en-US" sz="1100"/>
                        <a:t>Deep feature based rice leaf disease identification using support vector machine</a:t>
                      </a:r>
                    </a:p>
                  </a:txBody>
                  <a:tcPr marL="15825" marR="15825" marT="7913" marB="7913" anchor="ctr"/>
                </a:tc>
                <a:tc>
                  <a:txBody>
                    <a:bodyPr/>
                    <a:lstStyle/>
                    <a:p>
                      <a:pPr algn="ctr"/>
                      <a:r>
                        <a:rPr lang="en-IN" sz="1100" dirty="0" err="1"/>
                        <a:t>Sethy</a:t>
                      </a:r>
                      <a:r>
                        <a:rPr lang="en-IN" sz="1100" dirty="0"/>
                        <a:t> et al., 2020</a:t>
                      </a:r>
                    </a:p>
                  </a:txBody>
                  <a:tcPr marL="15825" marR="15825" marT="7913" marB="7913" anchor="ctr"/>
                </a:tc>
                <a:tc>
                  <a:txBody>
                    <a:bodyPr/>
                    <a:lstStyle/>
                    <a:p>
                      <a:r>
                        <a:rPr lang="en-US" sz="1100" dirty="0"/>
                        <a:t>ResNet50 used as a deep feature extractor followed by an SVM classifier; tested on Brown Spot, Blast, and Bacterial Blight.</a:t>
                      </a:r>
                    </a:p>
                  </a:txBody>
                  <a:tcPr marL="15825" marR="15825" marT="7913" marB="7913"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100" dirty="0" smtClean="0"/>
                        <a:t>98.38% accuracy; hybrid transfer learning + SVM outperformed end-to-end CNN for small rice disease datasets,</a:t>
                      </a:r>
                      <a:r>
                        <a:rPr lang="en-US" sz="1100" baseline="0" dirty="0" smtClean="0"/>
                        <a:t> </a:t>
                      </a:r>
                      <a:r>
                        <a:rPr lang="en-US" sz="1100" dirty="0" smtClean="0"/>
                        <a:t>lab </a:t>
                      </a:r>
                      <a:r>
                        <a:rPr lang="en-US" sz="1100" dirty="0"/>
                        <a:t>images only; no real-time system; no sprayer integration; requires a separate SVM training pipeline.</a:t>
                      </a:r>
                    </a:p>
                  </a:txBody>
                  <a:tcPr marL="15825" marR="15825" marT="7913" marB="7913" anchor="ctr"/>
                </a:tc>
                <a:extLst>
                  <a:ext uri="{0D108BD9-81ED-4DB2-BD59-A6C34878D82A}">
                    <a16:rowId xmlns:a16="http://schemas.microsoft.com/office/drawing/2014/main" val="1349167825"/>
                  </a:ext>
                </a:extLst>
              </a:tr>
              <a:tr h="589954">
                <a:tc>
                  <a:txBody>
                    <a:bodyPr/>
                    <a:lstStyle/>
                    <a:p>
                      <a:pPr algn="ctr"/>
                      <a:r>
                        <a:rPr lang="en-IN" sz="1100" dirty="0"/>
                        <a:t>9</a:t>
                      </a:r>
                    </a:p>
                  </a:txBody>
                  <a:tcPr marL="15825" marR="15825" marT="7913" marB="7913" anchor="ctr"/>
                </a:tc>
                <a:tc>
                  <a:txBody>
                    <a:bodyPr/>
                    <a:lstStyle/>
                    <a:p>
                      <a:r>
                        <a:rPr lang="en-US" sz="1100" dirty="0"/>
                        <a:t>Identification and recognition of rice diseases and pests using convolutional neural networks</a:t>
                      </a:r>
                    </a:p>
                  </a:txBody>
                  <a:tcPr marL="15825" marR="15825" marT="7913" marB="7913" anchor="ctr"/>
                </a:tc>
                <a:tc>
                  <a:txBody>
                    <a:bodyPr/>
                    <a:lstStyle/>
                    <a:p>
                      <a:pPr algn="ctr"/>
                      <a:r>
                        <a:rPr lang="en-IN" sz="1100" dirty="0"/>
                        <a:t>Rahman et al., 2020</a:t>
                      </a:r>
                    </a:p>
                  </a:txBody>
                  <a:tcPr marL="15825" marR="15825" marT="7913" marB="7913" anchor="ctr"/>
                </a:tc>
                <a:tc>
                  <a:txBody>
                    <a:bodyPr/>
                    <a:lstStyle/>
                    <a:p>
                      <a:r>
                        <a:rPr lang="en-US" sz="1100"/>
                        <a:t>Custom CNN trained on 1,426 rice images covering 9 diseases and 3 pest categories; data augmentation used during training.</a:t>
                      </a:r>
                    </a:p>
                  </a:txBody>
                  <a:tcPr marL="15825" marR="15825" marT="7913" marB="7913"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100" dirty="0" smtClean="0"/>
                        <a:t>95.83% overall accuracy for 12-class rice disease and pest classification,</a:t>
                      </a:r>
                      <a:r>
                        <a:rPr lang="en-US" sz="1100" baseline="0" dirty="0" smtClean="0"/>
                        <a:t> </a:t>
                      </a:r>
                      <a:r>
                        <a:rPr lang="en-US" sz="1100" dirty="0" smtClean="0"/>
                        <a:t>small </a:t>
                      </a:r>
                      <a:r>
                        <a:rPr lang="en-US" sz="1100" dirty="0"/>
                        <a:t>dataset; no field validation; no hardware or sprayer integration; controlled image conditions.</a:t>
                      </a:r>
                    </a:p>
                  </a:txBody>
                  <a:tcPr marL="15825" marR="15825" marT="7913" marB="7913" anchor="ctr"/>
                </a:tc>
                <a:extLst>
                  <a:ext uri="{0D108BD9-81ED-4DB2-BD59-A6C34878D82A}">
                    <a16:rowId xmlns:a16="http://schemas.microsoft.com/office/drawing/2014/main" val="527815474"/>
                  </a:ext>
                </a:extLst>
              </a:tr>
              <a:tr h="766939">
                <a:tc>
                  <a:txBody>
                    <a:bodyPr/>
                    <a:lstStyle/>
                    <a:p>
                      <a:pPr algn="ctr"/>
                      <a:r>
                        <a:rPr lang="en-IN" sz="1100" dirty="0"/>
                        <a:t>10</a:t>
                      </a:r>
                    </a:p>
                  </a:txBody>
                  <a:tcPr marL="15825" marR="15825" marT="7913" marB="7913" anchor="ctr"/>
                </a:tc>
                <a:tc>
                  <a:txBody>
                    <a:bodyPr/>
                    <a:lstStyle/>
                    <a:p>
                      <a:r>
                        <a:rPr lang="en-US" sz="1100" dirty="0"/>
                        <a:t>Paddy Doctor: A Visual Image Dataset for Automated Paddy Disease Classification</a:t>
                      </a:r>
                    </a:p>
                  </a:txBody>
                  <a:tcPr marL="15825" marR="15825" marT="7913" marB="7913" anchor="ctr"/>
                </a:tc>
                <a:tc>
                  <a:txBody>
                    <a:bodyPr/>
                    <a:lstStyle/>
                    <a:p>
                      <a:pPr algn="ctr"/>
                      <a:r>
                        <a:rPr lang="en-IN" sz="1100" dirty="0" err="1"/>
                        <a:t>Petchiammal</a:t>
                      </a:r>
                      <a:r>
                        <a:rPr lang="en-IN" sz="1100" dirty="0"/>
                        <a:t> et al., 2022</a:t>
                      </a:r>
                    </a:p>
                  </a:txBody>
                  <a:tcPr marL="15825" marR="15825" marT="7913" marB="7913" anchor="ctr"/>
                </a:tc>
                <a:tc>
                  <a:txBody>
                    <a:bodyPr/>
                    <a:lstStyle/>
                    <a:p>
                      <a:r>
                        <a:rPr lang="en-US" sz="1100"/>
                        <a:t>10,407 labeled paddy leaf images covering 10 disease classes and healthy leaves; ResNet, EfficientNet, and MobileNet CNN baselines benchmarked.</a:t>
                      </a:r>
                    </a:p>
                  </a:txBody>
                  <a:tcPr marL="15825" marR="15825" marT="7913" marB="7913"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100" dirty="0" smtClean="0"/>
                        <a:t>Provides a comprehensive paddy-specific dataset; MobileNetV2 achieved competitive accuracy with significantly lower computational cost,</a:t>
                      </a:r>
                      <a:r>
                        <a:rPr lang="en-US" sz="1100" baseline="0" dirty="0" smtClean="0"/>
                        <a:t> </a:t>
                      </a:r>
                      <a:r>
                        <a:rPr lang="en-US" sz="1100" dirty="0" smtClean="0"/>
                        <a:t>dataset/benchmark </a:t>
                      </a:r>
                      <a:r>
                        <a:rPr lang="en-US" sz="1100" dirty="0"/>
                        <a:t>only; no real-time system or hardware prototype; no VRA sprayer integration.</a:t>
                      </a:r>
                    </a:p>
                  </a:txBody>
                  <a:tcPr marL="15825" marR="15825" marT="7913" marB="7913" anchor="ctr"/>
                </a:tc>
                <a:extLst>
                  <a:ext uri="{0D108BD9-81ED-4DB2-BD59-A6C34878D82A}">
                    <a16:rowId xmlns:a16="http://schemas.microsoft.com/office/drawing/2014/main" val="3837662707"/>
                  </a:ext>
                </a:extLst>
              </a:tr>
              <a:tr h="634201">
                <a:tc>
                  <a:txBody>
                    <a:bodyPr/>
                    <a:lstStyle/>
                    <a:p>
                      <a:pPr algn="ctr"/>
                      <a:r>
                        <a:rPr lang="en-IN" sz="1100" dirty="0"/>
                        <a:t>11</a:t>
                      </a:r>
                    </a:p>
                  </a:txBody>
                  <a:tcPr marL="15825" marR="15825" marT="7913" marB="7913" anchor="ctr"/>
                </a:tc>
                <a:tc>
                  <a:txBody>
                    <a:bodyPr/>
                    <a:lstStyle/>
                    <a:p>
                      <a:r>
                        <a:rPr lang="en-US" sz="1100"/>
                        <a:t>Using deep transfer learning for image-based plant disease identification</a:t>
                      </a:r>
                    </a:p>
                  </a:txBody>
                  <a:tcPr marL="15825" marR="15825" marT="7913" marB="7913" anchor="ctr"/>
                </a:tc>
                <a:tc>
                  <a:txBody>
                    <a:bodyPr/>
                    <a:lstStyle/>
                    <a:p>
                      <a:pPr algn="ctr"/>
                      <a:r>
                        <a:rPr lang="en-IN" sz="1100" dirty="0"/>
                        <a:t>Chen et al., 2020</a:t>
                      </a:r>
                    </a:p>
                  </a:txBody>
                  <a:tcPr marL="15825" marR="15825" marT="7913" marB="7913" anchor="ctr"/>
                </a:tc>
                <a:tc>
                  <a:txBody>
                    <a:bodyPr/>
                    <a:lstStyle/>
                    <a:p>
                      <a:r>
                        <a:rPr lang="en-US" sz="1100"/>
                        <a:t>InceptionV3 with ImageNet transfer learning; domain adaptation used to reduce the gap between laboratory and field images.</a:t>
                      </a:r>
                    </a:p>
                  </a:txBody>
                  <a:tcPr marL="15825" marR="15825" marT="7913" marB="7913"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100" dirty="0" smtClean="0"/>
                        <a:t>Improved real-world accuracy through domain adaptation; confirmed the importance of transfer learning for small agricultural datasets,</a:t>
                      </a:r>
                      <a:r>
                        <a:rPr lang="en-US" sz="1100" baseline="0" dirty="0" smtClean="0"/>
                        <a:t> </a:t>
                      </a:r>
                      <a:r>
                        <a:rPr lang="en-US" sz="1100" dirty="0" smtClean="0"/>
                        <a:t>significant </a:t>
                      </a:r>
                      <a:r>
                        <a:rPr lang="en-US" sz="1100" dirty="0"/>
                        <a:t>accuracy drop remains in uncontrolled field conditions; no integrated hardware; no real-time operation.</a:t>
                      </a:r>
                    </a:p>
                  </a:txBody>
                  <a:tcPr marL="15825" marR="15825" marT="7913" marB="7913" anchor="ctr"/>
                </a:tc>
                <a:extLst>
                  <a:ext uri="{0D108BD9-81ED-4DB2-BD59-A6C34878D82A}">
                    <a16:rowId xmlns:a16="http://schemas.microsoft.com/office/drawing/2014/main" val="1934424257"/>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0" y="414068"/>
            <a:ext cx="9144000" cy="648906"/>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defRPr sz="2600" b="1">
                <a:solidFill>
                  <a:srgbClr val="1B3A5C"/>
                </a:solidFill>
              </a:defRPr>
            </a:pPr>
            <a:r>
              <a:rPr lang="en-US" sz="2600" b="1" dirty="0" smtClean="0">
                <a:solidFill>
                  <a:srgbClr val="1B3A5C"/>
                </a:solidFill>
              </a:rPr>
              <a:t>Literature Review</a:t>
            </a:r>
            <a:r>
              <a:rPr lang="en-US" sz="2600" b="1" dirty="0">
                <a:solidFill>
                  <a:srgbClr val="1B3A5C"/>
                </a:solidFill>
              </a:rPr>
              <a:t>: </a:t>
            </a:r>
            <a:r>
              <a:rPr lang="en-US" sz="2600" b="1" dirty="0" err="1">
                <a:solidFill>
                  <a:srgbClr val="1B3A5C"/>
                </a:solidFill>
              </a:rPr>
              <a:t>IoT</a:t>
            </a:r>
            <a:r>
              <a:rPr lang="en-US" sz="2600" b="1" dirty="0">
                <a:solidFill>
                  <a:srgbClr val="1B3A5C"/>
                </a:solidFill>
              </a:rPr>
              <a:t> in Precision Agriculture &amp; Integrated Systems </a:t>
            </a:r>
          </a:p>
        </p:txBody>
      </p:sp>
      <p:graphicFrame>
        <p:nvGraphicFramePr>
          <p:cNvPr id="5" name="Table 4"/>
          <p:cNvGraphicFramePr>
            <a:graphicFrameLocks noGrp="1"/>
          </p:cNvGraphicFramePr>
          <p:nvPr>
            <p:extLst>
              <p:ext uri="{D42A27DB-BD31-4B8C-83A1-F6EECF244321}">
                <p14:modId xmlns:p14="http://schemas.microsoft.com/office/powerpoint/2010/main" val="2773320288"/>
              </p:ext>
            </p:extLst>
          </p:nvPr>
        </p:nvGraphicFramePr>
        <p:xfrm>
          <a:off x="125082" y="1285336"/>
          <a:ext cx="8924027" cy="4925681"/>
        </p:xfrm>
        <a:graphic>
          <a:graphicData uri="http://schemas.openxmlformats.org/drawingml/2006/table">
            <a:tbl>
              <a:tblPr>
                <a:tableStyleId>{7DF18680-E054-41AD-8BC1-D1AEF772440D}</a:tableStyleId>
              </a:tblPr>
              <a:tblGrid>
                <a:gridCol w="344866">
                  <a:extLst>
                    <a:ext uri="{9D8B030D-6E8A-4147-A177-3AD203B41FA5}">
                      <a16:colId xmlns:a16="http://schemas.microsoft.com/office/drawing/2014/main" val="3324778375"/>
                    </a:ext>
                  </a:extLst>
                </a:gridCol>
                <a:gridCol w="2191216">
                  <a:extLst>
                    <a:ext uri="{9D8B030D-6E8A-4147-A177-3AD203B41FA5}">
                      <a16:colId xmlns:a16="http://schemas.microsoft.com/office/drawing/2014/main" val="1202058011"/>
                    </a:ext>
                  </a:extLst>
                </a:gridCol>
                <a:gridCol w="944397">
                  <a:extLst>
                    <a:ext uri="{9D8B030D-6E8A-4147-A177-3AD203B41FA5}">
                      <a16:colId xmlns:a16="http://schemas.microsoft.com/office/drawing/2014/main" val="907433770"/>
                    </a:ext>
                  </a:extLst>
                </a:gridCol>
                <a:gridCol w="2329413">
                  <a:extLst>
                    <a:ext uri="{9D8B030D-6E8A-4147-A177-3AD203B41FA5}">
                      <a16:colId xmlns:a16="http://schemas.microsoft.com/office/drawing/2014/main" val="1288967843"/>
                    </a:ext>
                  </a:extLst>
                </a:gridCol>
                <a:gridCol w="3114135">
                  <a:extLst>
                    <a:ext uri="{9D8B030D-6E8A-4147-A177-3AD203B41FA5}">
                      <a16:colId xmlns:a16="http://schemas.microsoft.com/office/drawing/2014/main" val="2713757594"/>
                    </a:ext>
                  </a:extLst>
                </a:gridCol>
              </a:tblGrid>
              <a:tr h="523887">
                <a:tc>
                  <a:txBody>
                    <a:bodyPr/>
                    <a:lstStyle/>
                    <a:p>
                      <a:pPr algn="ctr"/>
                      <a:r>
                        <a:rPr lang="en-IN" sz="1400" b="1" dirty="0"/>
                        <a:t>#</a:t>
                      </a:r>
                    </a:p>
                  </a:txBody>
                  <a:tcPr marL="23330" marR="23330" marT="11665" marB="11665" anchor="ctr"/>
                </a:tc>
                <a:tc>
                  <a:txBody>
                    <a:bodyPr/>
                    <a:lstStyle/>
                    <a:p>
                      <a:pPr algn="ctr"/>
                      <a:r>
                        <a:rPr lang="en-IN" sz="1400" b="1" dirty="0"/>
                        <a:t>Paper Name</a:t>
                      </a:r>
                    </a:p>
                  </a:txBody>
                  <a:tcPr marL="23330" marR="23330" marT="11665" marB="11665" anchor="ctr"/>
                </a:tc>
                <a:tc>
                  <a:txBody>
                    <a:bodyPr/>
                    <a:lstStyle/>
                    <a:p>
                      <a:pPr algn="ctr"/>
                      <a:r>
                        <a:rPr lang="en-IN" sz="1400" b="1" dirty="0"/>
                        <a:t>Author, Year</a:t>
                      </a:r>
                    </a:p>
                  </a:txBody>
                  <a:tcPr marL="23330" marR="23330" marT="11665" marB="11665" anchor="ctr"/>
                </a:tc>
                <a:tc>
                  <a:txBody>
                    <a:bodyPr/>
                    <a:lstStyle/>
                    <a:p>
                      <a:pPr algn="ctr"/>
                      <a:r>
                        <a:rPr lang="en-IN" sz="1400" b="1" dirty="0"/>
                        <a:t>Methodology</a:t>
                      </a:r>
                    </a:p>
                  </a:txBody>
                  <a:tcPr marL="23330" marR="23330" marT="11665" marB="11665" anchor="ctr"/>
                </a:tc>
                <a:tc>
                  <a:txBody>
                    <a:bodyPr/>
                    <a:lstStyle/>
                    <a:p>
                      <a:pPr algn="ctr"/>
                      <a:r>
                        <a:rPr lang="en-IN" sz="1400" b="1" dirty="0" smtClean="0"/>
                        <a:t>Findings</a:t>
                      </a:r>
                      <a:endParaRPr lang="en-IN" sz="1400" b="1" dirty="0"/>
                    </a:p>
                  </a:txBody>
                  <a:tcPr marL="23330" marR="23330" marT="11665" marB="11665" anchor="ctr"/>
                </a:tc>
                <a:extLst>
                  <a:ext uri="{0D108BD9-81ED-4DB2-BD59-A6C34878D82A}">
                    <a16:rowId xmlns:a16="http://schemas.microsoft.com/office/drawing/2014/main" val="1375152905"/>
                  </a:ext>
                </a:extLst>
              </a:tr>
              <a:tr h="1198020">
                <a:tc>
                  <a:txBody>
                    <a:bodyPr/>
                    <a:lstStyle/>
                    <a:p>
                      <a:pPr algn="ctr"/>
                      <a:r>
                        <a:rPr lang="en-IN" sz="1100" dirty="0"/>
                        <a:t>12</a:t>
                      </a:r>
                    </a:p>
                  </a:txBody>
                  <a:tcPr marL="23330" marR="23330" marT="11665" marB="11665" anchor="ctr"/>
                </a:tc>
                <a:tc>
                  <a:txBody>
                    <a:bodyPr/>
                    <a:lstStyle/>
                    <a:p>
                      <a:r>
                        <a:rPr lang="en-US" sz="1100" dirty="0"/>
                        <a:t>Development of a variable rate chemical sprayer for monitoring diseases and pests infestation in coconut plantations</a:t>
                      </a:r>
                    </a:p>
                  </a:txBody>
                  <a:tcPr marL="23330" marR="23330" marT="11665" marB="11665" anchor="ctr"/>
                </a:tc>
                <a:tc>
                  <a:txBody>
                    <a:bodyPr/>
                    <a:lstStyle/>
                    <a:p>
                      <a:pPr algn="ctr"/>
                      <a:r>
                        <a:rPr lang="en-IN" sz="1100" dirty="0" err="1"/>
                        <a:t>Samseemoung</a:t>
                      </a:r>
                      <a:r>
                        <a:rPr lang="en-IN" sz="1100" dirty="0"/>
                        <a:t> et al., 2017</a:t>
                      </a:r>
                    </a:p>
                  </a:txBody>
                  <a:tcPr marL="23330" marR="23330" marT="11665" marB="11665" anchor="ctr"/>
                </a:tc>
                <a:tc>
                  <a:txBody>
                    <a:bodyPr/>
                    <a:lstStyle/>
                    <a:p>
                      <a:r>
                        <a:rPr lang="en-US" sz="1100" dirty="0"/>
                        <a:t>Image-processing algorithm estimates disease density and determines the corresponding chemical amount; wireless remote monitoring system integrated.</a:t>
                      </a:r>
                    </a:p>
                  </a:txBody>
                  <a:tcPr marL="23330" marR="23330" marT="11665" marB="11665"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100" dirty="0" smtClean="0"/>
                        <a:t>Variable-rate spraying with remote monitoring demonstrated for coconut; reduced chemical wastage through density-based spraying,</a:t>
                      </a:r>
                      <a:r>
                        <a:rPr lang="en-US" sz="1100" baseline="0" dirty="0" smtClean="0"/>
                        <a:t> </a:t>
                      </a:r>
                      <a:r>
                        <a:rPr lang="en-US" sz="1100" dirty="0" smtClean="0"/>
                        <a:t>traditional </a:t>
                      </a:r>
                      <a:r>
                        <a:rPr lang="en-US" sz="1100" dirty="0"/>
                        <a:t>image processing, not deep learning; coconut-specific; limited scalability; complex system setup.</a:t>
                      </a:r>
                    </a:p>
                  </a:txBody>
                  <a:tcPr marL="23330" marR="23330" marT="11665" marB="11665" anchor="ctr"/>
                </a:tc>
                <a:extLst>
                  <a:ext uri="{0D108BD9-81ED-4DB2-BD59-A6C34878D82A}">
                    <a16:rowId xmlns:a16="http://schemas.microsoft.com/office/drawing/2014/main" val="2091701092"/>
                  </a:ext>
                </a:extLst>
              </a:tr>
              <a:tr h="1198020">
                <a:tc>
                  <a:txBody>
                    <a:bodyPr/>
                    <a:lstStyle/>
                    <a:p>
                      <a:pPr algn="ctr"/>
                      <a:r>
                        <a:rPr lang="en-IN" sz="1100" dirty="0"/>
                        <a:t>13</a:t>
                      </a:r>
                    </a:p>
                  </a:txBody>
                  <a:tcPr marL="23330" marR="23330" marT="11665" marB="11665" anchor="ctr"/>
                </a:tc>
                <a:tc>
                  <a:txBody>
                    <a:bodyPr/>
                    <a:lstStyle/>
                    <a:p>
                      <a:r>
                        <a:rPr lang="en-US" sz="1100"/>
                        <a:t>IoT-based precision agriculture: A review of smart spraying systems for pest and disease control</a:t>
                      </a:r>
                    </a:p>
                  </a:txBody>
                  <a:tcPr marL="23330" marR="23330" marT="11665" marB="11665" anchor="ctr"/>
                </a:tc>
                <a:tc>
                  <a:txBody>
                    <a:bodyPr/>
                    <a:lstStyle/>
                    <a:p>
                      <a:pPr algn="ctr"/>
                      <a:r>
                        <a:rPr lang="en-IN" sz="1100" dirty="0" err="1"/>
                        <a:t>Materne</a:t>
                      </a:r>
                      <a:r>
                        <a:rPr lang="en-IN" sz="1100" dirty="0"/>
                        <a:t> &amp; </a:t>
                      </a:r>
                      <a:r>
                        <a:rPr lang="en-IN" sz="1100" dirty="0" err="1"/>
                        <a:t>Ilunga</a:t>
                      </a:r>
                      <a:r>
                        <a:rPr lang="en-IN" sz="1100" dirty="0"/>
                        <a:t>, 2022</a:t>
                      </a:r>
                    </a:p>
                  </a:txBody>
                  <a:tcPr marL="23330" marR="23330" marT="11665" marB="11665" anchor="ctr"/>
                </a:tc>
                <a:tc>
                  <a:txBody>
                    <a:bodyPr/>
                    <a:lstStyle/>
                    <a:p>
                      <a:r>
                        <a:rPr lang="en-US" sz="1100" dirty="0"/>
                        <a:t>Comprehensive review of </a:t>
                      </a:r>
                      <a:r>
                        <a:rPr lang="en-US" sz="1100" dirty="0" err="1"/>
                        <a:t>IoT</a:t>
                      </a:r>
                      <a:r>
                        <a:rPr lang="en-US" sz="1100" dirty="0"/>
                        <a:t>-integrated smart spraying systems, including ESP32, Raspberry Pi, drone-based, and sensor-based approaches.</a:t>
                      </a:r>
                    </a:p>
                  </a:txBody>
                  <a:tcPr marL="23330" marR="23330" marT="11665" marB="11665"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100" dirty="0" smtClean="0"/>
                        <a:t>Identifies the growing trend toward DL + </a:t>
                      </a:r>
                      <a:r>
                        <a:rPr lang="en-US" sz="1100" dirty="0" err="1" smtClean="0"/>
                        <a:t>IoT</a:t>
                      </a:r>
                      <a:r>
                        <a:rPr lang="en-US" sz="1100" dirty="0" smtClean="0"/>
                        <a:t> integration; maps the state of the art and highlights ESP32 as a viable low-cost platform,</a:t>
                      </a:r>
                      <a:r>
                        <a:rPr lang="en-US" sz="1100" baseline="0" dirty="0" smtClean="0"/>
                        <a:t> </a:t>
                      </a:r>
                      <a:r>
                        <a:rPr lang="en-US" sz="1100" dirty="0" smtClean="0"/>
                        <a:t>review </a:t>
                      </a:r>
                      <a:r>
                        <a:rPr lang="en-US" sz="1100" dirty="0"/>
                        <a:t>paper only; no implementation; identifies that DL + </a:t>
                      </a:r>
                      <a:r>
                        <a:rPr lang="en-US" sz="1100" dirty="0" err="1"/>
                        <a:t>IoT</a:t>
                      </a:r>
                      <a:r>
                        <a:rPr lang="en-US" sz="1100" dirty="0"/>
                        <a:t> + VRA integration remains largely unexplored.</a:t>
                      </a:r>
                    </a:p>
                  </a:txBody>
                  <a:tcPr marL="23330" marR="23330" marT="11665" marB="11665" anchor="ctr"/>
                </a:tc>
                <a:extLst>
                  <a:ext uri="{0D108BD9-81ED-4DB2-BD59-A6C34878D82A}">
                    <a16:rowId xmlns:a16="http://schemas.microsoft.com/office/drawing/2014/main" val="2508213118"/>
                  </a:ext>
                </a:extLst>
              </a:tr>
              <a:tr h="1002877">
                <a:tc>
                  <a:txBody>
                    <a:bodyPr/>
                    <a:lstStyle/>
                    <a:p>
                      <a:pPr algn="ctr"/>
                      <a:r>
                        <a:rPr lang="en-IN" sz="1100" dirty="0"/>
                        <a:t>14</a:t>
                      </a:r>
                    </a:p>
                  </a:txBody>
                  <a:tcPr marL="23330" marR="23330" marT="11665" marB="11665" anchor="ctr"/>
                </a:tc>
                <a:tc>
                  <a:txBody>
                    <a:bodyPr/>
                    <a:lstStyle/>
                    <a:p>
                      <a:r>
                        <a:rPr lang="en-US" sz="1100"/>
                        <a:t>Development and field evaluation of a machine vision based in-season weed detection system for wild blueberry</a:t>
                      </a:r>
                    </a:p>
                  </a:txBody>
                  <a:tcPr marL="23330" marR="23330" marT="11665" marB="11665" anchor="ctr"/>
                </a:tc>
                <a:tc>
                  <a:txBody>
                    <a:bodyPr/>
                    <a:lstStyle/>
                    <a:p>
                      <a:pPr algn="ctr"/>
                      <a:r>
                        <a:rPr lang="en-IN" sz="1100" dirty="0" err="1"/>
                        <a:t>Rehman</a:t>
                      </a:r>
                      <a:r>
                        <a:rPr lang="en-IN" sz="1100" dirty="0"/>
                        <a:t> et al., 2019</a:t>
                      </a:r>
                    </a:p>
                  </a:txBody>
                  <a:tcPr marL="23330" marR="23330" marT="11665" marB="11665" anchor="ctr"/>
                </a:tc>
                <a:tc>
                  <a:txBody>
                    <a:bodyPr/>
                    <a:lstStyle/>
                    <a:p>
                      <a:r>
                        <a:rPr lang="en-US" sz="1100" dirty="0"/>
                        <a:t>Machine vision using color and texture features for weed detection; real-time processing pipeline; evaluated throughout the full growing season.</a:t>
                      </a:r>
                    </a:p>
                  </a:txBody>
                  <a:tcPr marL="23330" marR="23330" marT="11665" marB="11665" anchor="ctr"/>
                </a:tc>
                <a:tc>
                  <a:txBody>
                    <a:bodyPr/>
                    <a:lstStyle/>
                    <a:p>
                      <a:r>
                        <a:rPr lang="en-US" sz="1100" dirty="0" smtClean="0"/>
                        <a:t>Field-validated weed detection across a full season; demonstrated robustness under agricultural field conditions, weed-focused </a:t>
                      </a:r>
                      <a:r>
                        <a:rPr lang="en-US" sz="1100" dirty="0"/>
                        <a:t>only, not disease detection; traditional features rather than deep learning; no variable-rate actuation.</a:t>
                      </a:r>
                    </a:p>
                  </a:txBody>
                  <a:tcPr marL="23330" marR="23330" marT="11665" marB="11665" anchor="ctr"/>
                </a:tc>
                <a:extLst>
                  <a:ext uri="{0D108BD9-81ED-4DB2-BD59-A6C34878D82A}">
                    <a16:rowId xmlns:a16="http://schemas.microsoft.com/office/drawing/2014/main" val="4023707851"/>
                  </a:ext>
                </a:extLst>
              </a:tr>
              <a:tr h="1002877">
                <a:tc>
                  <a:txBody>
                    <a:bodyPr/>
                    <a:lstStyle/>
                    <a:p>
                      <a:pPr algn="ctr"/>
                      <a:r>
                        <a:rPr lang="en-IN" sz="1100" dirty="0"/>
                        <a:t>15</a:t>
                      </a:r>
                    </a:p>
                  </a:txBody>
                  <a:tcPr marL="23330" marR="23330" marT="11665" marB="11665" anchor="ctr"/>
                </a:tc>
                <a:tc>
                  <a:txBody>
                    <a:bodyPr/>
                    <a:lstStyle/>
                    <a:p>
                      <a:r>
                        <a:rPr lang="en-US" sz="1100"/>
                        <a:t>A real-time weed mapping and precision herbicide spraying system for row crops</a:t>
                      </a:r>
                    </a:p>
                  </a:txBody>
                  <a:tcPr marL="23330" marR="23330" marT="11665" marB="11665" anchor="ctr"/>
                </a:tc>
                <a:tc>
                  <a:txBody>
                    <a:bodyPr/>
                    <a:lstStyle/>
                    <a:p>
                      <a:pPr algn="ctr"/>
                      <a:r>
                        <a:rPr lang="en-IN" sz="1100" dirty="0"/>
                        <a:t>Xu et al., 2018</a:t>
                      </a:r>
                    </a:p>
                  </a:txBody>
                  <a:tcPr marL="23330" marR="23330" marT="11665" marB="11665" anchor="ctr"/>
                </a:tc>
                <a:tc>
                  <a:txBody>
                    <a:bodyPr/>
                    <a:lstStyle/>
                    <a:p>
                      <a:r>
                        <a:rPr lang="en-IN" sz="1100"/>
                        <a:t>Multi-sensor camera system for real-time weed mapping; precision nozzle control using solenoid valves for site-specific herbicide application.</a:t>
                      </a:r>
                    </a:p>
                  </a:txBody>
                  <a:tcPr marL="23330" marR="23330" marT="11665" marB="11665"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100" dirty="0" smtClean="0"/>
                        <a:t>Demonstrated real-time mapping and precision spraying with significant herbicide reduction in row-crop fields,</a:t>
                      </a:r>
                      <a:r>
                        <a:rPr lang="en-US" sz="1100" baseline="0" dirty="0" smtClean="0"/>
                        <a:t> </a:t>
                      </a:r>
                      <a:r>
                        <a:rPr lang="en-US" sz="1100" dirty="0" smtClean="0"/>
                        <a:t>weed </a:t>
                      </a:r>
                      <a:r>
                        <a:rPr lang="en-US" sz="1100" dirty="0"/>
                        <a:t>control only; no disease-severity estimation; no </a:t>
                      </a:r>
                      <a:r>
                        <a:rPr lang="en-US" sz="1100" dirty="0" err="1"/>
                        <a:t>IoT</a:t>
                      </a:r>
                      <a:r>
                        <a:rPr lang="en-US" sz="1100" dirty="0"/>
                        <a:t> dashboard; no deep learning; custom hardware is not low-cost.</a:t>
                      </a:r>
                    </a:p>
                  </a:txBody>
                  <a:tcPr marL="23330" marR="23330" marT="11665" marB="11665" anchor="ctr"/>
                </a:tc>
                <a:extLst>
                  <a:ext uri="{0D108BD9-81ED-4DB2-BD59-A6C34878D82A}">
                    <a16:rowId xmlns:a16="http://schemas.microsoft.com/office/drawing/2014/main" val="2621137118"/>
                  </a:ext>
                </a:extLst>
              </a:tr>
            </a:tbl>
          </a:graphicData>
        </a:graphic>
      </p:graphicFrame>
    </p:spTree>
    <p:extLst>
      <p:ext uri="{BB962C8B-B14F-4D97-AF65-F5344CB8AC3E}">
        <p14:creationId xmlns:p14="http://schemas.microsoft.com/office/powerpoint/2010/main" val="37007708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6616" y="438267"/>
            <a:ext cx="8229600" cy="668638"/>
          </a:xfrm>
        </p:spPr>
        <p:txBody>
          <a:bodyPr>
            <a:noAutofit/>
          </a:bodyPr>
          <a:lstStyle/>
          <a:p>
            <a:r>
              <a:rPr lang="en-US" sz="2400" b="1" dirty="0">
                <a:solidFill>
                  <a:schemeClr val="tx2">
                    <a:lumMod val="75000"/>
                  </a:schemeClr>
                </a:solidFill>
              </a:rPr>
              <a:t>Literature Review — CNN Architectures Evaluated</a:t>
            </a:r>
          </a:p>
        </p:txBody>
      </p:sp>
      <p:sp>
        <p:nvSpPr>
          <p:cNvPr id="3" name="Content Placeholder 2"/>
          <p:cNvSpPr>
            <a:spLocks noGrp="1"/>
          </p:cNvSpPr>
          <p:nvPr>
            <p:ph idx="1"/>
          </p:nvPr>
        </p:nvSpPr>
        <p:spPr>
          <a:xfrm>
            <a:off x="481744" y="1423894"/>
            <a:ext cx="8229600" cy="4272817"/>
          </a:xfrm>
        </p:spPr>
        <p:txBody>
          <a:bodyPr>
            <a:noAutofit/>
          </a:bodyPr>
          <a:lstStyle/>
          <a:p>
            <a:pPr marL="0" indent="0">
              <a:buNone/>
            </a:pPr>
            <a:r>
              <a:rPr lang="en-US" sz="1600" b="1" dirty="0"/>
              <a:t>From </a:t>
            </a:r>
            <a:r>
              <a:rPr lang="en-US" sz="1600" b="1" dirty="0" err="1"/>
              <a:t>Mohanty</a:t>
            </a:r>
            <a:r>
              <a:rPr lang="en-US" sz="1600" b="1" dirty="0"/>
              <a:t> et al. (</a:t>
            </a:r>
            <a:r>
              <a:rPr lang="en-US" sz="1600" b="1" dirty="0" smtClean="0"/>
              <a:t>2022):</a:t>
            </a:r>
            <a:endParaRPr lang="en-US" sz="1600" b="1" dirty="0"/>
          </a:p>
          <a:p>
            <a:pPr algn="just"/>
            <a:r>
              <a:rPr lang="en-US" sz="1400" dirty="0" smtClean="0"/>
              <a:t>We focus on two popular architectures, namely </a:t>
            </a:r>
            <a:r>
              <a:rPr lang="en-US" sz="1400" b="1" dirty="0" err="1" smtClean="0"/>
              <a:t>AlexNet</a:t>
            </a:r>
            <a:r>
              <a:rPr lang="en-US" sz="1400" dirty="0" smtClean="0"/>
              <a:t> and </a:t>
            </a:r>
            <a:r>
              <a:rPr lang="en-US" sz="1400" b="1" dirty="0" err="1" smtClean="0"/>
              <a:t>GoogLeNet</a:t>
            </a:r>
            <a:r>
              <a:rPr lang="en-US" sz="1400" dirty="0" smtClean="0"/>
              <a:t>, which were designed in the context of the "Large Scale Visual Recognition Challenge" (ILSVRC) for the ImageNet dataset.</a:t>
            </a:r>
          </a:p>
          <a:p>
            <a:pPr algn="just"/>
            <a:r>
              <a:rPr lang="en-US" sz="1400" dirty="0" smtClean="0"/>
              <a:t>The </a:t>
            </a:r>
            <a:r>
              <a:rPr lang="en-US" sz="1400" dirty="0" err="1" smtClean="0"/>
              <a:t>GoogleNet</a:t>
            </a:r>
            <a:r>
              <a:rPr lang="en-US" sz="1400" dirty="0" smtClean="0"/>
              <a:t> architecture is a much deeper and wider architecture with 22 layers, while still having considerably lower number of parameters (5 million parameters) in the network than </a:t>
            </a:r>
            <a:r>
              <a:rPr lang="en-US" sz="1400" dirty="0" err="1" smtClean="0"/>
              <a:t>AlexNet</a:t>
            </a:r>
            <a:r>
              <a:rPr lang="en-US" sz="1400" dirty="0" smtClean="0"/>
              <a:t> (60 million parameters). </a:t>
            </a:r>
          </a:p>
          <a:p>
            <a:pPr algn="just"/>
            <a:r>
              <a:rPr lang="en-US" sz="1400" dirty="0" smtClean="0"/>
              <a:t>The key difference between these two learning approaches (transfer vs. training from scratch) is in the initial state of weights of a few layers, which lets the transfer learning approach exploit the large amount of visual knowledge already learned by the pre-trained </a:t>
            </a:r>
            <a:r>
              <a:rPr lang="en-US" sz="1400" dirty="0" err="1" smtClean="0"/>
              <a:t>AlexNet</a:t>
            </a:r>
            <a:r>
              <a:rPr lang="en-US" sz="1400" dirty="0" smtClean="0"/>
              <a:t> and </a:t>
            </a:r>
            <a:r>
              <a:rPr lang="en-US" sz="1400" dirty="0" err="1" smtClean="0"/>
              <a:t>GoogleNet</a:t>
            </a:r>
            <a:r>
              <a:rPr lang="en-US" sz="1400" dirty="0" smtClean="0"/>
              <a:t> models extracted from ImageNet.</a:t>
            </a:r>
          </a:p>
          <a:p>
            <a:pPr marL="0" indent="0" algn="just">
              <a:buNone/>
            </a:pPr>
            <a:endParaRPr lang="en-US" sz="1400" dirty="0" smtClean="0"/>
          </a:p>
          <a:p>
            <a:pPr marL="0" indent="0">
              <a:buNone/>
            </a:pPr>
            <a:endParaRPr lang="en-US" sz="1400" dirty="0"/>
          </a:p>
          <a:p>
            <a:pPr marL="0" indent="0">
              <a:buNone/>
            </a:pPr>
            <a:r>
              <a:rPr lang="en-US" sz="2000" b="1" dirty="0"/>
              <a:t>Our Choice — MobileNetV2:</a:t>
            </a:r>
            <a:r>
              <a:rPr lang="en-US" sz="2000" dirty="0"/>
              <a:t> </a:t>
            </a:r>
            <a:endParaRPr lang="en-US" sz="2000" dirty="0" smtClean="0"/>
          </a:p>
          <a:p>
            <a:r>
              <a:rPr lang="en-US" sz="1400" dirty="0" smtClean="0"/>
              <a:t>Lightweight </a:t>
            </a:r>
            <a:r>
              <a:rPr lang="en-US" sz="1400" dirty="0"/>
              <a:t>(3.4M </a:t>
            </a:r>
            <a:r>
              <a:rPr lang="en-US" sz="1400" dirty="0" err="1" smtClean="0"/>
              <a:t>params</a:t>
            </a:r>
            <a:r>
              <a:rPr lang="en-US" sz="1400" dirty="0" smtClean="0"/>
              <a:t>)</a:t>
            </a:r>
          </a:p>
          <a:p>
            <a:r>
              <a:rPr lang="en-US" sz="1400" dirty="0"/>
              <a:t>D</a:t>
            </a:r>
            <a:r>
              <a:rPr lang="en-US" sz="1400" dirty="0" smtClean="0"/>
              <a:t>esigned </a:t>
            </a:r>
            <a:r>
              <a:rPr lang="en-US" sz="1400" dirty="0"/>
              <a:t>for </a:t>
            </a:r>
            <a:r>
              <a:rPr lang="en-US" sz="1400" dirty="0" smtClean="0"/>
              <a:t>mobile/edge</a:t>
            </a:r>
          </a:p>
          <a:p>
            <a:r>
              <a:rPr lang="en-US" sz="1400" dirty="0"/>
              <a:t>T</a:t>
            </a:r>
            <a:r>
              <a:rPr lang="en-US" sz="1400" dirty="0" smtClean="0"/>
              <a:t>ransfer </a:t>
            </a:r>
            <a:r>
              <a:rPr lang="en-US" sz="1400" dirty="0"/>
              <a:t>learning from </a:t>
            </a:r>
            <a:r>
              <a:rPr lang="en-US" sz="1400" dirty="0" smtClean="0"/>
              <a:t>ImageNet</a:t>
            </a:r>
          </a:p>
          <a:p>
            <a:r>
              <a:rPr lang="en-US" sz="1400" dirty="0"/>
              <a:t>B</a:t>
            </a:r>
            <a:r>
              <a:rPr lang="en-US" sz="1400" dirty="0" smtClean="0"/>
              <a:t>etter </a:t>
            </a:r>
            <a:r>
              <a:rPr lang="en-US" sz="1400" dirty="0"/>
              <a:t>suited for real-time cloud inference than heavy </a:t>
            </a:r>
            <a:r>
              <a:rPr lang="en-US" sz="1400" dirty="0" err="1"/>
              <a:t>GoogLeNet</a:t>
            </a:r>
            <a:r>
              <a:rPr lang="en-US" sz="1400" dirty="0"/>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47445"/>
            <a:ext cx="8229600" cy="492125"/>
          </a:xfrm>
        </p:spPr>
        <p:txBody>
          <a:bodyPr/>
          <a:lstStyle/>
          <a:p>
            <a:pPr>
              <a:defRPr sz="2600" b="1">
                <a:solidFill>
                  <a:srgbClr val="1B3A5C"/>
                </a:solidFill>
              </a:defRPr>
            </a:pPr>
            <a:r>
              <a:rPr lang="en-US" dirty="0"/>
              <a:t>Identified Research Gap &amp; Our Contribution</a:t>
            </a:r>
          </a:p>
        </p:txBody>
      </p:sp>
      <p:graphicFrame>
        <p:nvGraphicFramePr>
          <p:cNvPr id="4" name="Table 3"/>
          <p:cNvGraphicFramePr>
            <a:graphicFrameLocks noGrp="1"/>
          </p:cNvGraphicFramePr>
          <p:nvPr>
            <p:extLst>
              <p:ext uri="{D42A27DB-BD31-4B8C-83A1-F6EECF244321}">
                <p14:modId xmlns:p14="http://schemas.microsoft.com/office/powerpoint/2010/main" val="2820746753"/>
              </p:ext>
            </p:extLst>
          </p:nvPr>
        </p:nvGraphicFramePr>
        <p:xfrm>
          <a:off x="274320" y="1097280"/>
          <a:ext cx="8595360" cy="5111014"/>
        </p:xfrm>
        <a:graphic>
          <a:graphicData uri="http://schemas.openxmlformats.org/drawingml/2006/table">
            <a:tbl>
              <a:tblPr firstRow="1" bandRow="1">
                <a:tableStyleId>{5C22544A-7EE6-4342-B048-85BDC9FD1C3A}</a:tableStyleId>
              </a:tblPr>
              <a:tblGrid>
                <a:gridCol w="429768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417226">
                <a:tc>
                  <a:txBody>
                    <a:bodyPr/>
                    <a:lstStyle/>
                    <a:p>
                      <a:pPr algn="ctr"/>
                      <a:r>
                        <a:rPr lang="en-IN" b="1" dirty="0">
                          <a:effectLst/>
                        </a:rPr>
                        <a:t>Gap in Existing Work</a:t>
                      </a:r>
                    </a:p>
                  </a:txBody>
                  <a:tcPr anchor="ctr">
                    <a:solidFill>
                      <a:srgbClr val="1B3A5C"/>
                    </a:solidFill>
                  </a:tcPr>
                </a:tc>
                <a:tc>
                  <a:txBody>
                    <a:bodyPr/>
                    <a:lstStyle/>
                    <a:p>
                      <a:pPr algn="ctr"/>
                      <a:r>
                        <a:rPr lang="en-IN" b="1" dirty="0">
                          <a:effectLst/>
                        </a:rPr>
                        <a:t>Our Contribution</a:t>
                      </a:r>
                    </a:p>
                  </a:txBody>
                  <a:tcPr anchor="ctr">
                    <a:solidFill>
                      <a:srgbClr val="1B3A5C"/>
                    </a:solidFill>
                  </a:tcPr>
                </a:tc>
                <a:extLst>
                  <a:ext uri="{0D108BD9-81ED-4DB2-BD59-A6C34878D82A}">
                    <a16:rowId xmlns:a16="http://schemas.microsoft.com/office/drawing/2014/main" val="10000"/>
                  </a:ext>
                </a:extLst>
              </a:tr>
              <a:tr h="938758">
                <a:tc>
                  <a:txBody>
                    <a:bodyPr/>
                    <a:lstStyle/>
                    <a:p>
                      <a:r>
                        <a:rPr lang="en-US" sz="1600" dirty="0">
                          <a:effectLst/>
                        </a:rPr>
                        <a:t>Base paper uses simple CA </a:t>
                      </a:r>
                      <a:r>
                        <a:rPr lang="en-US" sz="1600" dirty="0" err="1">
                          <a:effectLst/>
                        </a:rPr>
                        <a:t>thresholding</a:t>
                      </a:r>
                      <a:r>
                        <a:rPr lang="en-US" sz="1600" dirty="0">
                          <a:effectLst/>
                        </a:rPr>
                        <a:t> — sensitive to lighting, limited generalization</a:t>
                      </a:r>
                    </a:p>
                  </a:txBody>
                  <a:tcPr anchor="ctr">
                    <a:solidFill>
                      <a:srgbClr val="F2F2F2"/>
                    </a:solidFill>
                  </a:tcPr>
                </a:tc>
                <a:tc>
                  <a:txBody>
                    <a:bodyPr/>
                    <a:lstStyle/>
                    <a:p>
                      <a:r>
                        <a:rPr lang="en-US" sz="1600" dirty="0">
                          <a:effectLst/>
                        </a:rPr>
                        <a:t>CNN-based deep learning model (MobileNetV2 with transfer learning) for robust multi-disease classification</a:t>
                      </a:r>
                    </a:p>
                  </a:txBody>
                  <a:tcPr anchor="ctr">
                    <a:solidFill>
                      <a:srgbClr val="F2F2F2"/>
                    </a:solidFill>
                  </a:tcPr>
                </a:tc>
                <a:extLst>
                  <a:ext uri="{0D108BD9-81ED-4DB2-BD59-A6C34878D82A}">
                    <a16:rowId xmlns:a16="http://schemas.microsoft.com/office/drawing/2014/main" val="10001"/>
                  </a:ext>
                </a:extLst>
              </a:tr>
              <a:tr h="660607">
                <a:tc>
                  <a:txBody>
                    <a:bodyPr/>
                    <a:lstStyle/>
                    <a:p>
                      <a:r>
                        <a:rPr lang="en-US" sz="1600" dirty="0">
                          <a:effectLst/>
                        </a:rPr>
                        <a:t>Base paper requires laptop + MATLAB — bulky, expensive</a:t>
                      </a:r>
                    </a:p>
                  </a:txBody>
                  <a:tcPr anchor="ctr">
                    <a:solidFill>
                      <a:srgbClr val="FFFFFF"/>
                    </a:solidFill>
                  </a:tcPr>
                </a:tc>
                <a:tc>
                  <a:txBody>
                    <a:bodyPr/>
                    <a:lstStyle/>
                    <a:p>
                      <a:r>
                        <a:rPr lang="en-IN" sz="1600">
                          <a:effectLst/>
                        </a:rPr>
                        <a:t>ESP32-CAM + Cloud inference — compact, &lt;₹2500 total</a:t>
                      </a:r>
                    </a:p>
                  </a:txBody>
                  <a:tcPr anchor="ctr">
                    <a:solidFill>
                      <a:srgbClr val="FFFFFF"/>
                    </a:solidFill>
                  </a:tcPr>
                </a:tc>
                <a:extLst>
                  <a:ext uri="{0D108BD9-81ED-4DB2-BD59-A6C34878D82A}">
                    <a16:rowId xmlns:a16="http://schemas.microsoft.com/office/drawing/2014/main" val="10002"/>
                  </a:ext>
                </a:extLst>
              </a:tr>
              <a:tr h="660607">
                <a:tc>
                  <a:txBody>
                    <a:bodyPr/>
                    <a:lstStyle/>
                    <a:p>
                      <a:r>
                        <a:rPr lang="en-IN" sz="1600" dirty="0">
                          <a:effectLst/>
                        </a:rPr>
                        <a:t>No remote monitoring capability</a:t>
                      </a:r>
                    </a:p>
                  </a:txBody>
                  <a:tcPr anchor="ctr">
                    <a:solidFill>
                      <a:srgbClr val="F2F2F2"/>
                    </a:solidFill>
                  </a:tcPr>
                </a:tc>
                <a:tc>
                  <a:txBody>
                    <a:bodyPr/>
                    <a:lstStyle/>
                    <a:p>
                      <a:r>
                        <a:rPr lang="en-US" sz="1600" dirty="0" err="1">
                          <a:effectLst/>
                        </a:rPr>
                        <a:t>Blynk</a:t>
                      </a:r>
                      <a:r>
                        <a:rPr lang="en-US" sz="1600" dirty="0">
                          <a:effectLst/>
                        </a:rPr>
                        <a:t> </a:t>
                      </a:r>
                      <a:r>
                        <a:rPr lang="en-US" sz="1600" dirty="0" err="1">
                          <a:effectLst/>
                        </a:rPr>
                        <a:t>IoT</a:t>
                      </a:r>
                      <a:r>
                        <a:rPr lang="en-US" sz="1600" dirty="0">
                          <a:effectLst/>
                        </a:rPr>
                        <a:t> dashboard for real-time disease tracking</a:t>
                      </a:r>
                    </a:p>
                  </a:txBody>
                  <a:tcPr anchor="ctr">
                    <a:solidFill>
                      <a:srgbClr val="F2F2F2"/>
                    </a:solidFill>
                  </a:tcPr>
                </a:tc>
                <a:extLst>
                  <a:ext uri="{0D108BD9-81ED-4DB2-BD59-A6C34878D82A}">
                    <a16:rowId xmlns:a16="http://schemas.microsoft.com/office/drawing/2014/main" val="10003"/>
                  </a:ext>
                </a:extLst>
              </a:tr>
              <a:tr h="660607">
                <a:tc>
                  <a:txBody>
                    <a:bodyPr/>
                    <a:lstStyle/>
                    <a:p>
                      <a:r>
                        <a:rPr lang="en-US" sz="1600" dirty="0">
                          <a:effectLst/>
                        </a:rPr>
                        <a:t>Only 3 severity levels (always sprays at minimum 33%)</a:t>
                      </a:r>
                    </a:p>
                  </a:txBody>
                  <a:tcPr anchor="ctr">
                    <a:solidFill>
                      <a:srgbClr val="FFFFFF"/>
                    </a:solidFill>
                  </a:tcPr>
                </a:tc>
                <a:tc>
                  <a:txBody>
                    <a:bodyPr/>
                    <a:lstStyle/>
                    <a:p>
                      <a:r>
                        <a:rPr lang="en-US" sz="1600" dirty="0">
                          <a:effectLst/>
                        </a:rPr>
                        <a:t>4 levels: Healthy (0% spray) + Low + Medium + High — eliminates waste on healthy plants</a:t>
                      </a:r>
                    </a:p>
                  </a:txBody>
                  <a:tcPr anchor="ctr">
                    <a:solidFill>
                      <a:srgbClr val="FFFFFF"/>
                    </a:solidFill>
                  </a:tcPr>
                </a:tc>
                <a:extLst>
                  <a:ext uri="{0D108BD9-81ED-4DB2-BD59-A6C34878D82A}">
                    <a16:rowId xmlns:a16="http://schemas.microsoft.com/office/drawing/2014/main" val="10004"/>
                  </a:ext>
                </a:extLst>
              </a:tr>
              <a:tr h="1773209">
                <a:tc>
                  <a:txBody>
                    <a:bodyPr/>
                    <a:lstStyle/>
                    <a:p>
                      <a:r>
                        <a:rPr lang="en-US" sz="1600" dirty="0">
                          <a:effectLst/>
                        </a:rPr>
                        <a:t>This problem occurs in all traditional attempts to detect plant diseases using computer vision as they lean heavily on </a:t>
                      </a:r>
                      <a:r>
                        <a:rPr lang="en-US" sz="1600" b="1" dirty="0">
                          <a:effectLst/>
                        </a:rPr>
                        <a:t>hand-engineered</a:t>
                      </a:r>
                      <a:r>
                        <a:rPr lang="en-US" sz="1600" dirty="0">
                          <a:effectLst/>
                        </a:rPr>
                        <a:t> features, image enhancement techniques, and a host of other complex and labor-intensive methodologies.</a:t>
                      </a:r>
                    </a:p>
                  </a:txBody>
                  <a:tcPr anchor="ctr">
                    <a:solidFill>
                      <a:srgbClr val="F2F2F2"/>
                    </a:solidFill>
                  </a:tcPr>
                </a:tc>
                <a:tc>
                  <a:txBody>
                    <a:bodyPr/>
                    <a:lstStyle/>
                    <a:p>
                      <a:r>
                        <a:rPr lang="en-US" sz="1600" dirty="0">
                          <a:effectLst/>
                        </a:rPr>
                        <a:t>End-to-end </a:t>
                      </a:r>
                      <a:r>
                        <a:rPr lang="en-US" sz="1600" b="1" dirty="0">
                          <a:effectLst/>
                        </a:rPr>
                        <a:t>deep learning </a:t>
                      </a:r>
                      <a:r>
                        <a:rPr lang="en-US" sz="1600" dirty="0">
                          <a:effectLst/>
                        </a:rPr>
                        <a:t>eliminates manual feature engineering</a:t>
                      </a:r>
                    </a:p>
                  </a:txBody>
                  <a:tcPr anchor="ctr">
                    <a:solidFill>
                      <a:srgbClr val="F2F2F2"/>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2800" b="1">
                <a:solidFill>
                  <a:srgbClr val="1B3A5C"/>
                </a:solidFill>
              </a:defRPr>
            </a:pPr>
            <a:r>
              <a:t>Project Objectives</a:t>
            </a:r>
          </a:p>
        </p:txBody>
      </p:sp>
      <p:sp>
        <p:nvSpPr>
          <p:cNvPr id="3" name="Content Placeholder 2"/>
          <p:cNvSpPr>
            <a:spLocks noGrp="1"/>
          </p:cNvSpPr>
          <p:nvPr>
            <p:ph idx="1"/>
          </p:nvPr>
        </p:nvSpPr>
        <p:spPr>
          <a:xfrm>
            <a:off x="457200" y="1600201"/>
            <a:ext cx="8229600" cy="3183556"/>
          </a:xfrm>
        </p:spPr>
        <p:txBody>
          <a:bodyPr>
            <a:normAutofit/>
          </a:bodyPr>
          <a:lstStyle/>
          <a:p>
            <a:pPr marL="0" indent="0">
              <a:spcAft>
                <a:spcPts val="800"/>
              </a:spcAft>
              <a:buNone/>
              <a:defRPr sz="1600">
                <a:solidFill>
                  <a:srgbClr val="333333"/>
                </a:solidFill>
              </a:defRPr>
            </a:pPr>
            <a:r>
              <a:rPr sz="2000" dirty="0" smtClean="0"/>
              <a:t>1. Develop a CNN-based deep learning model (MobileNetV2) for real-time classification and severity estimation of paddy plant diseases</a:t>
            </a:r>
            <a:r>
              <a:rPr lang="en-IN" sz="2000" dirty="0" smtClean="0"/>
              <a:t>.</a:t>
            </a:r>
            <a:endParaRPr sz="2000" dirty="0" smtClean="0"/>
          </a:p>
          <a:p>
            <a:pPr marL="0" indent="0">
              <a:spcAft>
                <a:spcPts val="800"/>
              </a:spcAft>
              <a:buNone/>
              <a:defRPr sz="1600">
                <a:solidFill>
                  <a:srgbClr val="333333"/>
                </a:solidFill>
              </a:defRPr>
            </a:pPr>
            <a:r>
              <a:rPr sz="2000" dirty="0" smtClean="0"/>
              <a:t>2. Design and develop a low-cost (&lt;Rs.2500) variable-rate spraying system using ESP32-CAM and Arduino Nano for precise agrochemical application</a:t>
            </a:r>
            <a:r>
              <a:rPr lang="en-IN" sz="2000" dirty="0" smtClean="0"/>
              <a:t>.</a:t>
            </a:r>
            <a:endParaRPr sz="2000" dirty="0" smtClean="0"/>
          </a:p>
          <a:p>
            <a:pPr marL="0" indent="0">
              <a:spcAft>
                <a:spcPts val="800"/>
              </a:spcAft>
              <a:buNone/>
              <a:defRPr sz="1600">
                <a:solidFill>
                  <a:srgbClr val="333333"/>
                </a:solidFill>
              </a:defRPr>
            </a:pPr>
            <a:r>
              <a:rPr sz="2000" dirty="0" smtClean="0"/>
              <a:t>3. Integrate </a:t>
            </a:r>
            <a:r>
              <a:rPr sz="2000" dirty="0" err="1" smtClean="0"/>
              <a:t>IoT</a:t>
            </a:r>
            <a:r>
              <a:rPr sz="2000" dirty="0" smtClean="0"/>
              <a:t>-based remote monitoring (</a:t>
            </a:r>
            <a:r>
              <a:rPr sz="2000" dirty="0" err="1" smtClean="0"/>
              <a:t>Blynk</a:t>
            </a:r>
            <a:r>
              <a:rPr sz="2000" dirty="0" smtClean="0"/>
              <a:t>) for real-time disease distribution tracking and chemical usage logging</a:t>
            </a:r>
            <a:r>
              <a:rPr lang="en-IN" sz="2000" dirty="0" smtClean="0"/>
              <a:t>.</a:t>
            </a:r>
            <a:endParaRPr sz="2000" dirty="0" smtClean="0"/>
          </a:p>
          <a:p>
            <a:pPr marL="0" indent="0">
              <a:spcAft>
                <a:spcPts val="800"/>
              </a:spcAft>
              <a:buNone/>
              <a:defRPr sz="1600">
                <a:solidFill>
                  <a:srgbClr val="333333"/>
                </a:solidFill>
              </a:defRPr>
            </a:pPr>
            <a:r>
              <a:rPr sz="2000" dirty="0" smtClean="0"/>
              <a:t>4. Evaluate system performance by comparing VRA vs CRA and quantifying chemical savings</a:t>
            </a:r>
            <a:r>
              <a:rPr lang="en-IN" sz="2000" dirty="0" smtClean="0"/>
              <a:t>.</a:t>
            </a:r>
            <a:endParaRPr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2800" b="1">
                <a:solidFill>
                  <a:srgbClr val="1B3A5C"/>
                </a:solidFill>
              </a:defRPr>
            </a:pPr>
            <a:r>
              <a:t>Scope &amp; Expected Outcomes</a:t>
            </a:r>
          </a:p>
        </p:txBody>
      </p:sp>
      <p:sp>
        <p:nvSpPr>
          <p:cNvPr id="3" name="Content Placeholder 2"/>
          <p:cNvSpPr>
            <a:spLocks noGrp="1"/>
          </p:cNvSpPr>
          <p:nvPr>
            <p:ph idx="1"/>
          </p:nvPr>
        </p:nvSpPr>
        <p:spPr/>
        <p:txBody>
          <a:bodyPr>
            <a:normAutofit lnSpcReduction="10000"/>
          </a:bodyPr>
          <a:lstStyle/>
          <a:p>
            <a:pPr marL="0" indent="0">
              <a:spcAft>
                <a:spcPts val="800"/>
              </a:spcAft>
              <a:buNone/>
              <a:defRPr sz="1600">
                <a:solidFill>
                  <a:srgbClr val="333333"/>
                </a:solidFill>
              </a:defRPr>
            </a:pPr>
            <a:r>
              <a:rPr sz="2000" b="1" dirty="0" smtClean="0"/>
              <a:t>Scope</a:t>
            </a:r>
            <a:r>
              <a:rPr sz="2000" dirty="0"/>
              <a:t>:</a:t>
            </a:r>
          </a:p>
          <a:p>
            <a:pPr>
              <a:spcAft>
                <a:spcPts val="800"/>
              </a:spcAft>
              <a:defRPr sz="1600">
                <a:solidFill>
                  <a:srgbClr val="333333"/>
                </a:solidFill>
              </a:defRPr>
            </a:pPr>
            <a:r>
              <a:rPr dirty="0"/>
              <a:t>Target crop: Paddy/Rice (Bacterial Blight, Brown Spot, Leaf Smut, Healthy</a:t>
            </a:r>
            <a:r>
              <a:rPr dirty="0" smtClean="0"/>
              <a:t>)</a:t>
            </a:r>
            <a:r>
              <a:rPr lang="en-IN" dirty="0" smtClean="0"/>
              <a:t>.</a:t>
            </a:r>
            <a:endParaRPr dirty="0"/>
          </a:p>
          <a:p>
            <a:pPr>
              <a:spcAft>
                <a:spcPts val="800"/>
              </a:spcAft>
              <a:defRPr sz="1600">
                <a:solidFill>
                  <a:srgbClr val="333333"/>
                </a:solidFill>
              </a:defRPr>
            </a:pPr>
            <a:r>
              <a:rPr dirty="0"/>
              <a:t>Single-row prototype with cloud inference (Google </a:t>
            </a:r>
            <a:r>
              <a:rPr dirty="0" err="1"/>
              <a:t>Colab</a:t>
            </a:r>
            <a:r>
              <a:rPr dirty="0"/>
              <a:t> + Flask + </a:t>
            </a:r>
            <a:r>
              <a:rPr dirty="0" err="1"/>
              <a:t>ngrok</a:t>
            </a:r>
            <a:r>
              <a:rPr dirty="0" smtClean="0"/>
              <a:t>)</a:t>
            </a:r>
            <a:r>
              <a:rPr lang="en-IN" dirty="0" smtClean="0"/>
              <a:t>.</a:t>
            </a:r>
            <a:endParaRPr dirty="0"/>
          </a:p>
          <a:p>
            <a:pPr>
              <a:spcAft>
                <a:spcPts val="800"/>
              </a:spcAft>
              <a:defRPr sz="1600">
                <a:solidFill>
                  <a:srgbClr val="333333"/>
                </a:solidFill>
              </a:defRPr>
            </a:pPr>
            <a:r>
              <a:rPr dirty="0"/>
              <a:t>4-level severity categorization with reduction </a:t>
            </a:r>
            <a:r>
              <a:rPr dirty="0" smtClean="0"/>
              <a:t>coefficient</a:t>
            </a:r>
            <a:r>
              <a:rPr lang="en-IN" dirty="0" smtClean="0"/>
              <a:t>s.</a:t>
            </a:r>
            <a:endParaRPr dirty="0"/>
          </a:p>
          <a:p>
            <a:pPr>
              <a:spcAft>
                <a:spcPts val="800"/>
              </a:spcAft>
              <a:defRPr sz="1600">
                <a:solidFill>
                  <a:srgbClr val="333333"/>
                </a:solidFill>
              </a:defRPr>
            </a:pPr>
            <a:r>
              <a:rPr dirty="0"/>
              <a:t>Budget: Under </a:t>
            </a:r>
            <a:r>
              <a:rPr dirty="0" smtClean="0"/>
              <a:t>Rs.2500</a:t>
            </a:r>
            <a:r>
              <a:rPr lang="en-IN" dirty="0" smtClean="0"/>
              <a:t>.</a:t>
            </a:r>
            <a:endParaRPr dirty="0"/>
          </a:p>
          <a:p>
            <a:pPr marL="0" indent="0">
              <a:spcAft>
                <a:spcPts val="800"/>
              </a:spcAft>
              <a:buNone/>
              <a:defRPr sz="1600">
                <a:solidFill>
                  <a:srgbClr val="333333"/>
                </a:solidFill>
              </a:defRPr>
            </a:pPr>
            <a:endParaRPr lang="en-IN" dirty="0" smtClean="0"/>
          </a:p>
          <a:p>
            <a:pPr marL="0" indent="0">
              <a:spcAft>
                <a:spcPts val="800"/>
              </a:spcAft>
              <a:buNone/>
              <a:defRPr sz="1600">
                <a:solidFill>
                  <a:srgbClr val="333333"/>
                </a:solidFill>
              </a:defRPr>
            </a:pPr>
            <a:r>
              <a:rPr sz="2000" b="1" dirty="0" smtClean="0"/>
              <a:t>Expected </a:t>
            </a:r>
            <a:r>
              <a:rPr sz="2000" b="1" dirty="0"/>
              <a:t>Outcomes:</a:t>
            </a:r>
          </a:p>
          <a:p>
            <a:pPr>
              <a:spcAft>
                <a:spcPts val="800"/>
              </a:spcAft>
              <a:defRPr sz="1600">
                <a:solidFill>
                  <a:srgbClr val="333333"/>
                </a:solidFill>
              </a:defRPr>
            </a:pPr>
            <a:r>
              <a:rPr dirty="0"/>
              <a:t>CNN accuracy: &gt;90</a:t>
            </a:r>
            <a:r>
              <a:rPr dirty="0" smtClean="0"/>
              <a:t>%</a:t>
            </a:r>
            <a:r>
              <a:rPr lang="en-IN" dirty="0" smtClean="0"/>
              <a:t> (approx.)</a:t>
            </a:r>
            <a:r>
              <a:rPr dirty="0" smtClean="0"/>
              <a:t> </a:t>
            </a:r>
            <a:r>
              <a:rPr dirty="0"/>
              <a:t>on test </a:t>
            </a:r>
            <a:r>
              <a:rPr dirty="0" smtClean="0"/>
              <a:t>set</a:t>
            </a:r>
            <a:r>
              <a:rPr lang="en-IN" dirty="0" smtClean="0"/>
              <a:t>.</a:t>
            </a:r>
            <a:endParaRPr dirty="0"/>
          </a:p>
          <a:p>
            <a:pPr>
              <a:spcAft>
                <a:spcPts val="800"/>
              </a:spcAft>
              <a:defRPr sz="1600">
                <a:solidFill>
                  <a:srgbClr val="333333"/>
                </a:solidFill>
              </a:defRPr>
            </a:pPr>
            <a:r>
              <a:rPr dirty="0"/>
              <a:t>Chemical saving: &gt;= </a:t>
            </a:r>
            <a:r>
              <a:rPr dirty="0" smtClean="0"/>
              <a:t>33% </a:t>
            </a:r>
            <a:r>
              <a:rPr lang="en-IN" dirty="0" smtClean="0"/>
              <a:t>(approx.</a:t>
            </a:r>
            <a:r>
              <a:rPr dirty="0" smtClean="0"/>
              <a:t>)</a:t>
            </a:r>
            <a:r>
              <a:rPr lang="en-IN" dirty="0" smtClean="0"/>
              <a:t>.</a:t>
            </a:r>
            <a:endParaRPr dirty="0"/>
          </a:p>
          <a:p>
            <a:pPr>
              <a:spcAft>
                <a:spcPts val="800"/>
              </a:spcAft>
              <a:defRPr sz="1600">
                <a:solidFill>
                  <a:srgbClr val="333333"/>
                </a:solidFill>
              </a:defRPr>
            </a:pPr>
            <a:r>
              <a:rPr dirty="0"/>
              <a:t>Real-time </a:t>
            </a:r>
            <a:r>
              <a:rPr dirty="0" err="1"/>
              <a:t>Blynk</a:t>
            </a:r>
            <a:r>
              <a:rPr dirty="0"/>
              <a:t> dashboard: severity gauge, usage logs, </a:t>
            </a:r>
            <a:r>
              <a:rPr dirty="0" smtClean="0"/>
              <a:t>alerts</a:t>
            </a:r>
            <a:r>
              <a:rPr lang="en-IN" dirty="0" smtClean="0"/>
              <a:t>.</a:t>
            </a:r>
            <a:endParaRPr dirty="0"/>
          </a:p>
          <a:p>
            <a:pPr>
              <a:spcAft>
                <a:spcPts val="800"/>
              </a:spcAft>
              <a:defRPr sz="1600">
                <a:solidFill>
                  <a:srgbClr val="333333"/>
                </a:solidFill>
              </a:defRPr>
            </a:pPr>
            <a:r>
              <a:rPr dirty="0"/>
              <a:t>Working hardware prototype with end-to-end </a:t>
            </a:r>
            <a:r>
              <a:rPr dirty="0" smtClean="0"/>
              <a:t>demonstration</a:t>
            </a:r>
            <a:r>
              <a:rPr lang="en-IN" dirty="0" smtClean="0"/>
              <a:t>.</a:t>
            </a:r>
            <a:endParaRPr dirty="0"/>
          </a:p>
          <a:p>
            <a:pPr>
              <a:spcAft>
                <a:spcPts val="800"/>
              </a:spcAft>
              <a:defRPr sz="1600">
                <a:solidFill>
                  <a:srgbClr val="333333"/>
                </a:solidFill>
              </a:defRPr>
            </a:pPr>
            <a:r>
              <a:rPr dirty="0"/>
              <a:t>Response time: &lt;5 </a:t>
            </a:r>
            <a:r>
              <a:rPr dirty="0" smtClean="0"/>
              <a:t>seconds</a:t>
            </a:r>
            <a:r>
              <a:rPr lang="en-IN" dirty="0" smtClean="0"/>
              <a:t> (approx</a:t>
            </a:r>
            <a:r>
              <a:rPr lang="en-IN" dirty="0"/>
              <a:t>.</a:t>
            </a:r>
            <a:r>
              <a:rPr lang="en-IN" dirty="0" smtClean="0"/>
              <a:t>)</a:t>
            </a:r>
            <a:r>
              <a:rPr dirty="0" smtClean="0"/>
              <a:t> </a:t>
            </a:r>
            <a:r>
              <a:rPr dirty="0"/>
              <a:t>per spray </a:t>
            </a:r>
            <a:r>
              <a:rPr dirty="0" smtClean="0"/>
              <a:t>cycle</a:t>
            </a:r>
            <a:r>
              <a:rPr lang="en-IN" dirty="0" smtClean="0"/>
              <a:t>.</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760"/>
          </a:xfrm>
        </p:spPr>
        <p:txBody>
          <a:bodyPr/>
          <a:lstStyle/>
          <a:p>
            <a:pPr>
              <a:defRPr sz="2600" b="1">
                <a:solidFill>
                  <a:srgbClr val="1B3A5C"/>
                </a:solidFill>
              </a:defRPr>
            </a:pPr>
            <a:r>
              <a:rPr lang="en-IN" dirty="0"/>
              <a:t>Proposed Methodology - Overview</a:t>
            </a:r>
          </a:p>
        </p:txBody>
      </p:sp>
      <p:sp>
        <p:nvSpPr>
          <p:cNvPr id="3" name="TextBox 2"/>
          <p:cNvSpPr txBox="1"/>
          <p:nvPr/>
        </p:nvSpPr>
        <p:spPr>
          <a:xfrm>
            <a:off x="457200" y="274320"/>
            <a:ext cx="184731" cy="492443"/>
          </a:xfrm>
          <a:prstGeom prst="rect">
            <a:avLst/>
          </a:prstGeom>
          <a:noFill/>
        </p:spPr>
        <p:txBody>
          <a:bodyPr wrap="none">
            <a:spAutoFit/>
          </a:bodyPr>
          <a:lstStyle/>
          <a:p>
            <a:pPr>
              <a:defRPr sz="2600" b="1">
                <a:solidFill>
                  <a:srgbClr val="1B3A5C"/>
                </a:solidFill>
              </a:defRPr>
            </a:pPr>
            <a:endParaRPr dirty="0"/>
          </a:p>
        </p:txBody>
      </p:sp>
      <p:sp>
        <p:nvSpPr>
          <p:cNvPr id="4" name="TextBox 3"/>
          <p:cNvSpPr txBox="1"/>
          <p:nvPr/>
        </p:nvSpPr>
        <p:spPr>
          <a:xfrm>
            <a:off x="329665" y="1116530"/>
            <a:ext cx="8484669" cy="4154984"/>
          </a:xfrm>
          <a:prstGeom prst="rect">
            <a:avLst/>
          </a:prstGeom>
          <a:noFill/>
        </p:spPr>
        <p:txBody>
          <a:bodyPr wrap="square">
            <a:spAutoFit/>
          </a:bodyPr>
          <a:lstStyle/>
          <a:p>
            <a:r>
              <a:rPr lang="en-US" sz="2000" b="1" dirty="0"/>
              <a:t>Operational Flow (same core methodology as base paper with CNN upgrade</a:t>
            </a:r>
            <a:r>
              <a:rPr lang="en-US" sz="2000" b="1" dirty="0" smtClean="0"/>
              <a:t>):</a:t>
            </a:r>
          </a:p>
          <a:p>
            <a:endParaRPr lang="en-US" dirty="0"/>
          </a:p>
          <a:p>
            <a:pPr marL="400050" indent="-400050" algn="just">
              <a:buFont typeface="+mj-lt"/>
              <a:buAutoNum type="romanUcPeriod"/>
            </a:pPr>
            <a:r>
              <a:rPr lang="en-US" sz="1400" dirty="0"/>
              <a:t>I</a:t>
            </a:r>
            <a:r>
              <a:rPr lang="en-US" sz="1400" dirty="0" smtClean="0"/>
              <a:t>nitially</a:t>
            </a:r>
            <a:r>
              <a:rPr lang="en-US" sz="1400" dirty="0"/>
              <a:t>, the web camera captures the paddy plant image and stores it in the laptop, where the lesion region of plant leaves is identified. </a:t>
            </a:r>
            <a:endParaRPr lang="en-US" sz="1400" dirty="0" smtClean="0"/>
          </a:p>
          <a:p>
            <a:pPr marL="400050" indent="-400050" algn="just">
              <a:buFont typeface="+mj-lt"/>
              <a:buAutoNum type="romanUcPeriod"/>
            </a:pPr>
            <a:r>
              <a:rPr lang="en-US" sz="1400" dirty="0" smtClean="0"/>
              <a:t>The </a:t>
            </a:r>
            <a:r>
              <a:rPr lang="en-US" sz="1400" dirty="0"/>
              <a:t>processed output in terms of disease severity is determined using the developed image processing </a:t>
            </a:r>
            <a:r>
              <a:rPr lang="en-US" sz="1400" dirty="0" smtClean="0"/>
              <a:t>algorithm. The </a:t>
            </a:r>
            <a:r>
              <a:rPr lang="en-US" sz="1400" dirty="0"/>
              <a:t>category of plant disease severity is decided according to threshold limits, and this information is then sent to the Arduino microcontroller. </a:t>
            </a:r>
            <a:r>
              <a:rPr lang="en-US" sz="1400" dirty="0" smtClean="0"/>
              <a:t>The </a:t>
            </a:r>
            <a:r>
              <a:rPr lang="en-US" sz="1400" dirty="0"/>
              <a:t>microcontroller assigns the reduction coefficient of the recommended application rate according to the category of disease severity. </a:t>
            </a:r>
            <a:endParaRPr lang="en-US" sz="1400" dirty="0" smtClean="0"/>
          </a:p>
          <a:p>
            <a:pPr marL="400050" indent="-400050" algn="just">
              <a:buFont typeface="+mj-lt"/>
              <a:buAutoNum type="romanUcPeriod"/>
            </a:pPr>
            <a:r>
              <a:rPr lang="en-US" sz="1400" dirty="0" smtClean="0"/>
              <a:t>Further</a:t>
            </a:r>
            <a:r>
              <a:rPr lang="en-US" sz="1400" dirty="0"/>
              <a:t>, it computes the required amount of chemical to be sprayed and the opening time duration for each solenoid valve to supply that amount using </a:t>
            </a:r>
            <a:r>
              <a:rPr lang="en-US" sz="1400" dirty="0" err="1"/>
              <a:t>Eqs</a:t>
            </a:r>
            <a:r>
              <a:rPr lang="en-US" sz="1400" dirty="0"/>
              <a:t>. </a:t>
            </a:r>
            <a:r>
              <a:rPr lang="en-US" sz="1400" dirty="0" smtClean="0"/>
              <a:t>(1) </a:t>
            </a:r>
            <a:r>
              <a:rPr lang="en-US" sz="1400" dirty="0"/>
              <a:t>and </a:t>
            </a:r>
            <a:r>
              <a:rPr lang="en-US" sz="1400" dirty="0" smtClean="0"/>
              <a:t>(2). </a:t>
            </a:r>
          </a:p>
          <a:p>
            <a:pPr marL="400050" indent="-400050" algn="just">
              <a:buFont typeface="+mj-lt"/>
              <a:buAutoNum type="romanUcPeriod"/>
            </a:pPr>
            <a:r>
              <a:rPr lang="en-US" sz="1400" dirty="0" smtClean="0"/>
              <a:t>After </a:t>
            </a:r>
            <a:r>
              <a:rPr lang="en-US" sz="1400" dirty="0"/>
              <a:t>this, the microcontroller then sends a 5 VDC signal to the respective relay switch, which further actuates the associated 12 VDC solenoid valve, and the required amount of input chemical is sprayed on the diseased paddy plants</a:t>
            </a:r>
            <a:r>
              <a:rPr lang="en-US" sz="1400" dirty="0" smtClean="0"/>
              <a:t>.</a:t>
            </a:r>
          </a:p>
          <a:p>
            <a:pPr algn="just"/>
            <a:endParaRPr lang="en-US" sz="1600" dirty="0"/>
          </a:p>
          <a:p>
            <a:r>
              <a:rPr lang="en-US" sz="2000" b="1" dirty="0"/>
              <a:t>Our Modification:</a:t>
            </a:r>
            <a:r>
              <a:rPr lang="en-US" sz="2000" dirty="0"/>
              <a:t> </a:t>
            </a:r>
            <a:endParaRPr lang="en-US" sz="2000" dirty="0" smtClean="0"/>
          </a:p>
          <a:p>
            <a:endParaRPr lang="en-US" sz="2000" dirty="0" smtClean="0"/>
          </a:p>
          <a:p>
            <a:r>
              <a:rPr lang="en-US" sz="1600" dirty="0" smtClean="0"/>
              <a:t>Replace </a:t>
            </a:r>
            <a:r>
              <a:rPr lang="en-US" sz="1600" dirty="0" err="1"/>
              <a:t>webcam+laptop+CA</a:t>
            </a:r>
            <a:r>
              <a:rPr lang="en-US" sz="1600" dirty="0"/>
              <a:t> </a:t>
            </a:r>
            <a:r>
              <a:rPr lang="en-US" sz="1600" dirty="0" err="1"/>
              <a:t>thresholding</a:t>
            </a:r>
            <a:r>
              <a:rPr lang="en-US" sz="1600" dirty="0"/>
              <a:t> → ESP32-CAM + Cloud CNN (MobileNetV2) + </a:t>
            </a:r>
            <a:r>
              <a:rPr lang="en-US" sz="1600" dirty="0" err="1"/>
              <a:t>Blynk</a:t>
            </a:r>
            <a:r>
              <a:rPr lang="en-US" sz="1600" dirty="0"/>
              <a:t> </a:t>
            </a:r>
            <a:r>
              <a:rPr lang="en-US" sz="1600" dirty="0" err="1"/>
              <a:t>IoT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6389"/>
          </a:xfrm>
        </p:spPr>
        <p:txBody>
          <a:bodyPr/>
          <a:lstStyle/>
          <a:p>
            <a:pPr>
              <a:defRPr sz="2800" b="1">
                <a:solidFill>
                  <a:srgbClr val="1B3A5C"/>
                </a:solidFill>
              </a:defRPr>
            </a:pPr>
            <a:r>
              <a:rPr lang="en-IN" dirty="0" smtClean="0"/>
              <a:t>Proposed </a:t>
            </a:r>
            <a:r>
              <a:rPr dirty="0" smtClean="0"/>
              <a:t>Methodology</a:t>
            </a:r>
            <a:r>
              <a:rPr dirty="0"/>
              <a:t>: CNN Model Pipeline</a:t>
            </a:r>
          </a:p>
        </p:txBody>
      </p:sp>
      <p:sp>
        <p:nvSpPr>
          <p:cNvPr id="3" name="Content Placeholder 2"/>
          <p:cNvSpPr>
            <a:spLocks noGrp="1"/>
          </p:cNvSpPr>
          <p:nvPr>
            <p:ph idx="1"/>
          </p:nvPr>
        </p:nvSpPr>
        <p:spPr>
          <a:xfrm>
            <a:off x="457200" y="1251284"/>
            <a:ext cx="8229600" cy="4874879"/>
          </a:xfrm>
        </p:spPr>
        <p:txBody>
          <a:bodyPr>
            <a:normAutofit fontScale="62500" lnSpcReduction="20000"/>
          </a:bodyPr>
          <a:lstStyle/>
          <a:p>
            <a:pPr marL="0" indent="0">
              <a:buNone/>
            </a:pPr>
            <a:r>
              <a:rPr lang="en-IN" sz="3600" b="1" dirty="0"/>
              <a:t>Model: MobileNetV2 (Transfer Learning </a:t>
            </a:r>
            <a:r>
              <a:rPr lang="en-IN" b="1" dirty="0"/>
              <a:t>from</a:t>
            </a:r>
            <a:r>
              <a:rPr lang="en-IN" sz="3600" b="1" dirty="0"/>
              <a:t> ImageNet</a:t>
            </a:r>
            <a:r>
              <a:rPr lang="en-IN" sz="3600" b="1" dirty="0" smtClean="0"/>
              <a:t>):</a:t>
            </a:r>
          </a:p>
          <a:p>
            <a:pPr marL="0" indent="0">
              <a:buNone/>
            </a:pPr>
            <a:endParaRPr lang="en-IN" sz="3600" dirty="0"/>
          </a:p>
          <a:p>
            <a:r>
              <a:rPr lang="en-IN" sz="2600" b="1" dirty="0"/>
              <a:t>Input:</a:t>
            </a:r>
            <a:r>
              <a:rPr lang="en-IN" sz="2600" dirty="0"/>
              <a:t> 224×224 RGB paddy leaf image</a:t>
            </a:r>
          </a:p>
          <a:p>
            <a:r>
              <a:rPr lang="en-IN" sz="2600" b="1" dirty="0"/>
              <a:t>Architecture:</a:t>
            </a:r>
            <a:r>
              <a:rPr lang="en-IN" sz="2600" dirty="0"/>
              <a:t> Inverted residual blocks, </a:t>
            </a:r>
            <a:r>
              <a:rPr lang="en-IN" sz="2600" dirty="0" err="1"/>
              <a:t>depthwise</a:t>
            </a:r>
            <a:r>
              <a:rPr lang="en-IN" sz="2600" dirty="0"/>
              <a:t> separable convolutions</a:t>
            </a:r>
          </a:p>
          <a:p>
            <a:r>
              <a:rPr lang="en-IN" sz="2600" b="1" dirty="0"/>
              <a:t>Training:</a:t>
            </a:r>
            <a:r>
              <a:rPr lang="en-IN" sz="2600" dirty="0"/>
              <a:t> Google </a:t>
            </a:r>
            <a:r>
              <a:rPr lang="en-IN" sz="2600" dirty="0" err="1"/>
              <a:t>Colab</a:t>
            </a:r>
            <a:r>
              <a:rPr lang="en-IN" sz="2600" dirty="0"/>
              <a:t> GPU, ~20 epochs, Adam optimizer</a:t>
            </a:r>
          </a:p>
          <a:p>
            <a:r>
              <a:rPr lang="en-IN" sz="2600" b="1" dirty="0"/>
              <a:t>Dataset:</a:t>
            </a:r>
            <a:r>
              <a:rPr lang="en-IN" sz="2600" dirty="0"/>
              <a:t> Rice Leaf Disease (</a:t>
            </a:r>
            <a:r>
              <a:rPr lang="en-IN" sz="2600" dirty="0" err="1"/>
              <a:t>Kaggle</a:t>
            </a:r>
            <a:r>
              <a:rPr lang="en-IN" sz="2600" dirty="0"/>
              <a:t>) — 4 classes</a:t>
            </a:r>
          </a:p>
          <a:p>
            <a:r>
              <a:rPr lang="en-IN" sz="2600" b="1" dirty="0"/>
              <a:t>Data Augmentation: </a:t>
            </a:r>
            <a:r>
              <a:rPr lang="en-IN" sz="2600" dirty="0"/>
              <a:t>Random rotation, horizontal flip, brightness/contrast variation</a:t>
            </a:r>
          </a:p>
          <a:p>
            <a:r>
              <a:rPr lang="en-IN" sz="2600" b="1" dirty="0"/>
              <a:t>Output:</a:t>
            </a:r>
            <a:r>
              <a:rPr lang="en-IN" sz="2600" dirty="0"/>
              <a:t> </a:t>
            </a:r>
            <a:r>
              <a:rPr lang="en-IN" sz="2600" dirty="0" err="1"/>
              <a:t>Softmax</a:t>
            </a:r>
            <a:r>
              <a:rPr lang="en-IN" sz="2600" dirty="0"/>
              <a:t> probabilities across 4 classes → Severity mapping</a:t>
            </a:r>
          </a:p>
          <a:p>
            <a:pPr marL="0" indent="0">
              <a:buNone/>
            </a:pPr>
            <a:endParaRPr lang="en-IN" b="1" dirty="0"/>
          </a:p>
          <a:p>
            <a:pPr marL="0" indent="0">
              <a:buNone/>
            </a:pPr>
            <a:r>
              <a:rPr lang="en-IN" b="1" dirty="0" smtClean="0"/>
              <a:t>MobileNetV2 </a:t>
            </a:r>
            <a:r>
              <a:rPr lang="en-IN" b="1" dirty="0"/>
              <a:t>over </a:t>
            </a:r>
            <a:r>
              <a:rPr lang="en-IN" b="1" dirty="0" err="1" smtClean="0"/>
              <a:t>AlexNet</a:t>
            </a:r>
            <a:r>
              <a:rPr lang="en-IN" b="1" dirty="0" smtClean="0"/>
              <a:t>/</a:t>
            </a:r>
            <a:r>
              <a:rPr lang="en-IN" b="1" dirty="0" err="1" smtClean="0"/>
              <a:t>GoogLeNet</a:t>
            </a:r>
            <a:r>
              <a:rPr lang="en-IN" b="1" dirty="0"/>
              <a:t>:</a:t>
            </a:r>
            <a:endParaRPr lang="en-IN" b="1" dirty="0" smtClean="0"/>
          </a:p>
          <a:p>
            <a:endParaRPr lang="en-IN" dirty="0"/>
          </a:p>
          <a:p>
            <a:r>
              <a:rPr lang="en-IN" sz="2600" dirty="0"/>
              <a:t>Among the </a:t>
            </a:r>
            <a:r>
              <a:rPr lang="en-IN" sz="2600" dirty="0" err="1"/>
              <a:t>AlexNet</a:t>
            </a:r>
            <a:r>
              <a:rPr lang="en-IN" sz="2600" dirty="0"/>
              <a:t> and </a:t>
            </a:r>
            <a:r>
              <a:rPr lang="en-IN" sz="2600" dirty="0" err="1"/>
              <a:t>GoogLeNet</a:t>
            </a:r>
            <a:r>
              <a:rPr lang="en-IN" sz="2600" dirty="0"/>
              <a:t> architectures, </a:t>
            </a:r>
            <a:r>
              <a:rPr lang="en-IN" sz="2600" dirty="0" err="1"/>
              <a:t>GoogLeNet</a:t>
            </a:r>
            <a:r>
              <a:rPr lang="en-IN" sz="2600" dirty="0"/>
              <a:t> consistently performs better than </a:t>
            </a:r>
            <a:r>
              <a:rPr lang="en-IN" sz="2600" dirty="0" err="1"/>
              <a:t>AlexNet</a:t>
            </a:r>
            <a:r>
              <a:rPr lang="en-IN" sz="2600" dirty="0"/>
              <a:t>, and based on the method of training, transfer learning always yields better results, both of which </a:t>
            </a:r>
            <a:r>
              <a:rPr lang="en-IN" sz="2600" dirty="0" smtClean="0"/>
              <a:t>are </a:t>
            </a:r>
            <a:r>
              <a:rPr lang="en-IN" sz="2600" dirty="0"/>
              <a:t>expected.</a:t>
            </a:r>
          </a:p>
          <a:p>
            <a:r>
              <a:rPr lang="en-IN" sz="2600" dirty="0"/>
              <a:t>MobileNetV2 is even more lightweight (3.4M </a:t>
            </a:r>
            <a:r>
              <a:rPr lang="en-IN" sz="2600" dirty="0" err="1"/>
              <a:t>params</a:t>
            </a:r>
            <a:r>
              <a:rPr lang="en-IN" sz="2600" dirty="0"/>
              <a:t> vs 5M for </a:t>
            </a:r>
            <a:r>
              <a:rPr lang="en-IN" sz="2600" dirty="0" err="1"/>
              <a:t>GoogLeNet</a:t>
            </a:r>
            <a:r>
              <a:rPr lang="en-IN" sz="2600" dirty="0"/>
              <a:t> vs 60M for </a:t>
            </a:r>
            <a:r>
              <a:rPr lang="en-IN" sz="2600" dirty="0" err="1"/>
              <a:t>AlexNet</a:t>
            </a:r>
            <a:r>
              <a:rPr lang="en-IN" sz="2600" dirty="0"/>
              <a:t>)</a:t>
            </a:r>
          </a:p>
          <a:p>
            <a:r>
              <a:rPr lang="en-IN" sz="2600" dirty="0"/>
              <a:t>Optimized for mobile/edge inference — faster API response</a:t>
            </a:r>
          </a:p>
          <a:p>
            <a:r>
              <a:rPr lang="en-IN" sz="2600" dirty="0"/>
              <a:t>Transfer learning from ImageNet proven to work for plant diseases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68638"/>
          </a:xfrm>
        </p:spPr>
        <p:txBody>
          <a:bodyPr/>
          <a:lstStyle/>
          <a:p>
            <a:pPr>
              <a:defRPr sz="2600" b="1">
                <a:solidFill>
                  <a:srgbClr val="1B3A5C"/>
                </a:solidFill>
              </a:defRPr>
            </a:pPr>
            <a:r>
              <a:rPr lang="en-IN" dirty="0" smtClean="0"/>
              <a:t>Proposed Methodology</a:t>
            </a:r>
            <a:r>
              <a:rPr lang="en-IN" dirty="0"/>
              <a:t>: Spray Decision Algorithm</a:t>
            </a:r>
          </a:p>
        </p:txBody>
      </p:sp>
      <p:sp>
        <p:nvSpPr>
          <p:cNvPr id="7" name="Content Placeholder 6"/>
          <p:cNvSpPr>
            <a:spLocks noGrp="1"/>
          </p:cNvSpPr>
          <p:nvPr>
            <p:ph idx="1"/>
          </p:nvPr>
        </p:nvSpPr>
        <p:spPr>
          <a:xfrm>
            <a:off x="185285" y="1174282"/>
            <a:ext cx="8501515" cy="4971132"/>
          </a:xfrm>
        </p:spPr>
        <p:txBody>
          <a:bodyPr>
            <a:normAutofit/>
          </a:bodyPr>
          <a:lstStyle/>
          <a:p>
            <a:pPr marL="0" indent="0">
              <a:buNone/>
            </a:pPr>
            <a:r>
              <a:rPr lang="en-US" sz="2000" b="1" dirty="0"/>
              <a:t>Our 4-Level Severity (improved from base paper's 3 levels):</a:t>
            </a:r>
            <a:endParaRPr lang="en-IN" sz="2000" b="1" dirty="0"/>
          </a:p>
        </p:txBody>
      </p:sp>
      <p:graphicFrame>
        <p:nvGraphicFramePr>
          <p:cNvPr id="4" name="Table 3"/>
          <p:cNvGraphicFramePr>
            <a:graphicFrameLocks noGrp="1"/>
          </p:cNvGraphicFramePr>
          <p:nvPr>
            <p:extLst>
              <p:ext uri="{D42A27DB-BD31-4B8C-83A1-F6EECF244321}">
                <p14:modId xmlns:p14="http://schemas.microsoft.com/office/powerpoint/2010/main" val="2209033601"/>
              </p:ext>
            </p:extLst>
          </p:nvPr>
        </p:nvGraphicFramePr>
        <p:xfrm>
          <a:off x="457200" y="1684179"/>
          <a:ext cx="7762775" cy="1889760"/>
        </p:xfrm>
        <a:graphic>
          <a:graphicData uri="http://schemas.openxmlformats.org/drawingml/2006/table">
            <a:tbl>
              <a:tblPr firstRow="1" bandRow="1">
                <a:tableStyleId>{5C22544A-7EE6-4342-B048-85BDC9FD1C3A}</a:tableStyleId>
              </a:tblPr>
              <a:tblGrid>
                <a:gridCol w="1651654">
                  <a:extLst>
                    <a:ext uri="{9D8B030D-6E8A-4147-A177-3AD203B41FA5}">
                      <a16:colId xmlns:a16="http://schemas.microsoft.com/office/drawing/2014/main" val="20000"/>
                    </a:ext>
                  </a:extLst>
                </a:gridCol>
                <a:gridCol w="2064568">
                  <a:extLst>
                    <a:ext uri="{9D8B030D-6E8A-4147-A177-3AD203B41FA5}">
                      <a16:colId xmlns:a16="http://schemas.microsoft.com/office/drawing/2014/main" val="20001"/>
                    </a:ext>
                  </a:extLst>
                </a:gridCol>
                <a:gridCol w="1724459">
                  <a:extLst>
                    <a:ext uri="{9D8B030D-6E8A-4147-A177-3AD203B41FA5}">
                      <a16:colId xmlns:a16="http://schemas.microsoft.com/office/drawing/2014/main" val="20002"/>
                    </a:ext>
                  </a:extLst>
                </a:gridCol>
                <a:gridCol w="2322094">
                  <a:extLst>
                    <a:ext uri="{9D8B030D-6E8A-4147-A177-3AD203B41FA5}">
                      <a16:colId xmlns:a16="http://schemas.microsoft.com/office/drawing/2014/main" val="20003"/>
                    </a:ext>
                  </a:extLst>
                </a:gridCol>
              </a:tblGrid>
              <a:tr h="365760">
                <a:tc>
                  <a:txBody>
                    <a:bodyPr/>
                    <a:lstStyle/>
                    <a:p>
                      <a:pPr algn="ctr">
                        <a:defRPr sz="1200" b="1">
                          <a:solidFill>
                            <a:srgbClr val="FFFFFF"/>
                          </a:solidFill>
                        </a:defRPr>
                      </a:pPr>
                      <a:r>
                        <a:rPr dirty="0"/>
                        <a:t>Category</a:t>
                      </a:r>
                    </a:p>
                  </a:txBody>
                  <a:tcPr anchor="ctr">
                    <a:solidFill>
                      <a:srgbClr val="1B3A5C"/>
                    </a:solidFill>
                  </a:tcPr>
                </a:tc>
                <a:tc>
                  <a:txBody>
                    <a:bodyPr/>
                    <a:lstStyle/>
                    <a:p>
                      <a:pPr algn="ctr">
                        <a:defRPr sz="1200" b="1">
                          <a:solidFill>
                            <a:srgbClr val="FFFFFF"/>
                          </a:solidFill>
                        </a:defRPr>
                      </a:pPr>
                      <a:r>
                        <a:rPr dirty="0"/>
                        <a:t>Disease Severity (S)</a:t>
                      </a:r>
                    </a:p>
                  </a:txBody>
                  <a:tcPr anchor="ctr">
                    <a:solidFill>
                      <a:srgbClr val="1B3A5C"/>
                    </a:solidFill>
                  </a:tcPr>
                </a:tc>
                <a:tc>
                  <a:txBody>
                    <a:bodyPr/>
                    <a:lstStyle/>
                    <a:p>
                      <a:pPr algn="ctr">
                        <a:defRPr sz="1200" b="1">
                          <a:solidFill>
                            <a:srgbClr val="FFFFFF"/>
                          </a:solidFill>
                        </a:defRPr>
                      </a:pPr>
                      <a:r>
                        <a:t>Reduction Coeff. (C)</a:t>
                      </a:r>
                    </a:p>
                  </a:txBody>
                  <a:tcPr anchor="ctr">
                    <a:solidFill>
                      <a:srgbClr val="1B3A5C"/>
                    </a:solidFill>
                  </a:tcPr>
                </a:tc>
                <a:tc>
                  <a:txBody>
                    <a:bodyPr/>
                    <a:lstStyle/>
                    <a:p>
                      <a:pPr algn="ctr">
                        <a:defRPr sz="1200" b="1">
                          <a:solidFill>
                            <a:srgbClr val="FFFFFF"/>
                          </a:solidFill>
                        </a:defRPr>
                      </a:pPr>
                      <a:r>
                        <a:t>Spray Action</a:t>
                      </a:r>
                    </a:p>
                  </a:txBody>
                  <a:tcPr anchor="ctr">
                    <a:solidFill>
                      <a:srgbClr val="1B3A5C"/>
                    </a:solidFill>
                  </a:tcPr>
                </a:tc>
                <a:extLst>
                  <a:ext uri="{0D108BD9-81ED-4DB2-BD59-A6C34878D82A}">
                    <a16:rowId xmlns:a16="http://schemas.microsoft.com/office/drawing/2014/main" val="10000"/>
                  </a:ext>
                </a:extLst>
              </a:tr>
              <a:tr h="365760">
                <a:tc>
                  <a:txBody>
                    <a:bodyPr/>
                    <a:lstStyle/>
                    <a:p>
                      <a:pPr algn="ctr">
                        <a:defRPr sz="1100">
                          <a:solidFill>
                            <a:srgbClr val="333333"/>
                          </a:solidFill>
                        </a:defRPr>
                      </a:pPr>
                      <a:r>
                        <a:rPr dirty="0"/>
                        <a:t>Healthy (Novel)</a:t>
                      </a:r>
                    </a:p>
                  </a:txBody>
                  <a:tcPr anchor="ctr">
                    <a:solidFill>
                      <a:srgbClr val="F2F2F2"/>
                    </a:solidFill>
                  </a:tcPr>
                </a:tc>
                <a:tc>
                  <a:txBody>
                    <a:bodyPr/>
                    <a:lstStyle/>
                    <a:p>
                      <a:pPr algn="ctr">
                        <a:defRPr sz="1100">
                          <a:solidFill>
                            <a:srgbClr val="333333"/>
                          </a:solidFill>
                        </a:defRPr>
                      </a:pPr>
                      <a:r>
                        <a:rPr dirty="0"/>
                        <a:t>0% (CNN: healthy class)</a:t>
                      </a:r>
                    </a:p>
                  </a:txBody>
                  <a:tcPr anchor="ctr">
                    <a:solidFill>
                      <a:srgbClr val="F2F2F2"/>
                    </a:solidFill>
                  </a:tcPr>
                </a:tc>
                <a:tc>
                  <a:txBody>
                    <a:bodyPr/>
                    <a:lstStyle/>
                    <a:p>
                      <a:pPr algn="ctr">
                        <a:defRPr sz="1100">
                          <a:solidFill>
                            <a:srgbClr val="333333"/>
                          </a:solidFill>
                        </a:defRPr>
                      </a:pPr>
                      <a:r>
                        <a:t>0.00</a:t>
                      </a:r>
                    </a:p>
                  </a:txBody>
                  <a:tcPr anchor="ctr">
                    <a:solidFill>
                      <a:srgbClr val="F2F2F2"/>
                    </a:solidFill>
                  </a:tcPr>
                </a:tc>
                <a:tc>
                  <a:txBody>
                    <a:bodyPr/>
                    <a:lstStyle/>
                    <a:p>
                      <a:pPr>
                        <a:defRPr sz="1100">
                          <a:solidFill>
                            <a:srgbClr val="333333"/>
                          </a:solidFill>
                        </a:defRPr>
                      </a:pPr>
                      <a:r>
                        <a:rPr dirty="0"/>
                        <a:t>NO SPRAY</a:t>
                      </a:r>
                    </a:p>
                  </a:txBody>
                  <a:tcPr anchor="ctr">
                    <a:solidFill>
                      <a:srgbClr val="F2F2F2"/>
                    </a:solidFill>
                  </a:tcPr>
                </a:tc>
                <a:extLst>
                  <a:ext uri="{0D108BD9-81ED-4DB2-BD59-A6C34878D82A}">
                    <a16:rowId xmlns:a16="http://schemas.microsoft.com/office/drawing/2014/main" val="10001"/>
                  </a:ext>
                </a:extLst>
              </a:tr>
              <a:tr h="365760">
                <a:tc>
                  <a:txBody>
                    <a:bodyPr/>
                    <a:lstStyle/>
                    <a:p>
                      <a:pPr algn="ctr">
                        <a:defRPr sz="1100">
                          <a:solidFill>
                            <a:srgbClr val="333333"/>
                          </a:solidFill>
                        </a:defRPr>
                      </a:pPr>
                      <a:r>
                        <a:t>Low (I)</a:t>
                      </a:r>
                    </a:p>
                  </a:txBody>
                  <a:tcPr anchor="ctr">
                    <a:solidFill>
                      <a:srgbClr val="FFFFFF"/>
                    </a:solidFill>
                  </a:tcPr>
                </a:tc>
                <a:tc>
                  <a:txBody>
                    <a:bodyPr/>
                    <a:lstStyle/>
                    <a:p>
                      <a:pPr algn="ctr">
                        <a:defRPr sz="1100">
                          <a:solidFill>
                            <a:srgbClr val="333333"/>
                          </a:solidFill>
                        </a:defRPr>
                      </a:pPr>
                      <a:r>
                        <a:rPr dirty="0" smtClean="0"/>
                        <a:t>0 </a:t>
                      </a:r>
                      <a:r>
                        <a:rPr dirty="0"/>
                        <a:t>- 5%</a:t>
                      </a:r>
                    </a:p>
                  </a:txBody>
                  <a:tcPr anchor="ctr">
                    <a:solidFill>
                      <a:srgbClr val="FFFFFF"/>
                    </a:solidFill>
                  </a:tcPr>
                </a:tc>
                <a:tc>
                  <a:txBody>
                    <a:bodyPr/>
                    <a:lstStyle/>
                    <a:p>
                      <a:pPr algn="ctr">
                        <a:defRPr sz="1100">
                          <a:solidFill>
                            <a:srgbClr val="333333"/>
                          </a:solidFill>
                        </a:defRPr>
                      </a:pPr>
                      <a:r>
                        <a:rPr dirty="0"/>
                        <a:t>0.33</a:t>
                      </a:r>
                    </a:p>
                  </a:txBody>
                  <a:tcPr anchor="ctr">
                    <a:solidFill>
                      <a:srgbClr val="FFFFFF"/>
                    </a:solidFill>
                  </a:tcPr>
                </a:tc>
                <a:tc>
                  <a:txBody>
                    <a:bodyPr/>
                    <a:lstStyle/>
                    <a:p>
                      <a:pPr>
                        <a:defRPr sz="1100">
                          <a:solidFill>
                            <a:srgbClr val="333333"/>
                          </a:solidFill>
                        </a:defRPr>
                      </a:pPr>
                      <a:r>
                        <a:rPr dirty="0"/>
                        <a:t>Light spray (33% of recommended)</a:t>
                      </a:r>
                    </a:p>
                  </a:txBody>
                  <a:tcPr anchor="ctr">
                    <a:solidFill>
                      <a:srgbClr val="FFFFFF"/>
                    </a:solidFill>
                  </a:tcPr>
                </a:tc>
                <a:extLst>
                  <a:ext uri="{0D108BD9-81ED-4DB2-BD59-A6C34878D82A}">
                    <a16:rowId xmlns:a16="http://schemas.microsoft.com/office/drawing/2014/main" val="10002"/>
                  </a:ext>
                </a:extLst>
              </a:tr>
              <a:tr h="365760">
                <a:tc>
                  <a:txBody>
                    <a:bodyPr/>
                    <a:lstStyle/>
                    <a:p>
                      <a:pPr algn="ctr">
                        <a:defRPr sz="1100">
                          <a:solidFill>
                            <a:srgbClr val="333333"/>
                          </a:solidFill>
                        </a:defRPr>
                      </a:pPr>
                      <a:r>
                        <a:t>Medium (II)</a:t>
                      </a:r>
                    </a:p>
                  </a:txBody>
                  <a:tcPr anchor="ctr">
                    <a:solidFill>
                      <a:srgbClr val="F2F2F2"/>
                    </a:solidFill>
                  </a:tcPr>
                </a:tc>
                <a:tc>
                  <a:txBody>
                    <a:bodyPr/>
                    <a:lstStyle/>
                    <a:p>
                      <a:pPr algn="ctr">
                        <a:defRPr sz="1100">
                          <a:solidFill>
                            <a:srgbClr val="333333"/>
                          </a:solidFill>
                        </a:defRPr>
                      </a:pPr>
                      <a:r>
                        <a:rPr dirty="0" smtClean="0"/>
                        <a:t>5 </a:t>
                      </a:r>
                      <a:r>
                        <a:rPr dirty="0"/>
                        <a:t>- 20%</a:t>
                      </a:r>
                    </a:p>
                  </a:txBody>
                  <a:tcPr anchor="ctr">
                    <a:solidFill>
                      <a:srgbClr val="F2F2F2"/>
                    </a:solidFill>
                  </a:tcPr>
                </a:tc>
                <a:tc>
                  <a:txBody>
                    <a:bodyPr/>
                    <a:lstStyle/>
                    <a:p>
                      <a:pPr algn="ctr">
                        <a:defRPr sz="1100">
                          <a:solidFill>
                            <a:srgbClr val="333333"/>
                          </a:solidFill>
                        </a:defRPr>
                      </a:pPr>
                      <a:r>
                        <a:t>0.67</a:t>
                      </a:r>
                    </a:p>
                  </a:txBody>
                  <a:tcPr anchor="ctr">
                    <a:solidFill>
                      <a:srgbClr val="F2F2F2"/>
                    </a:solidFill>
                  </a:tcPr>
                </a:tc>
                <a:tc>
                  <a:txBody>
                    <a:bodyPr/>
                    <a:lstStyle/>
                    <a:p>
                      <a:pPr>
                        <a:defRPr sz="1100">
                          <a:solidFill>
                            <a:srgbClr val="333333"/>
                          </a:solidFill>
                        </a:defRPr>
                      </a:pPr>
                      <a:r>
                        <a:rPr dirty="0"/>
                        <a:t>Medium spray (67% of recommended)</a:t>
                      </a:r>
                    </a:p>
                  </a:txBody>
                  <a:tcPr anchor="ctr">
                    <a:solidFill>
                      <a:srgbClr val="F2F2F2"/>
                    </a:solidFill>
                  </a:tcPr>
                </a:tc>
                <a:extLst>
                  <a:ext uri="{0D108BD9-81ED-4DB2-BD59-A6C34878D82A}">
                    <a16:rowId xmlns:a16="http://schemas.microsoft.com/office/drawing/2014/main" val="10003"/>
                  </a:ext>
                </a:extLst>
              </a:tr>
              <a:tr h="365760">
                <a:tc>
                  <a:txBody>
                    <a:bodyPr/>
                    <a:lstStyle/>
                    <a:p>
                      <a:pPr algn="ctr">
                        <a:defRPr sz="1100">
                          <a:solidFill>
                            <a:srgbClr val="333333"/>
                          </a:solidFill>
                        </a:defRPr>
                      </a:pPr>
                      <a:r>
                        <a:rPr dirty="0"/>
                        <a:t>High (III)</a:t>
                      </a:r>
                    </a:p>
                  </a:txBody>
                  <a:tcPr anchor="ctr">
                    <a:solidFill>
                      <a:srgbClr val="FFFFFF"/>
                    </a:solidFill>
                  </a:tcPr>
                </a:tc>
                <a:tc>
                  <a:txBody>
                    <a:bodyPr/>
                    <a:lstStyle/>
                    <a:p>
                      <a:pPr algn="ctr">
                        <a:defRPr sz="1100">
                          <a:solidFill>
                            <a:srgbClr val="333333"/>
                          </a:solidFill>
                        </a:defRPr>
                      </a:pPr>
                      <a:r>
                        <a:rPr dirty="0" smtClean="0"/>
                        <a:t>20</a:t>
                      </a:r>
                      <a:r>
                        <a:rPr lang="en-IN" baseline="0" dirty="0" smtClean="0"/>
                        <a:t> </a:t>
                      </a:r>
                      <a:r>
                        <a:rPr dirty="0" smtClean="0"/>
                        <a:t> </a:t>
                      </a:r>
                      <a:r>
                        <a:rPr dirty="0"/>
                        <a:t>- 100%</a:t>
                      </a:r>
                    </a:p>
                  </a:txBody>
                  <a:tcPr anchor="ctr">
                    <a:solidFill>
                      <a:srgbClr val="FFFFFF"/>
                    </a:solidFill>
                  </a:tcPr>
                </a:tc>
                <a:tc>
                  <a:txBody>
                    <a:bodyPr/>
                    <a:lstStyle/>
                    <a:p>
                      <a:pPr algn="ctr">
                        <a:defRPr sz="1100">
                          <a:solidFill>
                            <a:srgbClr val="333333"/>
                          </a:solidFill>
                        </a:defRPr>
                      </a:pPr>
                      <a:r>
                        <a:rPr dirty="0"/>
                        <a:t>1.00</a:t>
                      </a:r>
                    </a:p>
                  </a:txBody>
                  <a:tcPr anchor="ctr">
                    <a:solidFill>
                      <a:srgbClr val="FFFFFF"/>
                    </a:solidFill>
                  </a:tcPr>
                </a:tc>
                <a:tc>
                  <a:txBody>
                    <a:bodyPr/>
                    <a:lstStyle/>
                    <a:p>
                      <a:pPr>
                        <a:defRPr sz="1100">
                          <a:solidFill>
                            <a:srgbClr val="333333"/>
                          </a:solidFill>
                        </a:defRPr>
                      </a:pPr>
                      <a:r>
                        <a:rPr dirty="0"/>
                        <a:t>Full spray (100% of recommended)</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321242" y="3710404"/>
            <a:ext cx="8501515" cy="2739211"/>
          </a:xfrm>
          <a:prstGeom prst="rect">
            <a:avLst/>
          </a:prstGeom>
          <a:noFill/>
        </p:spPr>
        <p:txBody>
          <a:bodyPr wrap="square">
            <a:spAutoFit/>
          </a:bodyPr>
          <a:lstStyle/>
          <a:p>
            <a:pPr>
              <a:defRPr sz="1400" b="1">
                <a:solidFill>
                  <a:srgbClr val="1B3A5C"/>
                </a:solidFill>
              </a:defRPr>
            </a:pPr>
            <a:r>
              <a:rPr sz="2000" dirty="0" smtClean="0">
                <a:solidFill>
                  <a:schemeClr val="tx1">
                    <a:lumMod val="95000"/>
                    <a:lumOff val="5000"/>
                  </a:schemeClr>
                </a:solidFill>
              </a:rPr>
              <a:t>Equations (from base paper):</a:t>
            </a:r>
          </a:p>
          <a:p>
            <a:pPr>
              <a:defRPr sz="1200">
                <a:solidFill>
                  <a:srgbClr val="333333"/>
                </a:solidFill>
              </a:defRPr>
            </a:pPr>
            <a:r>
              <a:rPr sz="1400" dirty="0" smtClean="0"/>
              <a:t>a = (C x A) / (d x 10)</a:t>
            </a:r>
            <a:r>
              <a:rPr lang="en-IN" sz="1400" dirty="0" smtClean="0"/>
              <a:t>….. (1), </a:t>
            </a:r>
            <a:r>
              <a:rPr sz="1400" dirty="0" smtClean="0"/>
              <a:t>where a = chemical per hill (mL), A = recommended rate (L/ha), d = hill density (hills/m2)</a:t>
            </a:r>
          </a:p>
          <a:p>
            <a:pPr>
              <a:defRPr sz="1200">
                <a:solidFill>
                  <a:srgbClr val="333333"/>
                </a:solidFill>
              </a:defRPr>
            </a:pPr>
            <a:r>
              <a:rPr sz="1400" dirty="0" err="1" smtClean="0"/>
              <a:t>ts</a:t>
            </a:r>
            <a:r>
              <a:rPr sz="1400" dirty="0" smtClean="0"/>
              <a:t> = a / Qs                </a:t>
            </a:r>
            <a:r>
              <a:rPr lang="en-IN" sz="1400" dirty="0" smtClean="0"/>
              <a:t> ….. (2), </a:t>
            </a:r>
            <a:r>
              <a:rPr sz="1400" dirty="0" smtClean="0"/>
              <a:t>where </a:t>
            </a:r>
            <a:r>
              <a:rPr sz="1400" dirty="0" err="1" smtClean="0"/>
              <a:t>ts</a:t>
            </a:r>
            <a:r>
              <a:rPr sz="1400" dirty="0" smtClean="0"/>
              <a:t> = solenoid open time (s), Qs = flow rate (mL/s)</a:t>
            </a:r>
          </a:p>
          <a:p>
            <a:pPr>
              <a:defRPr sz="800"/>
            </a:pPr>
            <a:endParaRPr sz="1600" dirty="0" smtClean="0"/>
          </a:p>
          <a:p>
            <a:pPr algn="just"/>
            <a:r>
              <a:rPr lang="en-US" b="1" dirty="0"/>
              <a:t>Base paper: </a:t>
            </a:r>
            <a:r>
              <a:rPr lang="en-US" sz="1400" dirty="0"/>
              <a:t>33% of the recommended application rate was selected as the base rate and assigned for the low (0–5%) plant disease severity level. The other two chemical dosages, i.e., 67% and 100% of the recommended application rate, were assigned for the medium (</a:t>
            </a:r>
            <a:r>
              <a:rPr lang="en-US" sz="1400" dirty="0" smtClean="0"/>
              <a:t>5–20</a:t>
            </a:r>
            <a:r>
              <a:rPr lang="en-US" sz="1400" dirty="0"/>
              <a:t>%) and high (</a:t>
            </a:r>
            <a:r>
              <a:rPr lang="en-US" sz="1400" dirty="0" smtClean="0"/>
              <a:t>20–100</a:t>
            </a:r>
            <a:r>
              <a:rPr lang="en-US" sz="1400" dirty="0"/>
              <a:t>%) plant disease severity levels, respectively</a:t>
            </a:r>
            <a:r>
              <a:rPr lang="en-US" sz="1400" dirty="0" smtClean="0"/>
              <a:t>.</a:t>
            </a:r>
          </a:p>
          <a:p>
            <a:pPr algn="just"/>
            <a:endParaRPr lang="en-US" sz="1400" dirty="0"/>
          </a:p>
          <a:p>
            <a:r>
              <a:rPr lang="en-US" b="1" dirty="0"/>
              <a:t>Our improvement</a:t>
            </a:r>
            <a:r>
              <a:rPr lang="en-US" sz="2000" b="1" dirty="0"/>
              <a:t>:</a:t>
            </a:r>
            <a:r>
              <a:rPr lang="en-US" dirty="0"/>
              <a:t> </a:t>
            </a:r>
            <a:r>
              <a:rPr lang="en-US" sz="1400" dirty="0"/>
              <a:t>Adding Healthy (C=0.00) means zero chemical on healthy plants — saves even more than </a:t>
            </a:r>
            <a:r>
              <a:rPr lang="en-US" sz="1400" dirty="0" smtClean="0"/>
              <a:t>33% (</a:t>
            </a:r>
            <a:r>
              <a:rPr lang="en-US" sz="1400" dirty="0" err="1" smtClean="0"/>
              <a:t>approx</a:t>
            </a:r>
            <a:r>
              <a:rPr lang="en-US" sz="1400" dirty="0" smtClean="0"/>
              <a:t>).</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65760" y="749446"/>
            <a:ext cx="8229600" cy="784830"/>
          </a:xfrm>
          <a:prstGeom prst="rect">
            <a:avLst/>
          </a:prstGeom>
          <a:noFill/>
        </p:spPr>
        <p:txBody>
          <a:bodyPr wrap="square">
            <a:spAutoFit/>
          </a:bodyPr>
          <a:lstStyle/>
          <a:p>
            <a:pPr>
              <a:spcAft>
                <a:spcPts val="600"/>
              </a:spcAft>
              <a:defRPr sz="1300" b="1">
                <a:solidFill>
                  <a:srgbClr val="1B3A5C"/>
                </a:solidFill>
              </a:defRPr>
            </a:pPr>
            <a:endParaRPr lang="en-IN" sz="2000" dirty="0" smtClean="0">
              <a:solidFill>
                <a:schemeClr val="tx1">
                  <a:lumMod val="95000"/>
                  <a:lumOff val="5000"/>
                </a:schemeClr>
              </a:solidFill>
            </a:endParaRPr>
          </a:p>
          <a:p>
            <a:pPr>
              <a:spcAft>
                <a:spcPts val="600"/>
              </a:spcAft>
              <a:defRPr sz="1300" b="1">
                <a:solidFill>
                  <a:srgbClr val="1B3A5C"/>
                </a:solidFill>
              </a:defRPr>
            </a:pPr>
            <a:endParaRPr sz="2000" dirty="0">
              <a:solidFill>
                <a:schemeClr val="tx1">
                  <a:lumMod val="95000"/>
                  <a:lumOff val="5000"/>
                </a:schemeClr>
              </a:solidFill>
            </a:endParaRPr>
          </a:p>
        </p:txBody>
      </p:sp>
      <p:pic>
        <p:nvPicPr>
          <p:cNvPr id="6" name="Picture 5"/>
          <p:cNvPicPr>
            <a:picLocks noChangeAspect="1"/>
          </p:cNvPicPr>
          <p:nvPr/>
        </p:nvPicPr>
        <p:blipFill>
          <a:blip r:embed="rId2"/>
          <a:stretch>
            <a:fillRect/>
          </a:stretch>
        </p:blipFill>
        <p:spPr>
          <a:xfrm>
            <a:off x="0" y="395764"/>
            <a:ext cx="9144000" cy="615168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12330"/>
          </a:xfrm>
        </p:spPr>
        <p:txBody>
          <a:bodyPr/>
          <a:lstStyle/>
          <a:p>
            <a:pPr>
              <a:defRPr sz="2600" b="1">
                <a:solidFill>
                  <a:srgbClr val="1B3A5C"/>
                </a:solidFill>
              </a:defRPr>
            </a:pPr>
            <a:r>
              <a:rPr lang="en-IN" dirty="0"/>
              <a:t>Module Design</a:t>
            </a:r>
          </a:p>
        </p:txBody>
      </p:sp>
      <p:graphicFrame>
        <p:nvGraphicFramePr>
          <p:cNvPr id="4" name="Table 3"/>
          <p:cNvGraphicFramePr>
            <a:graphicFrameLocks noGrp="1"/>
          </p:cNvGraphicFramePr>
          <p:nvPr>
            <p:extLst>
              <p:ext uri="{D42A27DB-BD31-4B8C-83A1-F6EECF244321}">
                <p14:modId xmlns:p14="http://schemas.microsoft.com/office/powerpoint/2010/main" val="3947726369"/>
              </p:ext>
            </p:extLst>
          </p:nvPr>
        </p:nvGraphicFramePr>
        <p:xfrm>
          <a:off x="274320" y="1097280"/>
          <a:ext cx="8595360" cy="329184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365760">
                <a:tc>
                  <a:txBody>
                    <a:bodyPr/>
                    <a:lstStyle/>
                    <a:p>
                      <a:pPr algn="ctr">
                        <a:defRPr sz="1200" b="1">
                          <a:solidFill>
                            <a:srgbClr val="FFFFFF"/>
                          </a:solidFill>
                        </a:defRPr>
                      </a:pPr>
                      <a:r>
                        <a:rPr sz="1600" dirty="0"/>
                        <a:t>Module</a:t>
                      </a:r>
                    </a:p>
                  </a:txBody>
                  <a:tcPr anchor="ctr">
                    <a:solidFill>
                      <a:srgbClr val="1B3A5C"/>
                    </a:solidFill>
                  </a:tcPr>
                </a:tc>
                <a:tc>
                  <a:txBody>
                    <a:bodyPr/>
                    <a:lstStyle/>
                    <a:p>
                      <a:pPr algn="ctr">
                        <a:defRPr sz="1200" b="1">
                          <a:solidFill>
                            <a:srgbClr val="FFFFFF"/>
                          </a:solidFill>
                        </a:defRPr>
                      </a:pPr>
                      <a:r>
                        <a:rPr sz="1600" dirty="0"/>
                        <a:t>Component</a:t>
                      </a:r>
                    </a:p>
                  </a:txBody>
                  <a:tcPr anchor="ctr">
                    <a:solidFill>
                      <a:srgbClr val="1B3A5C"/>
                    </a:solidFill>
                  </a:tcPr>
                </a:tc>
                <a:tc>
                  <a:txBody>
                    <a:bodyPr/>
                    <a:lstStyle/>
                    <a:p>
                      <a:pPr algn="ctr">
                        <a:defRPr sz="1200" b="1">
                          <a:solidFill>
                            <a:srgbClr val="FFFFFF"/>
                          </a:solidFill>
                        </a:defRPr>
                      </a:pPr>
                      <a:r>
                        <a:rPr sz="1600" dirty="0"/>
                        <a:t>Function</a:t>
                      </a:r>
                    </a:p>
                  </a:txBody>
                  <a:tcPr anchor="ctr">
                    <a:solidFill>
                      <a:srgbClr val="1B3A5C"/>
                    </a:solidFill>
                  </a:tcPr>
                </a:tc>
                <a:extLst>
                  <a:ext uri="{0D108BD9-81ED-4DB2-BD59-A6C34878D82A}">
                    <a16:rowId xmlns:a16="http://schemas.microsoft.com/office/drawing/2014/main" val="10000"/>
                  </a:ext>
                </a:extLst>
              </a:tr>
              <a:tr h="365760">
                <a:tc>
                  <a:txBody>
                    <a:bodyPr/>
                    <a:lstStyle/>
                    <a:p>
                      <a:pPr>
                        <a:defRPr sz="1100">
                          <a:solidFill>
                            <a:srgbClr val="333333"/>
                          </a:solidFill>
                        </a:defRPr>
                      </a:pPr>
                      <a:r>
                        <a:rPr sz="1400" dirty="0"/>
                        <a:t>Image Acquisition</a:t>
                      </a:r>
                    </a:p>
                  </a:txBody>
                  <a:tcPr anchor="ctr">
                    <a:solidFill>
                      <a:srgbClr val="F2F2F2"/>
                    </a:solidFill>
                  </a:tcPr>
                </a:tc>
                <a:tc>
                  <a:txBody>
                    <a:bodyPr/>
                    <a:lstStyle/>
                    <a:p>
                      <a:pPr>
                        <a:defRPr sz="1100">
                          <a:solidFill>
                            <a:srgbClr val="333333"/>
                          </a:solidFill>
                        </a:defRPr>
                      </a:pPr>
                      <a:r>
                        <a:rPr sz="1400"/>
                        <a:t>ESP32-CAM (OV2640, 640x480)</a:t>
                      </a:r>
                    </a:p>
                  </a:txBody>
                  <a:tcPr anchor="ctr">
                    <a:solidFill>
                      <a:srgbClr val="F2F2F2"/>
                    </a:solidFill>
                  </a:tcPr>
                </a:tc>
                <a:tc>
                  <a:txBody>
                    <a:bodyPr/>
                    <a:lstStyle/>
                    <a:p>
                      <a:pPr>
                        <a:defRPr sz="1100">
                          <a:solidFill>
                            <a:srgbClr val="333333"/>
                          </a:solidFill>
                        </a:defRPr>
                      </a:pPr>
                      <a:r>
                        <a:rPr sz="1400"/>
                        <a:t>Captures paddy leaf image on trigger</a:t>
                      </a:r>
                    </a:p>
                  </a:txBody>
                  <a:tcPr anchor="ctr">
                    <a:solidFill>
                      <a:srgbClr val="F2F2F2"/>
                    </a:solidFill>
                  </a:tcPr>
                </a:tc>
                <a:extLst>
                  <a:ext uri="{0D108BD9-81ED-4DB2-BD59-A6C34878D82A}">
                    <a16:rowId xmlns:a16="http://schemas.microsoft.com/office/drawing/2014/main" val="10001"/>
                  </a:ext>
                </a:extLst>
              </a:tr>
              <a:tr h="365760">
                <a:tc>
                  <a:txBody>
                    <a:bodyPr/>
                    <a:lstStyle/>
                    <a:p>
                      <a:pPr>
                        <a:defRPr sz="1100">
                          <a:solidFill>
                            <a:srgbClr val="333333"/>
                          </a:solidFill>
                        </a:defRPr>
                      </a:pPr>
                      <a:r>
                        <a:rPr sz="1400" dirty="0"/>
                        <a:t>Communication</a:t>
                      </a:r>
                    </a:p>
                  </a:txBody>
                  <a:tcPr anchor="ctr">
                    <a:solidFill>
                      <a:srgbClr val="FFFFFF"/>
                    </a:solidFill>
                  </a:tcPr>
                </a:tc>
                <a:tc>
                  <a:txBody>
                    <a:bodyPr/>
                    <a:lstStyle/>
                    <a:p>
                      <a:pPr>
                        <a:defRPr sz="1100">
                          <a:solidFill>
                            <a:srgbClr val="333333"/>
                          </a:solidFill>
                        </a:defRPr>
                      </a:pPr>
                      <a:r>
                        <a:rPr sz="1400"/>
                        <a:t>ESP32 WiFi (802.11 b/g/n)</a:t>
                      </a:r>
                    </a:p>
                  </a:txBody>
                  <a:tcPr anchor="ctr">
                    <a:solidFill>
                      <a:srgbClr val="FFFFFF"/>
                    </a:solidFill>
                  </a:tcPr>
                </a:tc>
                <a:tc>
                  <a:txBody>
                    <a:bodyPr/>
                    <a:lstStyle/>
                    <a:p>
                      <a:pPr>
                        <a:defRPr sz="1100">
                          <a:solidFill>
                            <a:srgbClr val="333333"/>
                          </a:solidFill>
                        </a:defRPr>
                      </a:pPr>
                      <a:r>
                        <a:rPr sz="1400"/>
                        <a:t>HTTP POST to cloud; receives JSON result</a:t>
                      </a:r>
                    </a:p>
                  </a:txBody>
                  <a:tcPr anchor="ctr">
                    <a:solidFill>
                      <a:srgbClr val="FFFFFF"/>
                    </a:solidFill>
                  </a:tcPr>
                </a:tc>
                <a:extLst>
                  <a:ext uri="{0D108BD9-81ED-4DB2-BD59-A6C34878D82A}">
                    <a16:rowId xmlns:a16="http://schemas.microsoft.com/office/drawing/2014/main" val="10002"/>
                  </a:ext>
                </a:extLst>
              </a:tr>
              <a:tr h="365760">
                <a:tc>
                  <a:txBody>
                    <a:bodyPr/>
                    <a:lstStyle/>
                    <a:p>
                      <a:pPr>
                        <a:defRPr sz="1100">
                          <a:solidFill>
                            <a:srgbClr val="333333"/>
                          </a:solidFill>
                        </a:defRPr>
                      </a:pPr>
                      <a:r>
                        <a:rPr sz="1400"/>
                        <a:t>Cloud Processing</a:t>
                      </a:r>
                    </a:p>
                  </a:txBody>
                  <a:tcPr anchor="ctr">
                    <a:solidFill>
                      <a:srgbClr val="F2F2F2"/>
                    </a:solidFill>
                  </a:tcPr>
                </a:tc>
                <a:tc>
                  <a:txBody>
                    <a:bodyPr/>
                    <a:lstStyle/>
                    <a:p>
                      <a:pPr>
                        <a:defRPr sz="1100">
                          <a:solidFill>
                            <a:srgbClr val="333333"/>
                          </a:solidFill>
                        </a:defRPr>
                      </a:pPr>
                      <a:r>
                        <a:rPr sz="1400" dirty="0" err="1"/>
                        <a:t>Colab</a:t>
                      </a:r>
                      <a:r>
                        <a:rPr sz="1400" dirty="0"/>
                        <a:t> (MobileNetV2 + Flask + </a:t>
                      </a:r>
                      <a:r>
                        <a:rPr sz="1400" dirty="0" err="1"/>
                        <a:t>ngrok</a:t>
                      </a:r>
                      <a:r>
                        <a:rPr sz="1400" dirty="0"/>
                        <a:t>)</a:t>
                      </a:r>
                    </a:p>
                  </a:txBody>
                  <a:tcPr anchor="ctr">
                    <a:solidFill>
                      <a:srgbClr val="F2F2F2"/>
                    </a:solidFill>
                  </a:tcPr>
                </a:tc>
                <a:tc>
                  <a:txBody>
                    <a:bodyPr/>
                    <a:lstStyle/>
                    <a:p>
                      <a:pPr>
                        <a:defRPr sz="1100">
                          <a:solidFill>
                            <a:srgbClr val="333333"/>
                          </a:solidFill>
                        </a:defRPr>
                      </a:pPr>
                      <a:r>
                        <a:rPr sz="1400"/>
                        <a:t>CNN inference; returns severity class</a:t>
                      </a:r>
                    </a:p>
                  </a:txBody>
                  <a:tcPr anchor="ctr">
                    <a:solidFill>
                      <a:srgbClr val="F2F2F2"/>
                    </a:solidFill>
                  </a:tcPr>
                </a:tc>
                <a:extLst>
                  <a:ext uri="{0D108BD9-81ED-4DB2-BD59-A6C34878D82A}">
                    <a16:rowId xmlns:a16="http://schemas.microsoft.com/office/drawing/2014/main" val="10003"/>
                  </a:ext>
                </a:extLst>
              </a:tr>
              <a:tr h="365760">
                <a:tc>
                  <a:txBody>
                    <a:bodyPr/>
                    <a:lstStyle/>
                    <a:p>
                      <a:pPr>
                        <a:defRPr sz="1100">
                          <a:solidFill>
                            <a:srgbClr val="333333"/>
                          </a:solidFill>
                        </a:defRPr>
                      </a:pPr>
                      <a:r>
                        <a:rPr sz="1400"/>
                        <a:t>IoT Monitoring</a:t>
                      </a:r>
                    </a:p>
                  </a:txBody>
                  <a:tcPr anchor="ctr">
                    <a:solidFill>
                      <a:srgbClr val="FFFFFF"/>
                    </a:solidFill>
                  </a:tcPr>
                </a:tc>
                <a:tc>
                  <a:txBody>
                    <a:bodyPr/>
                    <a:lstStyle/>
                    <a:p>
                      <a:pPr>
                        <a:defRPr sz="1100">
                          <a:solidFill>
                            <a:srgbClr val="333333"/>
                          </a:solidFill>
                        </a:defRPr>
                      </a:pPr>
                      <a:r>
                        <a:rPr sz="1400" dirty="0" err="1"/>
                        <a:t>Blynk</a:t>
                      </a:r>
                      <a:r>
                        <a:rPr sz="1400" dirty="0"/>
                        <a:t> (Virtual Pins V0-V5)</a:t>
                      </a:r>
                    </a:p>
                  </a:txBody>
                  <a:tcPr anchor="ctr">
                    <a:solidFill>
                      <a:srgbClr val="FFFFFF"/>
                    </a:solidFill>
                  </a:tcPr>
                </a:tc>
                <a:tc>
                  <a:txBody>
                    <a:bodyPr/>
                    <a:lstStyle/>
                    <a:p>
                      <a:pPr>
                        <a:defRPr sz="1100">
                          <a:solidFill>
                            <a:srgbClr val="333333"/>
                          </a:solidFill>
                        </a:defRPr>
                      </a:pPr>
                      <a:r>
                        <a:rPr sz="1400"/>
                        <a:t>Dashboard: gauge, logs, alerts, remote trigger</a:t>
                      </a:r>
                    </a:p>
                  </a:txBody>
                  <a:tcPr anchor="ctr">
                    <a:solidFill>
                      <a:srgbClr val="FFFFFF"/>
                    </a:solidFill>
                  </a:tcPr>
                </a:tc>
                <a:extLst>
                  <a:ext uri="{0D108BD9-81ED-4DB2-BD59-A6C34878D82A}">
                    <a16:rowId xmlns:a16="http://schemas.microsoft.com/office/drawing/2014/main" val="10004"/>
                  </a:ext>
                </a:extLst>
              </a:tr>
              <a:tr h="365760">
                <a:tc>
                  <a:txBody>
                    <a:bodyPr/>
                    <a:lstStyle/>
                    <a:p>
                      <a:pPr>
                        <a:defRPr sz="1100">
                          <a:solidFill>
                            <a:srgbClr val="333333"/>
                          </a:solidFill>
                        </a:defRPr>
                      </a:pPr>
                      <a:r>
                        <a:rPr sz="1400"/>
                        <a:t>Control Logic</a:t>
                      </a:r>
                    </a:p>
                  </a:txBody>
                  <a:tcPr anchor="ctr">
                    <a:solidFill>
                      <a:srgbClr val="F2F2F2"/>
                    </a:solidFill>
                  </a:tcPr>
                </a:tc>
                <a:tc>
                  <a:txBody>
                    <a:bodyPr/>
                    <a:lstStyle/>
                    <a:p>
                      <a:pPr>
                        <a:defRPr sz="1100">
                          <a:solidFill>
                            <a:srgbClr val="333333"/>
                          </a:solidFill>
                        </a:defRPr>
                      </a:pPr>
                      <a:r>
                        <a:rPr sz="1400" dirty="0"/>
                        <a:t>Arduino Nano (ATmega328P)</a:t>
                      </a:r>
                    </a:p>
                  </a:txBody>
                  <a:tcPr anchor="ctr">
                    <a:solidFill>
                      <a:srgbClr val="F2F2F2"/>
                    </a:solidFill>
                  </a:tcPr>
                </a:tc>
                <a:tc>
                  <a:txBody>
                    <a:bodyPr/>
                    <a:lstStyle/>
                    <a:p>
                      <a:pPr>
                        <a:defRPr sz="1100">
                          <a:solidFill>
                            <a:srgbClr val="333333"/>
                          </a:solidFill>
                        </a:defRPr>
                      </a:pPr>
                      <a:r>
                        <a:rPr sz="1400"/>
                        <a:t>Computes spray duration ts; controls relay</a:t>
                      </a:r>
                    </a:p>
                  </a:txBody>
                  <a:tcPr anchor="ctr">
                    <a:solidFill>
                      <a:srgbClr val="F2F2F2"/>
                    </a:solidFill>
                  </a:tcPr>
                </a:tc>
                <a:extLst>
                  <a:ext uri="{0D108BD9-81ED-4DB2-BD59-A6C34878D82A}">
                    <a16:rowId xmlns:a16="http://schemas.microsoft.com/office/drawing/2014/main" val="10005"/>
                  </a:ext>
                </a:extLst>
              </a:tr>
              <a:tr h="365760">
                <a:tc>
                  <a:txBody>
                    <a:bodyPr/>
                    <a:lstStyle/>
                    <a:p>
                      <a:pPr>
                        <a:defRPr sz="1100">
                          <a:solidFill>
                            <a:srgbClr val="333333"/>
                          </a:solidFill>
                        </a:defRPr>
                      </a:pPr>
                      <a:r>
                        <a:rPr sz="1400"/>
                        <a:t>Actuation</a:t>
                      </a:r>
                    </a:p>
                  </a:txBody>
                  <a:tcPr anchor="ctr">
                    <a:solidFill>
                      <a:srgbClr val="FFFFFF"/>
                    </a:solidFill>
                  </a:tcPr>
                </a:tc>
                <a:tc>
                  <a:txBody>
                    <a:bodyPr/>
                    <a:lstStyle/>
                    <a:p>
                      <a:pPr>
                        <a:defRPr sz="1100">
                          <a:solidFill>
                            <a:srgbClr val="333333"/>
                          </a:solidFill>
                        </a:defRPr>
                      </a:pPr>
                      <a:r>
                        <a:rPr sz="1400" dirty="0"/>
                        <a:t>5V Relay + 12V Solenoid (NC)</a:t>
                      </a:r>
                    </a:p>
                  </a:txBody>
                  <a:tcPr anchor="ctr">
                    <a:solidFill>
                      <a:srgbClr val="FFFFFF"/>
                    </a:solidFill>
                  </a:tcPr>
                </a:tc>
                <a:tc>
                  <a:txBody>
                    <a:bodyPr/>
                    <a:lstStyle/>
                    <a:p>
                      <a:pPr>
                        <a:defRPr sz="1100">
                          <a:solidFill>
                            <a:srgbClr val="333333"/>
                          </a:solidFill>
                        </a:defRPr>
                      </a:pPr>
                      <a:r>
                        <a:rPr sz="1400"/>
                        <a:t>Opens valve for computed duration</a:t>
                      </a:r>
                    </a:p>
                  </a:txBody>
                  <a:tcPr anchor="ctr">
                    <a:solidFill>
                      <a:srgbClr val="FFFFFF"/>
                    </a:solidFill>
                  </a:tcPr>
                </a:tc>
                <a:extLst>
                  <a:ext uri="{0D108BD9-81ED-4DB2-BD59-A6C34878D82A}">
                    <a16:rowId xmlns:a16="http://schemas.microsoft.com/office/drawing/2014/main" val="10006"/>
                  </a:ext>
                </a:extLst>
              </a:tr>
              <a:tr h="365760">
                <a:tc>
                  <a:txBody>
                    <a:bodyPr/>
                    <a:lstStyle/>
                    <a:p>
                      <a:pPr>
                        <a:defRPr sz="1100">
                          <a:solidFill>
                            <a:srgbClr val="333333"/>
                          </a:solidFill>
                        </a:defRPr>
                      </a:pPr>
                      <a:r>
                        <a:rPr sz="1400"/>
                        <a:t>Spray Delivery</a:t>
                      </a:r>
                    </a:p>
                  </a:txBody>
                  <a:tcPr anchor="ctr">
                    <a:solidFill>
                      <a:srgbClr val="F2F2F2"/>
                    </a:solidFill>
                  </a:tcPr>
                </a:tc>
                <a:tc>
                  <a:txBody>
                    <a:bodyPr/>
                    <a:lstStyle/>
                    <a:p>
                      <a:pPr>
                        <a:defRPr sz="1100">
                          <a:solidFill>
                            <a:srgbClr val="333333"/>
                          </a:solidFill>
                        </a:defRPr>
                      </a:pPr>
                      <a:r>
                        <a:rPr sz="1400" dirty="0"/>
                        <a:t>R385 Pump + Hollow Cone Nozzle</a:t>
                      </a:r>
                    </a:p>
                  </a:txBody>
                  <a:tcPr anchor="ctr">
                    <a:solidFill>
                      <a:srgbClr val="F2F2F2"/>
                    </a:solidFill>
                  </a:tcPr>
                </a:tc>
                <a:tc>
                  <a:txBody>
                    <a:bodyPr/>
                    <a:lstStyle/>
                    <a:p>
                      <a:pPr>
                        <a:defRPr sz="1100">
                          <a:solidFill>
                            <a:srgbClr val="333333"/>
                          </a:solidFill>
                        </a:defRPr>
                      </a:pPr>
                      <a:r>
                        <a:rPr sz="1400" dirty="0"/>
                        <a:t>Maintains flow; delivers spray pattern</a:t>
                      </a:r>
                    </a:p>
                  </a:txBody>
                  <a:tcPr anchor="ctr">
                    <a:solidFill>
                      <a:srgbClr val="F2F2F2"/>
                    </a:solidFill>
                  </a:tcPr>
                </a:tc>
                <a:extLst>
                  <a:ext uri="{0D108BD9-81ED-4DB2-BD59-A6C34878D82A}">
                    <a16:rowId xmlns:a16="http://schemas.microsoft.com/office/drawing/2014/main" val="10007"/>
                  </a:ext>
                </a:extLst>
              </a:tr>
              <a:tr h="365760">
                <a:tc>
                  <a:txBody>
                    <a:bodyPr/>
                    <a:lstStyle/>
                    <a:p>
                      <a:pPr>
                        <a:defRPr sz="1100">
                          <a:solidFill>
                            <a:srgbClr val="333333"/>
                          </a:solidFill>
                        </a:defRPr>
                      </a:pPr>
                      <a:r>
                        <a:rPr sz="1400"/>
                        <a:t>Power</a:t>
                      </a:r>
                    </a:p>
                  </a:txBody>
                  <a:tcPr anchor="ctr">
                    <a:solidFill>
                      <a:srgbClr val="FFFFFF"/>
                    </a:solidFill>
                  </a:tcPr>
                </a:tc>
                <a:tc>
                  <a:txBody>
                    <a:bodyPr/>
                    <a:lstStyle/>
                    <a:p>
                      <a:pPr>
                        <a:defRPr sz="1100">
                          <a:solidFill>
                            <a:srgbClr val="333333"/>
                          </a:solidFill>
                        </a:defRPr>
                      </a:pPr>
                      <a:r>
                        <a:rPr sz="1400"/>
                        <a:t>3x18650 + LM2596 Buck</a:t>
                      </a:r>
                    </a:p>
                  </a:txBody>
                  <a:tcPr anchor="ctr">
                    <a:solidFill>
                      <a:srgbClr val="FFFFFF"/>
                    </a:solidFill>
                  </a:tcPr>
                </a:tc>
                <a:tc>
                  <a:txBody>
                    <a:bodyPr/>
                    <a:lstStyle/>
                    <a:p>
                      <a:pPr>
                        <a:defRPr sz="1100">
                          <a:solidFill>
                            <a:srgbClr val="333333"/>
                          </a:solidFill>
                        </a:defRPr>
                      </a:pPr>
                      <a:r>
                        <a:rPr sz="1400" dirty="0"/>
                        <a:t>12V source + regulated 5V for MCUs</a:t>
                      </a:r>
                    </a:p>
                  </a:txBody>
                  <a:tcPr anchor="ctr">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7190"/>
            <a:ext cx="8229600" cy="405442"/>
          </a:xfrm>
        </p:spPr>
        <p:txBody>
          <a:bodyPr>
            <a:noAutofit/>
          </a:bodyPr>
          <a:lstStyle/>
          <a:p>
            <a:pPr>
              <a:defRPr sz="2600" b="1">
                <a:solidFill>
                  <a:srgbClr val="1B3A5C"/>
                </a:solidFill>
              </a:defRPr>
            </a:pPr>
            <a:r>
              <a:rPr lang="en-US" sz="2600" dirty="0"/>
              <a:t>Hardware </a:t>
            </a:r>
            <a:r>
              <a:rPr lang="en-US" sz="2600" dirty="0" smtClean="0"/>
              <a:t>Components</a:t>
            </a:r>
            <a:endParaRPr lang="en-US" sz="2600" dirty="0"/>
          </a:p>
        </p:txBody>
      </p:sp>
      <p:graphicFrame>
        <p:nvGraphicFramePr>
          <p:cNvPr id="4" name="Table 3"/>
          <p:cNvGraphicFramePr>
            <a:graphicFrameLocks noGrp="1"/>
          </p:cNvGraphicFramePr>
          <p:nvPr>
            <p:extLst>
              <p:ext uri="{D42A27DB-BD31-4B8C-83A1-F6EECF244321}">
                <p14:modId xmlns:p14="http://schemas.microsoft.com/office/powerpoint/2010/main" val="3454959016"/>
              </p:ext>
            </p:extLst>
          </p:nvPr>
        </p:nvGraphicFramePr>
        <p:xfrm>
          <a:off x="457200" y="660909"/>
          <a:ext cx="8036368" cy="3078480"/>
        </p:xfrm>
        <a:graphic>
          <a:graphicData uri="http://schemas.openxmlformats.org/drawingml/2006/table">
            <a:tbl>
              <a:tblPr firstRow="1" bandRow="1">
                <a:tableStyleId>{5C22544A-7EE6-4342-B048-85BDC9FD1C3A}</a:tableStyleId>
              </a:tblPr>
              <a:tblGrid>
                <a:gridCol w="502273">
                  <a:extLst>
                    <a:ext uri="{9D8B030D-6E8A-4147-A177-3AD203B41FA5}">
                      <a16:colId xmlns:a16="http://schemas.microsoft.com/office/drawing/2014/main" val="20000"/>
                    </a:ext>
                  </a:extLst>
                </a:gridCol>
                <a:gridCol w="2511365">
                  <a:extLst>
                    <a:ext uri="{9D8B030D-6E8A-4147-A177-3AD203B41FA5}">
                      <a16:colId xmlns:a16="http://schemas.microsoft.com/office/drawing/2014/main" val="20001"/>
                    </a:ext>
                  </a:extLst>
                </a:gridCol>
                <a:gridCol w="5022730">
                  <a:extLst>
                    <a:ext uri="{9D8B030D-6E8A-4147-A177-3AD203B41FA5}">
                      <a16:colId xmlns:a16="http://schemas.microsoft.com/office/drawing/2014/main" val="20002"/>
                    </a:ext>
                  </a:extLst>
                </a:gridCol>
              </a:tblGrid>
              <a:tr h="213718">
                <a:tc>
                  <a:txBody>
                    <a:bodyPr/>
                    <a:lstStyle/>
                    <a:p>
                      <a:pPr algn="ctr">
                        <a:defRPr sz="1200" b="1">
                          <a:solidFill>
                            <a:srgbClr val="FFFFFF"/>
                          </a:solidFill>
                        </a:defRPr>
                      </a:pPr>
                      <a:r>
                        <a:rPr sz="1600" dirty="0"/>
                        <a:t>#</a:t>
                      </a:r>
                    </a:p>
                  </a:txBody>
                  <a:tcPr anchor="ctr">
                    <a:solidFill>
                      <a:srgbClr val="1B3A5C"/>
                    </a:solidFill>
                  </a:tcPr>
                </a:tc>
                <a:tc>
                  <a:txBody>
                    <a:bodyPr/>
                    <a:lstStyle/>
                    <a:p>
                      <a:pPr algn="ctr">
                        <a:defRPr sz="1200" b="1">
                          <a:solidFill>
                            <a:srgbClr val="FFFFFF"/>
                          </a:solidFill>
                        </a:defRPr>
                      </a:pPr>
                      <a:r>
                        <a:rPr sz="1600" dirty="0"/>
                        <a:t>Component</a:t>
                      </a:r>
                    </a:p>
                  </a:txBody>
                  <a:tcPr anchor="ctr">
                    <a:solidFill>
                      <a:srgbClr val="1B3A5C"/>
                    </a:solidFill>
                  </a:tcPr>
                </a:tc>
                <a:tc>
                  <a:txBody>
                    <a:bodyPr/>
                    <a:lstStyle/>
                    <a:p>
                      <a:pPr algn="ctr">
                        <a:defRPr sz="1200" b="1">
                          <a:solidFill>
                            <a:srgbClr val="FFFFFF"/>
                          </a:solidFill>
                        </a:defRPr>
                      </a:pPr>
                      <a:r>
                        <a:rPr sz="1600" dirty="0"/>
                        <a:t>Model/Specs</a:t>
                      </a:r>
                    </a:p>
                  </a:txBody>
                  <a:tcPr anchor="ctr">
                    <a:solidFill>
                      <a:srgbClr val="1B3A5C"/>
                    </a:solidFill>
                  </a:tcPr>
                </a:tc>
                <a:extLst>
                  <a:ext uri="{0D108BD9-81ED-4DB2-BD59-A6C34878D82A}">
                    <a16:rowId xmlns:a16="http://schemas.microsoft.com/office/drawing/2014/main" val="10000"/>
                  </a:ext>
                </a:extLst>
              </a:tr>
              <a:tr h="194289">
                <a:tc>
                  <a:txBody>
                    <a:bodyPr/>
                    <a:lstStyle/>
                    <a:p>
                      <a:pPr algn="ctr">
                        <a:defRPr sz="1100">
                          <a:solidFill>
                            <a:srgbClr val="333333"/>
                          </a:solidFill>
                        </a:defRPr>
                      </a:pPr>
                      <a:r>
                        <a:rPr sz="1200" dirty="0"/>
                        <a:t>1</a:t>
                      </a:r>
                    </a:p>
                  </a:txBody>
                  <a:tcPr anchor="ctr">
                    <a:solidFill>
                      <a:srgbClr val="F2F2F2"/>
                    </a:solidFill>
                  </a:tcPr>
                </a:tc>
                <a:tc>
                  <a:txBody>
                    <a:bodyPr/>
                    <a:lstStyle/>
                    <a:p>
                      <a:pPr algn="ctr">
                        <a:defRPr sz="1100">
                          <a:solidFill>
                            <a:srgbClr val="333333"/>
                          </a:solidFill>
                        </a:defRPr>
                      </a:pPr>
                      <a:r>
                        <a:rPr sz="1200" dirty="0"/>
                        <a:t>ESP32-CAM</a:t>
                      </a:r>
                    </a:p>
                  </a:txBody>
                  <a:tcPr anchor="ctr">
                    <a:solidFill>
                      <a:srgbClr val="F2F2F2"/>
                    </a:solidFill>
                  </a:tcPr>
                </a:tc>
                <a:tc>
                  <a:txBody>
                    <a:bodyPr/>
                    <a:lstStyle/>
                    <a:p>
                      <a:pPr algn="ctr">
                        <a:defRPr sz="1100">
                          <a:solidFill>
                            <a:srgbClr val="333333"/>
                          </a:solidFill>
                        </a:defRPr>
                      </a:pPr>
                      <a:r>
                        <a:rPr sz="1200" dirty="0"/>
                        <a:t>AI-Thinker, OV2640, </a:t>
                      </a:r>
                      <a:r>
                        <a:rPr sz="1200" dirty="0" err="1"/>
                        <a:t>WiFi+BT</a:t>
                      </a:r>
                      <a:r>
                        <a:rPr sz="1200" dirty="0"/>
                        <a:t>, 4MB PSRAM</a:t>
                      </a:r>
                    </a:p>
                  </a:txBody>
                  <a:tcPr anchor="ctr">
                    <a:solidFill>
                      <a:srgbClr val="F2F2F2"/>
                    </a:solidFill>
                  </a:tcPr>
                </a:tc>
                <a:extLst>
                  <a:ext uri="{0D108BD9-81ED-4DB2-BD59-A6C34878D82A}">
                    <a16:rowId xmlns:a16="http://schemas.microsoft.com/office/drawing/2014/main" val="10001"/>
                  </a:ext>
                </a:extLst>
              </a:tr>
              <a:tr h="194289">
                <a:tc>
                  <a:txBody>
                    <a:bodyPr/>
                    <a:lstStyle/>
                    <a:p>
                      <a:pPr algn="ctr">
                        <a:defRPr sz="1100">
                          <a:solidFill>
                            <a:srgbClr val="333333"/>
                          </a:solidFill>
                        </a:defRPr>
                      </a:pPr>
                      <a:r>
                        <a:rPr sz="1200" dirty="0"/>
                        <a:t>2</a:t>
                      </a:r>
                    </a:p>
                  </a:txBody>
                  <a:tcPr anchor="ctr">
                    <a:solidFill>
                      <a:srgbClr val="FFFFFF"/>
                    </a:solidFill>
                  </a:tcPr>
                </a:tc>
                <a:tc>
                  <a:txBody>
                    <a:bodyPr/>
                    <a:lstStyle/>
                    <a:p>
                      <a:pPr algn="ctr">
                        <a:defRPr sz="1100">
                          <a:solidFill>
                            <a:srgbClr val="333333"/>
                          </a:solidFill>
                        </a:defRPr>
                      </a:pPr>
                      <a:r>
                        <a:rPr sz="1200" dirty="0"/>
                        <a:t>ESP32-CAM Programmer</a:t>
                      </a:r>
                    </a:p>
                  </a:txBody>
                  <a:tcPr anchor="ctr">
                    <a:solidFill>
                      <a:srgbClr val="FFFFFF"/>
                    </a:solidFill>
                  </a:tcPr>
                </a:tc>
                <a:tc>
                  <a:txBody>
                    <a:bodyPr/>
                    <a:lstStyle/>
                    <a:p>
                      <a:pPr algn="ctr">
                        <a:defRPr sz="1100">
                          <a:solidFill>
                            <a:srgbClr val="333333"/>
                          </a:solidFill>
                        </a:defRPr>
                      </a:pPr>
                      <a:r>
                        <a:rPr sz="1200" dirty="0"/>
                        <a:t>ESP32-CAM-MB, CH340 USB</a:t>
                      </a:r>
                    </a:p>
                  </a:txBody>
                  <a:tcPr anchor="ctr">
                    <a:solidFill>
                      <a:srgbClr val="FFFFFF"/>
                    </a:solidFill>
                  </a:tcPr>
                </a:tc>
                <a:extLst>
                  <a:ext uri="{0D108BD9-81ED-4DB2-BD59-A6C34878D82A}">
                    <a16:rowId xmlns:a16="http://schemas.microsoft.com/office/drawing/2014/main" val="10002"/>
                  </a:ext>
                </a:extLst>
              </a:tr>
              <a:tr h="194289">
                <a:tc>
                  <a:txBody>
                    <a:bodyPr/>
                    <a:lstStyle/>
                    <a:p>
                      <a:pPr algn="ctr">
                        <a:defRPr sz="1100">
                          <a:solidFill>
                            <a:srgbClr val="333333"/>
                          </a:solidFill>
                        </a:defRPr>
                      </a:pPr>
                      <a:r>
                        <a:rPr sz="1200" dirty="0"/>
                        <a:t>3</a:t>
                      </a:r>
                    </a:p>
                  </a:txBody>
                  <a:tcPr anchor="ctr">
                    <a:solidFill>
                      <a:srgbClr val="F2F2F2"/>
                    </a:solidFill>
                  </a:tcPr>
                </a:tc>
                <a:tc>
                  <a:txBody>
                    <a:bodyPr/>
                    <a:lstStyle/>
                    <a:p>
                      <a:pPr algn="ctr">
                        <a:defRPr sz="1100">
                          <a:solidFill>
                            <a:srgbClr val="333333"/>
                          </a:solidFill>
                        </a:defRPr>
                      </a:pPr>
                      <a:r>
                        <a:rPr sz="1200" dirty="0"/>
                        <a:t>Arduino Nano</a:t>
                      </a:r>
                    </a:p>
                  </a:txBody>
                  <a:tcPr anchor="ctr">
                    <a:solidFill>
                      <a:srgbClr val="F2F2F2"/>
                    </a:solidFill>
                  </a:tcPr>
                </a:tc>
                <a:tc>
                  <a:txBody>
                    <a:bodyPr/>
                    <a:lstStyle/>
                    <a:p>
                      <a:pPr algn="ctr">
                        <a:defRPr sz="1100">
                          <a:solidFill>
                            <a:srgbClr val="333333"/>
                          </a:solidFill>
                        </a:defRPr>
                      </a:pPr>
                      <a:r>
                        <a:rPr sz="1200" dirty="0"/>
                        <a:t>V3.0, ATmega328P, CH340</a:t>
                      </a:r>
                    </a:p>
                  </a:txBody>
                  <a:tcPr anchor="ctr">
                    <a:solidFill>
                      <a:srgbClr val="F2F2F2"/>
                    </a:solidFill>
                  </a:tcPr>
                </a:tc>
                <a:extLst>
                  <a:ext uri="{0D108BD9-81ED-4DB2-BD59-A6C34878D82A}">
                    <a16:rowId xmlns:a16="http://schemas.microsoft.com/office/drawing/2014/main" val="10003"/>
                  </a:ext>
                </a:extLst>
              </a:tr>
              <a:tr h="194289">
                <a:tc>
                  <a:txBody>
                    <a:bodyPr/>
                    <a:lstStyle/>
                    <a:p>
                      <a:pPr algn="ctr">
                        <a:defRPr sz="1100">
                          <a:solidFill>
                            <a:srgbClr val="333333"/>
                          </a:solidFill>
                        </a:defRPr>
                      </a:pPr>
                      <a:r>
                        <a:rPr sz="1200" dirty="0"/>
                        <a:t>4</a:t>
                      </a:r>
                    </a:p>
                  </a:txBody>
                  <a:tcPr anchor="ctr">
                    <a:solidFill>
                      <a:srgbClr val="FFFFFF"/>
                    </a:solidFill>
                  </a:tcPr>
                </a:tc>
                <a:tc>
                  <a:txBody>
                    <a:bodyPr/>
                    <a:lstStyle/>
                    <a:p>
                      <a:pPr algn="ctr">
                        <a:defRPr sz="1100">
                          <a:solidFill>
                            <a:srgbClr val="333333"/>
                          </a:solidFill>
                        </a:defRPr>
                      </a:pPr>
                      <a:r>
                        <a:rPr sz="1200" dirty="0"/>
                        <a:t>Solenoid Valve</a:t>
                      </a:r>
                    </a:p>
                  </a:txBody>
                  <a:tcPr anchor="ctr">
                    <a:solidFill>
                      <a:srgbClr val="FFFFFF"/>
                    </a:solidFill>
                  </a:tcPr>
                </a:tc>
                <a:tc>
                  <a:txBody>
                    <a:bodyPr/>
                    <a:lstStyle/>
                    <a:p>
                      <a:pPr algn="ctr">
                        <a:defRPr sz="1100">
                          <a:solidFill>
                            <a:srgbClr val="333333"/>
                          </a:solidFill>
                        </a:defRPr>
                      </a:pPr>
                      <a:r>
                        <a:rPr sz="1200" dirty="0"/>
                        <a:t>12V DC, NC, 1/2 inch, Plastic</a:t>
                      </a:r>
                    </a:p>
                  </a:txBody>
                  <a:tcPr anchor="ctr">
                    <a:solidFill>
                      <a:srgbClr val="FFFFFF"/>
                    </a:solidFill>
                  </a:tcPr>
                </a:tc>
                <a:extLst>
                  <a:ext uri="{0D108BD9-81ED-4DB2-BD59-A6C34878D82A}">
                    <a16:rowId xmlns:a16="http://schemas.microsoft.com/office/drawing/2014/main" val="10004"/>
                  </a:ext>
                </a:extLst>
              </a:tr>
              <a:tr h="194289">
                <a:tc>
                  <a:txBody>
                    <a:bodyPr/>
                    <a:lstStyle/>
                    <a:p>
                      <a:pPr algn="ctr">
                        <a:defRPr sz="1100">
                          <a:solidFill>
                            <a:srgbClr val="333333"/>
                          </a:solidFill>
                        </a:defRPr>
                      </a:pPr>
                      <a:r>
                        <a:rPr sz="1200" dirty="0"/>
                        <a:t>5</a:t>
                      </a:r>
                    </a:p>
                  </a:txBody>
                  <a:tcPr anchor="ctr">
                    <a:solidFill>
                      <a:srgbClr val="F2F2F2"/>
                    </a:solidFill>
                  </a:tcPr>
                </a:tc>
                <a:tc>
                  <a:txBody>
                    <a:bodyPr/>
                    <a:lstStyle/>
                    <a:p>
                      <a:pPr algn="ctr">
                        <a:defRPr sz="1100">
                          <a:solidFill>
                            <a:srgbClr val="333333"/>
                          </a:solidFill>
                        </a:defRPr>
                      </a:pPr>
                      <a:r>
                        <a:rPr sz="1200" dirty="0"/>
                        <a:t>Relay Module</a:t>
                      </a:r>
                    </a:p>
                  </a:txBody>
                  <a:tcPr anchor="ctr">
                    <a:solidFill>
                      <a:srgbClr val="F2F2F2"/>
                    </a:solidFill>
                  </a:tcPr>
                </a:tc>
                <a:tc>
                  <a:txBody>
                    <a:bodyPr/>
                    <a:lstStyle/>
                    <a:p>
                      <a:pPr algn="ctr">
                        <a:defRPr sz="1100">
                          <a:solidFill>
                            <a:srgbClr val="333333"/>
                          </a:solidFill>
                        </a:defRPr>
                      </a:pPr>
                      <a:r>
                        <a:rPr sz="1200" dirty="0"/>
                        <a:t>5V 1-Ch, </a:t>
                      </a:r>
                      <a:r>
                        <a:rPr sz="1200" dirty="0" err="1"/>
                        <a:t>Optocoupler</a:t>
                      </a:r>
                      <a:r>
                        <a:rPr sz="1200" dirty="0"/>
                        <a:t>, </a:t>
                      </a:r>
                      <a:r>
                        <a:rPr sz="1200" dirty="0" err="1"/>
                        <a:t>Songle</a:t>
                      </a:r>
                      <a:r>
                        <a:rPr sz="1200" dirty="0"/>
                        <a:t> SRD-05VDC</a:t>
                      </a:r>
                    </a:p>
                  </a:txBody>
                  <a:tcPr anchor="ctr">
                    <a:solidFill>
                      <a:srgbClr val="F2F2F2"/>
                    </a:solidFill>
                  </a:tcPr>
                </a:tc>
                <a:extLst>
                  <a:ext uri="{0D108BD9-81ED-4DB2-BD59-A6C34878D82A}">
                    <a16:rowId xmlns:a16="http://schemas.microsoft.com/office/drawing/2014/main" val="10005"/>
                  </a:ext>
                </a:extLst>
              </a:tr>
              <a:tr h="194289">
                <a:tc>
                  <a:txBody>
                    <a:bodyPr/>
                    <a:lstStyle/>
                    <a:p>
                      <a:pPr algn="ctr">
                        <a:defRPr sz="1100">
                          <a:solidFill>
                            <a:srgbClr val="333333"/>
                          </a:solidFill>
                        </a:defRPr>
                      </a:pPr>
                      <a:r>
                        <a:rPr sz="1200" dirty="0"/>
                        <a:t>6</a:t>
                      </a:r>
                    </a:p>
                  </a:txBody>
                  <a:tcPr anchor="ctr">
                    <a:solidFill>
                      <a:srgbClr val="FFFFFF"/>
                    </a:solidFill>
                  </a:tcPr>
                </a:tc>
                <a:tc>
                  <a:txBody>
                    <a:bodyPr/>
                    <a:lstStyle/>
                    <a:p>
                      <a:pPr algn="ctr">
                        <a:defRPr sz="1100">
                          <a:solidFill>
                            <a:srgbClr val="333333"/>
                          </a:solidFill>
                        </a:defRPr>
                      </a:pPr>
                      <a:r>
                        <a:rPr sz="1200" dirty="0"/>
                        <a:t>Water Pump</a:t>
                      </a:r>
                    </a:p>
                  </a:txBody>
                  <a:tcPr anchor="ctr">
                    <a:solidFill>
                      <a:srgbClr val="FFFFFF"/>
                    </a:solidFill>
                  </a:tcPr>
                </a:tc>
                <a:tc>
                  <a:txBody>
                    <a:bodyPr/>
                    <a:lstStyle/>
                    <a:p>
                      <a:pPr algn="ctr">
                        <a:defRPr sz="1100">
                          <a:solidFill>
                            <a:srgbClr val="333333"/>
                          </a:solidFill>
                        </a:defRPr>
                      </a:pPr>
                      <a:r>
                        <a:rPr sz="1200" dirty="0"/>
                        <a:t>R385, 12V DC, Diaphragm, 1.5 L/min</a:t>
                      </a:r>
                    </a:p>
                  </a:txBody>
                  <a:tcPr anchor="ctr">
                    <a:solidFill>
                      <a:srgbClr val="FFFFFF"/>
                    </a:solidFill>
                  </a:tcPr>
                </a:tc>
                <a:extLst>
                  <a:ext uri="{0D108BD9-81ED-4DB2-BD59-A6C34878D82A}">
                    <a16:rowId xmlns:a16="http://schemas.microsoft.com/office/drawing/2014/main" val="10006"/>
                  </a:ext>
                </a:extLst>
              </a:tr>
              <a:tr h="194289">
                <a:tc>
                  <a:txBody>
                    <a:bodyPr/>
                    <a:lstStyle/>
                    <a:p>
                      <a:pPr algn="ctr">
                        <a:defRPr sz="1100">
                          <a:solidFill>
                            <a:srgbClr val="333333"/>
                          </a:solidFill>
                        </a:defRPr>
                      </a:pPr>
                      <a:r>
                        <a:rPr sz="1200" dirty="0"/>
                        <a:t>7</a:t>
                      </a:r>
                    </a:p>
                  </a:txBody>
                  <a:tcPr anchor="ctr">
                    <a:solidFill>
                      <a:srgbClr val="F2F2F2"/>
                    </a:solidFill>
                  </a:tcPr>
                </a:tc>
                <a:tc>
                  <a:txBody>
                    <a:bodyPr/>
                    <a:lstStyle/>
                    <a:p>
                      <a:pPr algn="ctr">
                        <a:defRPr sz="1100">
                          <a:solidFill>
                            <a:srgbClr val="333333"/>
                          </a:solidFill>
                        </a:defRPr>
                      </a:pPr>
                      <a:r>
                        <a:rPr sz="1200" dirty="0"/>
                        <a:t>Battery + Holder</a:t>
                      </a:r>
                    </a:p>
                  </a:txBody>
                  <a:tcPr anchor="ctr">
                    <a:solidFill>
                      <a:srgbClr val="F2F2F2"/>
                    </a:solidFill>
                  </a:tcPr>
                </a:tc>
                <a:tc>
                  <a:txBody>
                    <a:bodyPr/>
                    <a:lstStyle/>
                    <a:p>
                      <a:pPr algn="ctr">
                        <a:defRPr sz="1100">
                          <a:solidFill>
                            <a:srgbClr val="333333"/>
                          </a:solidFill>
                        </a:defRPr>
                      </a:pPr>
                      <a:r>
                        <a:rPr sz="1200" dirty="0"/>
                        <a:t>3x 18650 Li-ion (3.7V, 2600mAh) + Holder</a:t>
                      </a:r>
                    </a:p>
                  </a:txBody>
                  <a:tcPr anchor="ctr">
                    <a:solidFill>
                      <a:srgbClr val="F2F2F2"/>
                    </a:solidFill>
                  </a:tcPr>
                </a:tc>
                <a:extLst>
                  <a:ext uri="{0D108BD9-81ED-4DB2-BD59-A6C34878D82A}">
                    <a16:rowId xmlns:a16="http://schemas.microsoft.com/office/drawing/2014/main" val="10007"/>
                  </a:ext>
                </a:extLst>
              </a:tr>
              <a:tr h="194289">
                <a:tc>
                  <a:txBody>
                    <a:bodyPr/>
                    <a:lstStyle/>
                    <a:p>
                      <a:pPr algn="ctr">
                        <a:defRPr sz="1100">
                          <a:solidFill>
                            <a:srgbClr val="333333"/>
                          </a:solidFill>
                        </a:defRPr>
                      </a:pPr>
                      <a:r>
                        <a:rPr sz="1200"/>
                        <a:t>8</a:t>
                      </a:r>
                    </a:p>
                  </a:txBody>
                  <a:tcPr anchor="ctr">
                    <a:solidFill>
                      <a:srgbClr val="FFFFFF"/>
                    </a:solidFill>
                  </a:tcPr>
                </a:tc>
                <a:tc>
                  <a:txBody>
                    <a:bodyPr/>
                    <a:lstStyle/>
                    <a:p>
                      <a:pPr algn="ctr">
                        <a:defRPr sz="1100">
                          <a:solidFill>
                            <a:srgbClr val="333333"/>
                          </a:solidFill>
                        </a:defRPr>
                      </a:pPr>
                      <a:r>
                        <a:rPr sz="1200" dirty="0"/>
                        <a:t>Buck Converter</a:t>
                      </a:r>
                    </a:p>
                  </a:txBody>
                  <a:tcPr anchor="ctr">
                    <a:solidFill>
                      <a:srgbClr val="FFFFFF"/>
                    </a:solidFill>
                  </a:tcPr>
                </a:tc>
                <a:tc>
                  <a:txBody>
                    <a:bodyPr/>
                    <a:lstStyle/>
                    <a:p>
                      <a:pPr algn="ctr">
                        <a:defRPr sz="1100">
                          <a:solidFill>
                            <a:srgbClr val="333333"/>
                          </a:solidFill>
                        </a:defRPr>
                      </a:pPr>
                      <a:r>
                        <a:rPr sz="1200" dirty="0"/>
                        <a:t>LM2596, Adjustable, 12V to 5V</a:t>
                      </a:r>
                    </a:p>
                  </a:txBody>
                  <a:tcPr anchor="ctr">
                    <a:solidFill>
                      <a:srgbClr val="FFFFFF"/>
                    </a:solidFill>
                  </a:tcPr>
                </a:tc>
                <a:extLst>
                  <a:ext uri="{0D108BD9-81ED-4DB2-BD59-A6C34878D82A}">
                    <a16:rowId xmlns:a16="http://schemas.microsoft.com/office/drawing/2014/main" val="10008"/>
                  </a:ext>
                </a:extLst>
              </a:tr>
              <a:tr h="194289">
                <a:tc>
                  <a:txBody>
                    <a:bodyPr/>
                    <a:lstStyle/>
                    <a:p>
                      <a:pPr algn="ctr">
                        <a:defRPr sz="1100">
                          <a:solidFill>
                            <a:srgbClr val="333333"/>
                          </a:solidFill>
                        </a:defRPr>
                      </a:pPr>
                      <a:r>
                        <a:rPr sz="1200"/>
                        <a:t>9</a:t>
                      </a:r>
                    </a:p>
                  </a:txBody>
                  <a:tcPr anchor="ctr">
                    <a:solidFill>
                      <a:srgbClr val="F2F2F2"/>
                    </a:solidFill>
                  </a:tcPr>
                </a:tc>
                <a:tc>
                  <a:txBody>
                    <a:bodyPr/>
                    <a:lstStyle/>
                    <a:p>
                      <a:pPr algn="ctr">
                        <a:defRPr sz="1100">
                          <a:solidFill>
                            <a:srgbClr val="333333"/>
                          </a:solidFill>
                        </a:defRPr>
                      </a:pPr>
                      <a:r>
                        <a:rPr sz="1200" dirty="0"/>
                        <a:t>Spray Nozzle</a:t>
                      </a:r>
                    </a:p>
                  </a:txBody>
                  <a:tcPr anchor="ctr">
                    <a:solidFill>
                      <a:srgbClr val="F2F2F2"/>
                    </a:solidFill>
                  </a:tcPr>
                </a:tc>
                <a:tc>
                  <a:txBody>
                    <a:bodyPr/>
                    <a:lstStyle/>
                    <a:p>
                      <a:pPr algn="ctr">
                        <a:defRPr sz="1100">
                          <a:solidFill>
                            <a:srgbClr val="333333"/>
                          </a:solidFill>
                        </a:defRPr>
                      </a:pPr>
                      <a:r>
                        <a:rPr sz="1200" dirty="0"/>
                        <a:t>Brass, Hollow Cone, 1/4 inch</a:t>
                      </a:r>
                    </a:p>
                  </a:txBody>
                  <a:tcPr anchor="ctr">
                    <a:solidFill>
                      <a:srgbClr val="F2F2F2"/>
                    </a:solidFill>
                  </a:tcPr>
                </a:tc>
                <a:extLst>
                  <a:ext uri="{0D108BD9-81ED-4DB2-BD59-A6C34878D82A}">
                    <a16:rowId xmlns:a16="http://schemas.microsoft.com/office/drawing/2014/main" val="10009"/>
                  </a:ext>
                </a:extLst>
              </a:tr>
              <a:tr h="194289">
                <a:tc>
                  <a:txBody>
                    <a:bodyPr/>
                    <a:lstStyle/>
                    <a:p>
                      <a:pPr algn="ctr">
                        <a:defRPr sz="1100">
                          <a:solidFill>
                            <a:srgbClr val="333333"/>
                          </a:solidFill>
                        </a:defRPr>
                      </a:pPr>
                      <a:r>
                        <a:rPr sz="1200"/>
                        <a:t>10</a:t>
                      </a:r>
                    </a:p>
                  </a:txBody>
                  <a:tcPr anchor="ctr">
                    <a:solidFill>
                      <a:srgbClr val="FFFFFF"/>
                    </a:solidFill>
                  </a:tcPr>
                </a:tc>
                <a:tc>
                  <a:txBody>
                    <a:bodyPr/>
                    <a:lstStyle/>
                    <a:p>
                      <a:pPr algn="ctr">
                        <a:defRPr sz="1100">
                          <a:solidFill>
                            <a:srgbClr val="333333"/>
                          </a:solidFill>
                        </a:defRPr>
                      </a:pPr>
                      <a:r>
                        <a:rPr sz="1200" dirty="0"/>
                        <a:t>Miscellaneous</a:t>
                      </a:r>
                    </a:p>
                  </a:txBody>
                  <a:tcPr anchor="ctr">
                    <a:solidFill>
                      <a:srgbClr val="FFFFFF"/>
                    </a:solidFill>
                  </a:tcPr>
                </a:tc>
                <a:tc>
                  <a:txBody>
                    <a:bodyPr/>
                    <a:lstStyle/>
                    <a:p>
                      <a:pPr algn="ctr">
                        <a:defRPr sz="1100">
                          <a:solidFill>
                            <a:srgbClr val="333333"/>
                          </a:solidFill>
                        </a:defRPr>
                      </a:pPr>
                      <a:r>
                        <a:rPr sz="1200" dirty="0"/>
                        <a:t>Silicone tubing, jumper wires, button, breadboard</a:t>
                      </a:r>
                    </a:p>
                  </a:txBody>
                  <a:tcPr anchor="ctr">
                    <a:solidFill>
                      <a:srgbClr val="FFFFFF"/>
                    </a:solidFill>
                  </a:tcPr>
                </a:tc>
                <a:extLst>
                  <a:ext uri="{0D108BD9-81ED-4DB2-BD59-A6C34878D82A}">
                    <a16:rowId xmlns:a16="http://schemas.microsoft.com/office/drawing/2014/main" val="10010"/>
                  </a:ext>
                </a:extLst>
              </a:tr>
            </a:tbl>
          </a:graphicData>
        </a:graphic>
      </p:graphicFrame>
      <p:sp>
        <p:nvSpPr>
          <p:cNvPr id="3" name="Rectangle 2"/>
          <p:cNvSpPr/>
          <p:nvPr/>
        </p:nvSpPr>
        <p:spPr>
          <a:xfrm>
            <a:off x="2375309" y="3739389"/>
            <a:ext cx="4393382" cy="492443"/>
          </a:xfrm>
          <a:prstGeom prst="rect">
            <a:avLst/>
          </a:prstGeom>
        </p:spPr>
        <p:txBody>
          <a:bodyPr wrap="none">
            <a:spAutoFit/>
          </a:bodyPr>
          <a:lstStyle/>
          <a:p>
            <a:r>
              <a:rPr lang="en-IN" sz="2600" b="1" dirty="0">
                <a:solidFill>
                  <a:schemeClr val="tx2">
                    <a:lumMod val="50000"/>
                  </a:schemeClr>
                </a:solidFill>
              </a:rPr>
              <a:t>Software Tools &amp; Technologies</a:t>
            </a:r>
          </a:p>
        </p:txBody>
      </p:sp>
      <p:graphicFrame>
        <p:nvGraphicFramePr>
          <p:cNvPr id="5" name="Table 4"/>
          <p:cNvGraphicFramePr>
            <a:graphicFrameLocks noGrp="1"/>
          </p:cNvGraphicFramePr>
          <p:nvPr>
            <p:extLst>
              <p:ext uri="{D42A27DB-BD31-4B8C-83A1-F6EECF244321}">
                <p14:modId xmlns:p14="http://schemas.microsoft.com/office/powerpoint/2010/main" val="3753717542"/>
              </p:ext>
            </p:extLst>
          </p:nvPr>
        </p:nvGraphicFramePr>
        <p:xfrm>
          <a:off x="457200" y="4283016"/>
          <a:ext cx="8595360" cy="2255520"/>
        </p:xfrm>
        <a:graphic>
          <a:graphicData uri="http://schemas.openxmlformats.org/drawingml/2006/table">
            <a:tbl>
              <a:tblPr firstRow="1" bandRow="1">
                <a:tableStyleId>{5C22544A-7EE6-4342-B048-85BDC9FD1C3A}</a:tableStyleId>
              </a:tblPr>
              <a:tblGrid>
                <a:gridCol w="1792224">
                  <a:extLst>
                    <a:ext uri="{9D8B030D-6E8A-4147-A177-3AD203B41FA5}">
                      <a16:colId xmlns:a16="http://schemas.microsoft.com/office/drawing/2014/main" val="4246321214"/>
                    </a:ext>
                  </a:extLst>
                </a:gridCol>
                <a:gridCol w="3877056">
                  <a:extLst>
                    <a:ext uri="{9D8B030D-6E8A-4147-A177-3AD203B41FA5}">
                      <a16:colId xmlns:a16="http://schemas.microsoft.com/office/drawing/2014/main" val="2758490322"/>
                    </a:ext>
                  </a:extLst>
                </a:gridCol>
                <a:gridCol w="2926080">
                  <a:extLst>
                    <a:ext uri="{9D8B030D-6E8A-4147-A177-3AD203B41FA5}">
                      <a16:colId xmlns:a16="http://schemas.microsoft.com/office/drawing/2014/main" val="2373041423"/>
                    </a:ext>
                  </a:extLst>
                </a:gridCol>
              </a:tblGrid>
              <a:tr h="333126">
                <a:tc>
                  <a:txBody>
                    <a:bodyPr/>
                    <a:lstStyle/>
                    <a:p>
                      <a:pPr algn="ctr">
                        <a:defRPr sz="1200" b="1">
                          <a:solidFill>
                            <a:srgbClr val="FFFFFF"/>
                          </a:solidFill>
                        </a:defRPr>
                      </a:pPr>
                      <a:r>
                        <a:rPr sz="1600" dirty="0"/>
                        <a:t>Layer</a:t>
                      </a:r>
                    </a:p>
                  </a:txBody>
                  <a:tcPr anchor="ctr">
                    <a:solidFill>
                      <a:srgbClr val="1B3A5C"/>
                    </a:solidFill>
                  </a:tcPr>
                </a:tc>
                <a:tc>
                  <a:txBody>
                    <a:bodyPr/>
                    <a:lstStyle/>
                    <a:p>
                      <a:pPr algn="ctr">
                        <a:defRPr sz="1200" b="1">
                          <a:solidFill>
                            <a:srgbClr val="FFFFFF"/>
                          </a:solidFill>
                        </a:defRPr>
                      </a:pPr>
                      <a:r>
                        <a:rPr sz="1600" dirty="0"/>
                        <a:t>Technology</a:t>
                      </a:r>
                    </a:p>
                  </a:txBody>
                  <a:tcPr anchor="ctr">
                    <a:solidFill>
                      <a:srgbClr val="1B3A5C"/>
                    </a:solidFill>
                  </a:tcPr>
                </a:tc>
                <a:tc>
                  <a:txBody>
                    <a:bodyPr/>
                    <a:lstStyle/>
                    <a:p>
                      <a:pPr algn="ctr">
                        <a:defRPr sz="1200" b="1">
                          <a:solidFill>
                            <a:srgbClr val="FFFFFF"/>
                          </a:solidFill>
                        </a:defRPr>
                      </a:pPr>
                      <a:r>
                        <a:rPr sz="1600" dirty="0"/>
                        <a:t>Purpose</a:t>
                      </a:r>
                    </a:p>
                  </a:txBody>
                  <a:tcPr anchor="ctr">
                    <a:solidFill>
                      <a:srgbClr val="1B3A5C"/>
                    </a:solidFill>
                  </a:tcPr>
                </a:tc>
                <a:extLst>
                  <a:ext uri="{0D108BD9-81ED-4DB2-BD59-A6C34878D82A}">
                    <a16:rowId xmlns:a16="http://schemas.microsoft.com/office/drawing/2014/main" val="3873516356"/>
                  </a:ext>
                </a:extLst>
              </a:tr>
              <a:tr h="257416">
                <a:tc>
                  <a:txBody>
                    <a:bodyPr/>
                    <a:lstStyle/>
                    <a:p>
                      <a:pPr algn="l">
                        <a:defRPr sz="1100">
                          <a:solidFill>
                            <a:srgbClr val="333333"/>
                          </a:solidFill>
                        </a:defRPr>
                      </a:pPr>
                      <a:r>
                        <a:rPr sz="1200" dirty="0"/>
                        <a:t>CNN Training</a:t>
                      </a:r>
                    </a:p>
                  </a:txBody>
                  <a:tcPr anchor="ctr">
                    <a:solidFill>
                      <a:srgbClr val="F2F2F2"/>
                    </a:solidFill>
                  </a:tcPr>
                </a:tc>
                <a:tc>
                  <a:txBody>
                    <a:bodyPr/>
                    <a:lstStyle/>
                    <a:p>
                      <a:pPr algn="l">
                        <a:defRPr sz="1100">
                          <a:solidFill>
                            <a:srgbClr val="333333"/>
                          </a:solidFill>
                        </a:defRPr>
                      </a:pPr>
                      <a:r>
                        <a:rPr sz="1200"/>
                        <a:t>Python 3.x, TensorFlow/Keras, Google Colab (T4 GPU)</a:t>
                      </a:r>
                    </a:p>
                  </a:txBody>
                  <a:tcPr anchor="ctr">
                    <a:solidFill>
                      <a:srgbClr val="F2F2F2"/>
                    </a:solidFill>
                  </a:tcPr>
                </a:tc>
                <a:tc>
                  <a:txBody>
                    <a:bodyPr/>
                    <a:lstStyle/>
                    <a:p>
                      <a:pPr algn="l">
                        <a:defRPr sz="1100">
                          <a:solidFill>
                            <a:srgbClr val="333333"/>
                          </a:solidFill>
                        </a:defRPr>
                      </a:pPr>
                      <a:r>
                        <a:rPr sz="1200"/>
                        <a:t>Model development and training</a:t>
                      </a:r>
                    </a:p>
                  </a:txBody>
                  <a:tcPr anchor="ctr">
                    <a:solidFill>
                      <a:srgbClr val="F2F2F2"/>
                    </a:solidFill>
                  </a:tcPr>
                </a:tc>
                <a:extLst>
                  <a:ext uri="{0D108BD9-81ED-4DB2-BD59-A6C34878D82A}">
                    <a16:rowId xmlns:a16="http://schemas.microsoft.com/office/drawing/2014/main" val="971987456"/>
                  </a:ext>
                </a:extLst>
              </a:tr>
              <a:tr h="257416">
                <a:tc>
                  <a:txBody>
                    <a:bodyPr/>
                    <a:lstStyle/>
                    <a:p>
                      <a:pPr algn="l">
                        <a:defRPr sz="1100">
                          <a:solidFill>
                            <a:srgbClr val="333333"/>
                          </a:solidFill>
                        </a:defRPr>
                      </a:pPr>
                      <a:r>
                        <a:rPr sz="1200" dirty="0"/>
                        <a:t>Model Architecture</a:t>
                      </a:r>
                    </a:p>
                  </a:txBody>
                  <a:tcPr anchor="ctr">
                    <a:solidFill>
                      <a:srgbClr val="FFFFFF"/>
                    </a:solidFill>
                  </a:tcPr>
                </a:tc>
                <a:tc>
                  <a:txBody>
                    <a:bodyPr/>
                    <a:lstStyle/>
                    <a:p>
                      <a:pPr algn="l">
                        <a:defRPr sz="1100">
                          <a:solidFill>
                            <a:srgbClr val="333333"/>
                          </a:solidFill>
                        </a:defRPr>
                      </a:pPr>
                      <a:r>
                        <a:rPr sz="1200" dirty="0"/>
                        <a:t>MobileNetV2 (ImageNet </a:t>
                      </a:r>
                      <a:r>
                        <a:rPr sz="1200" dirty="0" err="1"/>
                        <a:t>pretrained</a:t>
                      </a:r>
                      <a:r>
                        <a:rPr sz="1200" dirty="0"/>
                        <a:t>)</a:t>
                      </a:r>
                    </a:p>
                  </a:txBody>
                  <a:tcPr anchor="ctr">
                    <a:solidFill>
                      <a:srgbClr val="FFFFFF"/>
                    </a:solidFill>
                  </a:tcPr>
                </a:tc>
                <a:tc>
                  <a:txBody>
                    <a:bodyPr/>
                    <a:lstStyle/>
                    <a:p>
                      <a:pPr algn="l">
                        <a:defRPr sz="1100">
                          <a:solidFill>
                            <a:srgbClr val="333333"/>
                          </a:solidFill>
                        </a:defRPr>
                      </a:pPr>
                      <a:r>
                        <a:rPr sz="1200"/>
                        <a:t>Lightweight CNN for disease classification</a:t>
                      </a:r>
                    </a:p>
                  </a:txBody>
                  <a:tcPr anchor="ctr">
                    <a:solidFill>
                      <a:srgbClr val="FFFFFF"/>
                    </a:solidFill>
                  </a:tcPr>
                </a:tc>
                <a:extLst>
                  <a:ext uri="{0D108BD9-81ED-4DB2-BD59-A6C34878D82A}">
                    <a16:rowId xmlns:a16="http://schemas.microsoft.com/office/drawing/2014/main" val="3843882451"/>
                  </a:ext>
                </a:extLst>
              </a:tr>
              <a:tr h="257416">
                <a:tc>
                  <a:txBody>
                    <a:bodyPr/>
                    <a:lstStyle/>
                    <a:p>
                      <a:pPr algn="l">
                        <a:defRPr sz="1100">
                          <a:solidFill>
                            <a:srgbClr val="333333"/>
                          </a:solidFill>
                        </a:defRPr>
                      </a:pPr>
                      <a:r>
                        <a:rPr sz="1200" dirty="0"/>
                        <a:t>Inference API</a:t>
                      </a:r>
                    </a:p>
                  </a:txBody>
                  <a:tcPr anchor="ctr">
                    <a:solidFill>
                      <a:srgbClr val="F2F2F2"/>
                    </a:solidFill>
                  </a:tcPr>
                </a:tc>
                <a:tc>
                  <a:txBody>
                    <a:bodyPr/>
                    <a:lstStyle/>
                    <a:p>
                      <a:pPr algn="l">
                        <a:defRPr sz="1100">
                          <a:solidFill>
                            <a:srgbClr val="333333"/>
                          </a:solidFill>
                        </a:defRPr>
                      </a:pPr>
                      <a:r>
                        <a:rPr sz="1200" dirty="0"/>
                        <a:t>Flask + </a:t>
                      </a:r>
                      <a:r>
                        <a:rPr sz="1200" dirty="0" err="1"/>
                        <a:t>pyngrok</a:t>
                      </a:r>
                      <a:endParaRPr sz="1200" dirty="0"/>
                    </a:p>
                  </a:txBody>
                  <a:tcPr anchor="ctr">
                    <a:solidFill>
                      <a:srgbClr val="F2F2F2"/>
                    </a:solidFill>
                  </a:tcPr>
                </a:tc>
                <a:tc>
                  <a:txBody>
                    <a:bodyPr/>
                    <a:lstStyle/>
                    <a:p>
                      <a:pPr algn="l">
                        <a:defRPr sz="1100">
                          <a:solidFill>
                            <a:srgbClr val="333333"/>
                          </a:solidFill>
                        </a:defRPr>
                      </a:pPr>
                      <a:r>
                        <a:rPr sz="1200"/>
                        <a:t>REST endpoint for image classification</a:t>
                      </a:r>
                    </a:p>
                  </a:txBody>
                  <a:tcPr anchor="ctr">
                    <a:solidFill>
                      <a:srgbClr val="F2F2F2"/>
                    </a:solidFill>
                  </a:tcPr>
                </a:tc>
                <a:extLst>
                  <a:ext uri="{0D108BD9-81ED-4DB2-BD59-A6C34878D82A}">
                    <a16:rowId xmlns:a16="http://schemas.microsoft.com/office/drawing/2014/main" val="2833684246"/>
                  </a:ext>
                </a:extLst>
              </a:tr>
              <a:tr h="257416">
                <a:tc>
                  <a:txBody>
                    <a:bodyPr/>
                    <a:lstStyle/>
                    <a:p>
                      <a:pPr algn="l">
                        <a:defRPr sz="1100">
                          <a:solidFill>
                            <a:srgbClr val="333333"/>
                          </a:solidFill>
                        </a:defRPr>
                      </a:pPr>
                      <a:r>
                        <a:rPr sz="1200"/>
                        <a:t>ESP32-CAM Firmware</a:t>
                      </a:r>
                    </a:p>
                  </a:txBody>
                  <a:tcPr anchor="ctr">
                    <a:solidFill>
                      <a:srgbClr val="FFFFFF"/>
                    </a:solidFill>
                  </a:tcPr>
                </a:tc>
                <a:tc>
                  <a:txBody>
                    <a:bodyPr/>
                    <a:lstStyle/>
                    <a:p>
                      <a:pPr algn="l">
                        <a:defRPr sz="1100">
                          <a:solidFill>
                            <a:srgbClr val="333333"/>
                          </a:solidFill>
                        </a:defRPr>
                      </a:pPr>
                      <a:r>
                        <a:rPr sz="1200" dirty="0"/>
                        <a:t>Arduino IDE, ESP32 Board Package, </a:t>
                      </a:r>
                      <a:r>
                        <a:rPr sz="1200" dirty="0" err="1"/>
                        <a:t>HTTPClient</a:t>
                      </a:r>
                      <a:endParaRPr sz="1200" dirty="0"/>
                    </a:p>
                  </a:txBody>
                  <a:tcPr anchor="ctr">
                    <a:solidFill>
                      <a:srgbClr val="FFFFFF"/>
                    </a:solidFill>
                  </a:tcPr>
                </a:tc>
                <a:tc>
                  <a:txBody>
                    <a:bodyPr/>
                    <a:lstStyle/>
                    <a:p>
                      <a:pPr algn="l">
                        <a:defRPr sz="1100">
                          <a:solidFill>
                            <a:srgbClr val="333333"/>
                          </a:solidFill>
                        </a:defRPr>
                      </a:pPr>
                      <a:r>
                        <a:rPr sz="1200"/>
                        <a:t>Camera control, WiFi comm, serial output</a:t>
                      </a:r>
                    </a:p>
                  </a:txBody>
                  <a:tcPr anchor="ctr">
                    <a:solidFill>
                      <a:srgbClr val="FFFFFF"/>
                    </a:solidFill>
                  </a:tcPr>
                </a:tc>
                <a:extLst>
                  <a:ext uri="{0D108BD9-81ED-4DB2-BD59-A6C34878D82A}">
                    <a16:rowId xmlns:a16="http://schemas.microsoft.com/office/drawing/2014/main" val="1961010058"/>
                  </a:ext>
                </a:extLst>
              </a:tr>
              <a:tr h="257416">
                <a:tc>
                  <a:txBody>
                    <a:bodyPr/>
                    <a:lstStyle/>
                    <a:p>
                      <a:pPr algn="l">
                        <a:defRPr sz="1100">
                          <a:solidFill>
                            <a:srgbClr val="333333"/>
                          </a:solidFill>
                        </a:defRPr>
                      </a:pPr>
                      <a:r>
                        <a:rPr sz="1200"/>
                        <a:t>Arduino Firmware</a:t>
                      </a:r>
                    </a:p>
                  </a:txBody>
                  <a:tcPr anchor="ctr">
                    <a:solidFill>
                      <a:srgbClr val="F2F2F2"/>
                    </a:solidFill>
                  </a:tcPr>
                </a:tc>
                <a:tc>
                  <a:txBody>
                    <a:bodyPr/>
                    <a:lstStyle/>
                    <a:p>
                      <a:pPr algn="l">
                        <a:defRPr sz="1100">
                          <a:solidFill>
                            <a:srgbClr val="333333"/>
                          </a:solidFill>
                        </a:defRPr>
                      </a:pPr>
                      <a:r>
                        <a:rPr sz="1200" dirty="0"/>
                        <a:t>Arduino IDE, </a:t>
                      </a:r>
                      <a:r>
                        <a:rPr sz="1200" dirty="0" err="1"/>
                        <a:t>SoftwareSerial</a:t>
                      </a:r>
                      <a:endParaRPr sz="1200" dirty="0"/>
                    </a:p>
                  </a:txBody>
                  <a:tcPr anchor="ctr">
                    <a:solidFill>
                      <a:srgbClr val="F2F2F2"/>
                    </a:solidFill>
                  </a:tcPr>
                </a:tc>
                <a:tc>
                  <a:txBody>
                    <a:bodyPr/>
                    <a:lstStyle/>
                    <a:p>
                      <a:pPr algn="l">
                        <a:defRPr sz="1100">
                          <a:solidFill>
                            <a:srgbClr val="333333"/>
                          </a:solidFill>
                        </a:defRPr>
                      </a:pPr>
                      <a:r>
                        <a:rPr sz="1200" dirty="0"/>
                        <a:t>Valve timing control logic</a:t>
                      </a:r>
                    </a:p>
                  </a:txBody>
                  <a:tcPr anchor="ctr">
                    <a:solidFill>
                      <a:srgbClr val="F2F2F2"/>
                    </a:solidFill>
                  </a:tcPr>
                </a:tc>
                <a:extLst>
                  <a:ext uri="{0D108BD9-81ED-4DB2-BD59-A6C34878D82A}">
                    <a16:rowId xmlns:a16="http://schemas.microsoft.com/office/drawing/2014/main" val="3526238080"/>
                  </a:ext>
                </a:extLst>
              </a:tr>
              <a:tr h="257416">
                <a:tc>
                  <a:txBody>
                    <a:bodyPr/>
                    <a:lstStyle/>
                    <a:p>
                      <a:pPr algn="l">
                        <a:defRPr sz="1100">
                          <a:solidFill>
                            <a:srgbClr val="333333"/>
                          </a:solidFill>
                        </a:defRPr>
                      </a:pPr>
                      <a:r>
                        <a:rPr sz="1200"/>
                        <a:t>IoT Dashboard</a:t>
                      </a:r>
                    </a:p>
                  </a:txBody>
                  <a:tcPr anchor="ctr">
                    <a:solidFill>
                      <a:srgbClr val="FFFFFF"/>
                    </a:solidFill>
                  </a:tcPr>
                </a:tc>
                <a:tc>
                  <a:txBody>
                    <a:bodyPr/>
                    <a:lstStyle/>
                    <a:p>
                      <a:pPr algn="l">
                        <a:defRPr sz="1100">
                          <a:solidFill>
                            <a:srgbClr val="333333"/>
                          </a:solidFill>
                        </a:defRPr>
                      </a:pPr>
                      <a:r>
                        <a:rPr sz="1200" dirty="0" err="1"/>
                        <a:t>Blynk</a:t>
                      </a:r>
                      <a:r>
                        <a:rPr sz="1200" dirty="0"/>
                        <a:t> </a:t>
                      </a:r>
                      <a:r>
                        <a:rPr sz="1200" dirty="0" err="1"/>
                        <a:t>IoT</a:t>
                      </a:r>
                      <a:r>
                        <a:rPr sz="1200" dirty="0"/>
                        <a:t> (Free Tier), </a:t>
                      </a:r>
                      <a:r>
                        <a:rPr sz="1200" dirty="0" err="1"/>
                        <a:t>Blynk</a:t>
                      </a:r>
                      <a:r>
                        <a:rPr sz="1200" dirty="0"/>
                        <a:t> Library</a:t>
                      </a:r>
                    </a:p>
                  </a:txBody>
                  <a:tcPr anchor="ctr">
                    <a:solidFill>
                      <a:srgbClr val="FFFFFF"/>
                    </a:solidFill>
                  </a:tcPr>
                </a:tc>
                <a:tc>
                  <a:txBody>
                    <a:bodyPr/>
                    <a:lstStyle/>
                    <a:p>
                      <a:pPr algn="l">
                        <a:defRPr sz="1100">
                          <a:solidFill>
                            <a:srgbClr val="333333"/>
                          </a:solidFill>
                        </a:defRPr>
                      </a:pPr>
                      <a:r>
                        <a:rPr sz="1200" dirty="0"/>
                        <a:t>Remote monitoring and alerts</a:t>
                      </a:r>
                    </a:p>
                  </a:txBody>
                  <a:tcPr anchor="ctr">
                    <a:solidFill>
                      <a:srgbClr val="FFFFFF"/>
                    </a:solidFill>
                  </a:tcPr>
                </a:tc>
                <a:extLst>
                  <a:ext uri="{0D108BD9-81ED-4DB2-BD59-A6C34878D82A}">
                    <a16:rowId xmlns:a16="http://schemas.microsoft.com/office/drawing/2014/main" val="1299064983"/>
                  </a:ext>
                </a:extLst>
              </a:tr>
              <a:tr h="257416">
                <a:tc>
                  <a:txBody>
                    <a:bodyPr/>
                    <a:lstStyle/>
                    <a:p>
                      <a:pPr algn="l">
                        <a:defRPr sz="1100">
                          <a:solidFill>
                            <a:srgbClr val="333333"/>
                          </a:solidFill>
                        </a:defRPr>
                      </a:pPr>
                      <a:r>
                        <a:rPr sz="1200"/>
                        <a:t>Dataset</a:t>
                      </a:r>
                    </a:p>
                  </a:txBody>
                  <a:tcPr anchor="ctr">
                    <a:solidFill>
                      <a:srgbClr val="F2F2F2"/>
                    </a:solidFill>
                  </a:tcPr>
                </a:tc>
                <a:tc>
                  <a:txBody>
                    <a:bodyPr/>
                    <a:lstStyle/>
                    <a:p>
                      <a:pPr algn="l">
                        <a:defRPr sz="1100">
                          <a:solidFill>
                            <a:srgbClr val="333333"/>
                          </a:solidFill>
                        </a:defRPr>
                      </a:pPr>
                      <a:r>
                        <a:rPr sz="1200" dirty="0" err="1"/>
                        <a:t>Kaggle</a:t>
                      </a:r>
                      <a:r>
                        <a:rPr sz="1200" dirty="0"/>
                        <a:t> Rice Leaf Disease Dataset</a:t>
                      </a:r>
                    </a:p>
                  </a:txBody>
                  <a:tcPr anchor="ctr">
                    <a:solidFill>
                      <a:srgbClr val="F2F2F2"/>
                    </a:solidFill>
                  </a:tcPr>
                </a:tc>
                <a:tc>
                  <a:txBody>
                    <a:bodyPr/>
                    <a:lstStyle/>
                    <a:p>
                      <a:pPr algn="l">
                        <a:defRPr sz="1100">
                          <a:solidFill>
                            <a:srgbClr val="333333"/>
                          </a:solidFill>
                        </a:defRPr>
                      </a:pPr>
                      <a:r>
                        <a:rPr sz="1200" dirty="0"/>
                        <a:t>4-class labeled paddy leaf images</a:t>
                      </a:r>
                    </a:p>
                  </a:txBody>
                  <a:tcPr anchor="ctr">
                    <a:solidFill>
                      <a:srgbClr val="F2F2F2"/>
                    </a:solidFill>
                  </a:tcPr>
                </a:tc>
                <a:extLst>
                  <a:ext uri="{0D108BD9-81ED-4DB2-BD59-A6C34878D82A}">
                    <a16:rowId xmlns:a16="http://schemas.microsoft.com/office/drawing/2014/main" val="557209937"/>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728"/>
            <a:ext cx="8229600" cy="566610"/>
          </a:xfrm>
        </p:spPr>
        <p:txBody>
          <a:bodyPr/>
          <a:lstStyle/>
          <a:p>
            <a:pPr>
              <a:defRPr sz="2600" b="1">
                <a:solidFill>
                  <a:srgbClr val="1B3A5C"/>
                </a:solidFill>
              </a:defRPr>
            </a:pPr>
            <a:r>
              <a:rPr lang="en-IN" dirty="0"/>
              <a:t>Feasibility Analysis</a:t>
            </a:r>
          </a:p>
        </p:txBody>
      </p:sp>
      <p:graphicFrame>
        <p:nvGraphicFramePr>
          <p:cNvPr id="4" name="Table 3"/>
          <p:cNvGraphicFramePr>
            <a:graphicFrameLocks noGrp="1"/>
          </p:cNvGraphicFramePr>
          <p:nvPr>
            <p:extLst>
              <p:ext uri="{D42A27DB-BD31-4B8C-83A1-F6EECF244321}">
                <p14:modId xmlns:p14="http://schemas.microsoft.com/office/powerpoint/2010/main" val="2472994829"/>
              </p:ext>
            </p:extLst>
          </p:nvPr>
        </p:nvGraphicFramePr>
        <p:xfrm>
          <a:off x="274320" y="741564"/>
          <a:ext cx="8595360" cy="2321524"/>
        </p:xfrm>
        <a:graphic>
          <a:graphicData uri="http://schemas.openxmlformats.org/drawingml/2006/table">
            <a:tbl>
              <a:tblPr firstRow="1" bandRow="1">
                <a:tableStyleId>{5C22544A-7EE6-4342-B048-85BDC9FD1C3A}</a:tableStyleId>
              </a:tblPr>
              <a:tblGrid>
                <a:gridCol w="1234440">
                  <a:extLst>
                    <a:ext uri="{9D8B030D-6E8A-4147-A177-3AD203B41FA5}">
                      <a16:colId xmlns:a16="http://schemas.microsoft.com/office/drawing/2014/main" val="20000"/>
                    </a:ext>
                  </a:extLst>
                </a:gridCol>
                <a:gridCol w="7360920">
                  <a:extLst>
                    <a:ext uri="{9D8B030D-6E8A-4147-A177-3AD203B41FA5}">
                      <a16:colId xmlns:a16="http://schemas.microsoft.com/office/drawing/2014/main" val="20001"/>
                    </a:ext>
                  </a:extLst>
                </a:gridCol>
              </a:tblGrid>
              <a:tr h="270721">
                <a:tc>
                  <a:txBody>
                    <a:bodyPr/>
                    <a:lstStyle/>
                    <a:p>
                      <a:pPr algn="ctr">
                        <a:defRPr sz="1200" b="1">
                          <a:solidFill>
                            <a:srgbClr val="FFFFFF"/>
                          </a:solidFill>
                        </a:defRPr>
                      </a:pPr>
                      <a:r>
                        <a:rPr sz="1800" dirty="0"/>
                        <a:t>Factor</a:t>
                      </a:r>
                    </a:p>
                  </a:txBody>
                  <a:tcPr anchor="ctr">
                    <a:solidFill>
                      <a:srgbClr val="1B3A5C"/>
                    </a:solidFill>
                  </a:tcPr>
                </a:tc>
                <a:tc>
                  <a:txBody>
                    <a:bodyPr/>
                    <a:lstStyle/>
                    <a:p>
                      <a:pPr algn="ctr">
                        <a:defRPr sz="1200" b="1">
                          <a:solidFill>
                            <a:srgbClr val="FFFFFF"/>
                          </a:solidFill>
                        </a:defRPr>
                      </a:pPr>
                      <a:r>
                        <a:rPr sz="1800"/>
                        <a:t>Assessment</a:t>
                      </a:r>
                    </a:p>
                  </a:txBody>
                  <a:tcPr anchor="ctr">
                    <a:solidFill>
                      <a:srgbClr val="1B3A5C"/>
                    </a:solidFill>
                  </a:tcPr>
                </a:tc>
                <a:extLst>
                  <a:ext uri="{0D108BD9-81ED-4DB2-BD59-A6C34878D82A}">
                    <a16:rowId xmlns:a16="http://schemas.microsoft.com/office/drawing/2014/main" val="10000"/>
                  </a:ext>
                </a:extLst>
              </a:tr>
              <a:tr h="383522">
                <a:tc>
                  <a:txBody>
                    <a:bodyPr/>
                    <a:lstStyle/>
                    <a:p>
                      <a:pPr>
                        <a:defRPr sz="1100">
                          <a:solidFill>
                            <a:srgbClr val="333333"/>
                          </a:solidFill>
                        </a:defRPr>
                      </a:pPr>
                      <a:r>
                        <a:rPr sz="1200" dirty="0"/>
                        <a:t>Technical</a:t>
                      </a:r>
                    </a:p>
                  </a:txBody>
                  <a:tcPr anchor="ctr">
                    <a:solidFill>
                      <a:srgbClr val="F2F2F2"/>
                    </a:solidFill>
                  </a:tcPr>
                </a:tc>
                <a:tc>
                  <a:txBody>
                    <a:bodyPr/>
                    <a:lstStyle/>
                    <a:p>
                      <a:pPr>
                        <a:defRPr sz="1100">
                          <a:solidFill>
                            <a:srgbClr val="333333"/>
                          </a:solidFill>
                        </a:defRPr>
                      </a:pPr>
                      <a:r>
                        <a:rPr sz="1200" dirty="0"/>
                        <a:t>ESP32-CAM proven </a:t>
                      </a:r>
                      <a:r>
                        <a:rPr sz="1200" dirty="0" err="1"/>
                        <a:t>WiFi+camera</a:t>
                      </a:r>
                      <a:r>
                        <a:rPr sz="1200" dirty="0"/>
                        <a:t>; MobileNetV2 achieves &gt;95% on plant diseases; Arduino + relay well-established for valve control</a:t>
                      </a:r>
                    </a:p>
                  </a:txBody>
                  <a:tcPr anchor="ctr">
                    <a:solidFill>
                      <a:srgbClr val="F2F2F2"/>
                    </a:solidFill>
                  </a:tcPr>
                </a:tc>
                <a:extLst>
                  <a:ext uri="{0D108BD9-81ED-4DB2-BD59-A6C34878D82A}">
                    <a16:rowId xmlns:a16="http://schemas.microsoft.com/office/drawing/2014/main" val="10001"/>
                  </a:ext>
                </a:extLst>
              </a:tr>
              <a:tr h="383522">
                <a:tc>
                  <a:txBody>
                    <a:bodyPr/>
                    <a:lstStyle/>
                    <a:p>
                      <a:pPr>
                        <a:defRPr sz="1100">
                          <a:solidFill>
                            <a:srgbClr val="333333"/>
                          </a:solidFill>
                        </a:defRPr>
                      </a:pPr>
                      <a:r>
                        <a:rPr sz="1200" dirty="0"/>
                        <a:t>Economic</a:t>
                      </a:r>
                    </a:p>
                  </a:txBody>
                  <a:tcPr anchor="ctr">
                    <a:solidFill>
                      <a:srgbClr val="FFFFFF"/>
                    </a:solidFill>
                  </a:tcPr>
                </a:tc>
                <a:tc>
                  <a:txBody>
                    <a:bodyPr/>
                    <a:lstStyle/>
                    <a:p>
                      <a:pPr>
                        <a:defRPr sz="1100">
                          <a:solidFill>
                            <a:srgbClr val="333333"/>
                          </a:solidFill>
                        </a:defRPr>
                      </a:pPr>
                      <a:r>
                        <a:rPr sz="1200" dirty="0"/>
                        <a:t>Total Rs.2375 - affordable for students and small farmers; all software free (</a:t>
                      </a:r>
                      <a:r>
                        <a:rPr sz="1200" dirty="0" err="1"/>
                        <a:t>Colab</a:t>
                      </a:r>
                      <a:r>
                        <a:rPr sz="1200" dirty="0"/>
                        <a:t>, </a:t>
                      </a:r>
                      <a:r>
                        <a:rPr sz="1200" dirty="0" err="1"/>
                        <a:t>Blynk</a:t>
                      </a:r>
                      <a:r>
                        <a:rPr sz="1200" dirty="0"/>
                        <a:t>, Arduino IDE)</a:t>
                      </a:r>
                    </a:p>
                  </a:txBody>
                  <a:tcPr anchor="ctr">
                    <a:solidFill>
                      <a:srgbClr val="FFFFFF"/>
                    </a:solidFill>
                  </a:tcPr>
                </a:tc>
                <a:extLst>
                  <a:ext uri="{0D108BD9-81ED-4DB2-BD59-A6C34878D82A}">
                    <a16:rowId xmlns:a16="http://schemas.microsoft.com/office/drawing/2014/main" val="10002"/>
                  </a:ext>
                </a:extLst>
              </a:tr>
              <a:tr h="383522">
                <a:tc>
                  <a:txBody>
                    <a:bodyPr/>
                    <a:lstStyle/>
                    <a:p>
                      <a:pPr>
                        <a:defRPr sz="1100">
                          <a:solidFill>
                            <a:srgbClr val="333333"/>
                          </a:solidFill>
                        </a:defRPr>
                      </a:pPr>
                      <a:r>
                        <a:rPr sz="1200"/>
                        <a:t>Time</a:t>
                      </a:r>
                    </a:p>
                  </a:txBody>
                  <a:tcPr anchor="ctr">
                    <a:solidFill>
                      <a:srgbClr val="F2F2F2"/>
                    </a:solidFill>
                  </a:tcPr>
                </a:tc>
                <a:tc>
                  <a:txBody>
                    <a:bodyPr/>
                    <a:lstStyle/>
                    <a:p>
                      <a:pPr>
                        <a:defRPr sz="1100">
                          <a:solidFill>
                            <a:srgbClr val="333333"/>
                          </a:solidFill>
                        </a:defRPr>
                      </a:pPr>
                      <a:r>
                        <a:rPr sz="1200" dirty="0"/>
                        <a:t>14 weeks: CNN (2wk) + API (1wk) + Firmware (3wk) + Hardware (2wk) + Integration (3wk) + Testing (2wk) + Report (1wk)</a:t>
                      </a:r>
                    </a:p>
                  </a:txBody>
                  <a:tcPr anchor="ctr">
                    <a:solidFill>
                      <a:srgbClr val="F2F2F2"/>
                    </a:solidFill>
                  </a:tcPr>
                </a:tc>
                <a:extLst>
                  <a:ext uri="{0D108BD9-81ED-4DB2-BD59-A6C34878D82A}">
                    <a16:rowId xmlns:a16="http://schemas.microsoft.com/office/drawing/2014/main" val="10003"/>
                  </a:ext>
                </a:extLst>
              </a:tr>
              <a:tr h="270721">
                <a:tc>
                  <a:txBody>
                    <a:bodyPr/>
                    <a:lstStyle/>
                    <a:p>
                      <a:pPr>
                        <a:defRPr sz="1100">
                          <a:solidFill>
                            <a:srgbClr val="333333"/>
                          </a:solidFill>
                        </a:defRPr>
                      </a:pPr>
                      <a:r>
                        <a:rPr sz="1200"/>
                        <a:t>Data</a:t>
                      </a:r>
                    </a:p>
                  </a:txBody>
                  <a:tcPr anchor="ctr">
                    <a:solidFill>
                      <a:srgbClr val="FFFFFF"/>
                    </a:solidFill>
                  </a:tcPr>
                </a:tc>
                <a:tc>
                  <a:txBody>
                    <a:bodyPr/>
                    <a:lstStyle/>
                    <a:p>
                      <a:pPr>
                        <a:defRPr sz="1100">
                          <a:solidFill>
                            <a:srgbClr val="333333"/>
                          </a:solidFill>
                        </a:defRPr>
                      </a:pPr>
                      <a:r>
                        <a:rPr sz="1200" dirty="0" err="1"/>
                        <a:t>Kaggle</a:t>
                      </a:r>
                      <a:r>
                        <a:rPr sz="1200" dirty="0"/>
                        <a:t> Rice Leaf Disease dataset - publicly available, labeled, sufficient for transfer learning</a:t>
                      </a:r>
                    </a:p>
                  </a:txBody>
                  <a:tcPr anchor="ctr">
                    <a:solidFill>
                      <a:srgbClr val="FFFFFF"/>
                    </a:solidFill>
                  </a:tcPr>
                </a:tc>
                <a:extLst>
                  <a:ext uri="{0D108BD9-81ED-4DB2-BD59-A6C34878D82A}">
                    <a16:rowId xmlns:a16="http://schemas.microsoft.com/office/drawing/2014/main" val="10004"/>
                  </a:ext>
                </a:extLst>
              </a:tr>
              <a:tr h="383522">
                <a:tc>
                  <a:txBody>
                    <a:bodyPr/>
                    <a:lstStyle/>
                    <a:p>
                      <a:pPr>
                        <a:defRPr sz="1100">
                          <a:solidFill>
                            <a:srgbClr val="333333"/>
                          </a:solidFill>
                        </a:defRPr>
                      </a:pPr>
                      <a:r>
                        <a:rPr sz="1200"/>
                        <a:t>Infrastructure</a:t>
                      </a:r>
                    </a:p>
                  </a:txBody>
                  <a:tcPr anchor="ctr">
                    <a:solidFill>
                      <a:srgbClr val="F2F2F2"/>
                    </a:solidFill>
                  </a:tcPr>
                </a:tc>
                <a:tc>
                  <a:txBody>
                    <a:bodyPr/>
                    <a:lstStyle/>
                    <a:p>
                      <a:pPr>
                        <a:defRPr sz="1100">
                          <a:solidFill>
                            <a:srgbClr val="333333"/>
                          </a:solidFill>
                        </a:defRPr>
                      </a:pPr>
                      <a:r>
                        <a:rPr sz="1200" dirty="0"/>
                        <a:t>VIT </a:t>
                      </a:r>
                      <a:r>
                        <a:rPr sz="1200" dirty="0" err="1"/>
                        <a:t>WiFi</a:t>
                      </a:r>
                      <a:r>
                        <a:rPr sz="1200" dirty="0"/>
                        <a:t>/Mobile hotspot for testing; Google </a:t>
                      </a:r>
                      <a:r>
                        <a:rPr sz="1200" dirty="0" err="1"/>
                        <a:t>Colab</a:t>
                      </a:r>
                      <a:r>
                        <a:rPr sz="1200" dirty="0"/>
                        <a:t> free GPU; Components available on Amazon India</a:t>
                      </a:r>
                    </a:p>
                  </a:txBody>
                  <a:tcPr anchor="ctr">
                    <a:solidFill>
                      <a:srgbClr val="F2F2F2"/>
                    </a:solidFill>
                  </a:tcPr>
                </a:tc>
                <a:extLst>
                  <a:ext uri="{0D108BD9-81ED-4DB2-BD59-A6C34878D82A}">
                    <a16:rowId xmlns:a16="http://schemas.microsoft.com/office/drawing/2014/main" val="10005"/>
                  </a:ext>
                </a:extLst>
              </a:tr>
            </a:tbl>
          </a:graphicData>
        </a:graphic>
      </p:graphicFrame>
      <p:sp>
        <p:nvSpPr>
          <p:cNvPr id="3" name="Rectangle 2"/>
          <p:cNvSpPr/>
          <p:nvPr/>
        </p:nvSpPr>
        <p:spPr>
          <a:xfrm>
            <a:off x="2775869" y="3238043"/>
            <a:ext cx="3783728" cy="492443"/>
          </a:xfrm>
          <a:prstGeom prst="rect">
            <a:avLst/>
          </a:prstGeom>
        </p:spPr>
        <p:txBody>
          <a:bodyPr wrap="none">
            <a:spAutoFit/>
          </a:bodyPr>
          <a:lstStyle/>
          <a:p>
            <a:r>
              <a:rPr lang="en-IN" sz="2600" b="1" dirty="0">
                <a:solidFill>
                  <a:schemeClr val="tx2">
                    <a:lumMod val="75000"/>
                  </a:schemeClr>
                </a:solidFill>
              </a:rPr>
              <a:t>Risk Analysis &amp; Mitigation</a:t>
            </a:r>
          </a:p>
        </p:txBody>
      </p:sp>
      <p:graphicFrame>
        <p:nvGraphicFramePr>
          <p:cNvPr id="5" name="Table 4"/>
          <p:cNvGraphicFramePr>
            <a:graphicFrameLocks noGrp="1"/>
          </p:cNvGraphicFramePr>
          <p:nvPr>
            <p:extLst>
              <p:ext uri="{D42A27DB-BD31-4B8C-83A1-F6EECF244321}">
                <p14:modId xmlns:p14="http://schemas.microsoft.com/office/powerpoint/2010/main" val="1050142898"/>
              </p:ext>
            </p:extLst>
          </p:nvPr>
        </p:nvGraphicFramePr>
        <p:xfrm>
          <a:off x="370053" y="3816150"/>
          <a:ext cx="8595360" cy="26517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3672359300"/>
                    </a:ext>
                  </a:extLst>
                </a:gridCol>
                <a:gridCol w="2286000">
                  <a:extLst>
                    <a:ext uri="{9D8B030D-6E8A-4147-A177-3AD203B41FA5}">
                      <a16:colId xmlns:a16="http://schemas.microsoft.com/office/drawing/2014/main" val="457710588"/>
                    </a:ext>
                  </a:extLst>
                </a:gridCol>
                <a:gridCol w="4023360">
                  <a:extLst>
                    <a:ext uri="{9D8B030D-6E8A-4147-A177-3AD203B41FA5}">
                      <a16:colId xmlns:a16="http://schemas.microsoft.com/office/drawing/2014/main" val="63048010"/>
                    </a:ext>
                  </a:extLst>
                </a:gridCol>
              </a:tblGrid>
              <a:tr h="365760">
                <a:tc>
                  <a:txBody>
                    <a:bodyPr/>
                    <a:lstStyle/>
                    <a:p>
                      <a:pPr algn="ctr">
                        <a:defRPr sz="1200" b="1">
                          <a:solidFill>
                            <a:srgbClr val="FFFFFF"/>
                          </a:solidFill>
                        </a:defRPr>
                      </a:pPr>
                      <a:r>
                        <a:rPr sz="1800" dirty="0"/>
                        <a:t>Risk</a:t>
                      </a:r>
                    </a:p>
                  </a:txBody>
                  <a:tcPr anchor="ctr">
                    <a:solidFill>
                      <a:srgbClr val="1B3A5C"/>
                    </a:solidFill>
                  </a:tcPr>
                </a:tc>
                <a:tc>
                  <a:txBody>
                    <a:bodyPr/>
                    <a:lstStyle/>
                    <a:p>
                      <a:pPr algn="ctr">
                        <a:defRPr sz="1200" b="1">
                          <a:solidFill>
                            <a:srgbClr val="FFFFFF"/>
                          </a:solidFill>
                        </a:defRPr>
                      </a:pPr>
                      <a:r>
                        <a:rPr sz="1800"/>
                        <a:t>Impact</a:t>
                      </a:r>
                    </a:p>
                  </a:txBody>
                  <a:tcPr anchor="ctr">
                    <a:solidFill>
                      <a:srgbClr val="1B3A5C"/>
                    </a:solidFill>
                  </a:tcPr>
                </a:tc>
                <a:tc>
                  <a:txBody>
                    <a:bodyPr/>
                    <a:lstStyle/>
                    <a:p>
                      <a:pPr algn="ctr">
                        <a:defRPr sz="1200" b="1">
                          <a:solidFill>
                            <a:srgbClr val="FFFFFF"/>
                          </a:solidFill>
                        </a:defRPr>
                      </a:pPr>
                      <a:r>
                        <a:rPr sz="1800"/>
                        <a:t>Mitigation Strategy</a:t>
                      </a:r>
                    </a:p>
                  </a:txBody>
                  <a:tcPr anchor="ctr">
                    <a:solidFill>
                      <a:srgbClr val="1B3A5C"/>
                    </a:solidFill>
                  </a:tcPr>
                </a:tc>
                <a:extLst>
                  <a:ext uri="{0D108BD9-81ED-4DB2-BD59-A6C34878D82A}">
                    <a16:rowId xmlns:a16="http://schemas.microsoft.com/office/drawing/2014/main" val="3884523134"/>
                  </a:ext>
                </a:extLst>
              </a:tr>
              <a:tr h="365760">
                <a:tc>
                  <a:txBody>
                    <a:bodyPr/>
                    <a:lstStyle/>
                    <a:p>
                      <a:pPr>
                        <a:defRPr sz="1100">
                          <a:solidFill>
                            <a:srgbClr val="333333"/>
                          </a:solidFill>
                        </a:defRPr>
                      </a:pPr>
                      <a:r>
                        <a:rPr sz="1200" dirty="0" err="1"/>
                        <a:t>Colab</a:t>
                      </a:r>
                      <a:r>
                        <a:rPr sz="1200" dirty="0"/>
                        <a:t> session timeout</a:t>
                      </a:r>
                    </a:p>
                  </a:txBody>
                  <a:tcPr anchor="ctr">
                    <a:solidFill>
                      <a:srgbClr val="F2F2F2"/>
                    </a:solidFill>
                  </a:tcPr>
                </a:tc>
                <a:tc>
                  <a:txBody>
                    <a:bodyPr/>
                    <a:lstStyle/>
                    <a:p>
                      <a:pPr>
                        <a:defRPr sz="1100">
                          <a:solidFill>
                            <a:srgbClr val="333333"/>
                          </a:solidFill>
                        </a:defRPr>
                      </a:pPr>
                      <a:r>
                        <a:rPr sz="1200"/>
                        <a:t>API becomes unavailable</a:t>
                      </a:r>
                    </a:p>
                  </a:txBody>
                  <a:tcPr anchor="ctr">
                    <a:solidFill>
                      <a:srgbClr val="F2F2F2"/>
                    </a:solidFill>
                  </a:tcPr>
                </a:tc>
                <a:tc>
                  <a:txBody>
                    <a:bodyPr/>
                    <a:lstStyle/>
                    <a:p>
                      <a:pPr>
                        <a:defRPr sz="1100">
                          <a:solidFill>
                            <a:srgbClr val="333333"/>
                          </a:solidFill>
                        </a:defRPr>
                      </a:pPr>
                      <a:r>
                        <a:rPr sz="1200" dirty="0"/>
                        <a:t>Auto-restart script; backup: local Flask on laptop</a:t>
                      </a:r>
                    </a:p>
                  </a:txBody>
                  <a:tcPr anchor="ctr">
                    <a:solidFill>
                      <a:srgbClr val="F2F2F2"/>
                    </a:solidFill>
                  </a:tcPr>
                </a:tc>
                <a:extLst>
                  <a:ext uri="{0D108BD9-81ED-4DB2-BD59-A6C34878D82A}">
                    <a16:rowId xmlns:a16="http://schemas.microsoft.com/office/drawing/2014/main" val="3698089222"/>
                  </a:ext>
                </a:extLst>
              </a:tr>
              <a:tr h="365760">
                <a:tc>
                  <a:txBody>
                    <a:bodyPr/>
                    <a:lstStyle/>
                    <a:p>
                      <a:pPr>
                        <a:defRPr sz="1100">
                          <a:solidFill>
                            <a:srgbClr val="333333"/>
                          </a:solidFill>
                        </a:defRPr>
                      </a:pPr>
                      <a:r>
                        <a:rPr sz="1200" dirty="0"/>
                        <a:t>No </a:t>
                      </a:r>
                      <a:r>
                        <a:rPr sz="1200" dirty="0" err="1"/>
                        <a:t>WiFi</a:t>
                      </a:r>
                      <a:r>
                        <a:rPr sz="1200" dirty="0"/>
                        <a:t> in field</a:t>
                      </a:r>
                    </a:p>
                  </a:txBody>
                  <a:tcPr anchor="ctr">
                    <a:solidFill>
                      <a:srgbClr val="FFFFFF"/>
                    </a:solidFill>
                  </a:tcPr>
                </a:tc>
                <a:tc>
                  <a:txBody>
                    <a:bodyPr/>
                    <a:lstStyle/>
                    <a:p>
                      <a:pPr>
                        <a:defRPr sz="1100">
                          <a:solidFill>
                            <a:srgbClr val="333333"/>
                          </a:solidFill>
                        </a:defRPr>
                      </a:pPr>
                      <a:r>
                        <a:rPr sz="1200" dirty="0"/>
                        <a:t>Cannot send image for inference</a:t>
                      </a:r>
                    </a:p>
                  </a:txBody>
                  <a:tcPr anchor="ctr">
                    <a:solidFill>
                      <a:srgbClr val="FFFFFF"/>
                    </a:solidFill>
                  </a:tcPr>
                </a:tc>
                <a:tc>
                  <a:txBody>
                    <a:bodyPr/>
                    <a:lstStyle/>
                    <a:p>
                      <a:pPr>
                        <a:defRPr sz="1100">
                          <a:solidFill>
                            <a:srgbClr val="333333"/>
                          </a:solidFill>
                        </a:defRPr>
                      </a:pPr>
                      <a:r>
                        <a:rPr sz="1200" dirty="0"/>
                        <a:t>Mobile hotspot; future scope: </a:t>
                      </a:r>
                      <a:r>
                        <a:rPr sz="1200" dirty="0" err="1"/>
                        <a:t>TFLite</a:t>
                      </a:r>
                      <a:r>
                        <a:rPr sz="1200" dirty="0"/>
                        <a:t> on-device</a:t>
                      </a:r>
                    </a:p>
                  </a:txBody>
                  <a:tcPr anchor="ctr">
                    <a:solidFill>
                      <a:srgbClr val="FFFFFF"/>
                    </a:solidFill>
                  </a:tcPr>
                </a:tc>
                <a:extLst>
                  <a:ext uri="{0D108BD9-81ED-4DB2-BD59-A6C34878D82A}">
                    <a16:rowId xmlns:a16="http://schemas.microsoft.com/office/drawing/2014/main" val="1093287206"/>
                  </a:ext>
                </a:extLst>
              </a:tr>
              <a:tr h="365760">
                <a:tc>
                  <a:txBody>
                    <a:bodyPr/>
                    <a:lstStyle/>
                    <a:p>
                      <a:pPr>
                        <a:defRPr sz="1100">
                          <a:solidFill>
                            <a:srgbClr val="333333"/>
                          </a:solidFill>
                        </a:defRPr>
                      </a:pPr>
                      <a:r>
                        <a:rPr sz="1200"/>
                        <a:t>Low CNN accuracy on real images</a:t>
                      </a:r>
                    </a:p>
                  </a:txBody>
                  <a:tcPr anchor="ctr">
                    <a:solidFill>
                      <a:srgbClr val="F2F2F2"/>
                    </a:solidFill>
                  </a:tcPr>
                </a:tc>
                <a:tc>
                  <a:txBody>
                    <a:bodyPr/>
                    <a:lstStyle/>
                    <a:p>
                      <a:pPr>
                        <a:defRPr sz="1100">
                          <a:solidFill>
                            <a:srgbClr val="333333"/>
                          </a:solidFill>
                        </a:defRPr>
                      </a:pPr>
                      <a:r>
                        <a:rPr sz="1200" dirty="0"/>
                        <a:t>Incorrect spray decisions</a:t>
                      </a:r>
                    </a:p>
                  </a:txBody>
                  <a:tcPr anchor="ctr">
                    <a:solidFill>
                      <a:srgbClr val="F2F2F2"/>
                    </a:solidFill>
                  </a:tcPr>
                </a:tc>
                <a:tc>
                  <a:txBody>
                    <a:bodyPr/>
                    <a:lstStyle/>
                    <a:p>
                      <a:pPr>
                        <a:defRPr sz="1100">
                          <a:solidFill>
                            <a:srgbClr val="333333"/>
                          </a:solidFill>
                        </a:defRPr>
                      </a:pPr>
                      <a:r>
                        <a:rPr sz="1200"/>
                        <a:t>Data augmentation; fine-tune with ESP32-CAM captured images</a:t>
                      </a:r>
                    </a:p>
                  </a:txBody>
                  <a:tcPr anchor="ctr">
                    <a:solidFill>
                      <a:srgbClr val="F2F2F2"/>
                    </a:solidFill>
                  </a:tcPr>
                </a:tc>
                <a:extLst>
                  <a:ext uri="{0D108BD9-81ED-4DB2-BD59-A6C34878D82A}">
                    <a16:rowId xmlns:a16="http://schemas.microsoft.com/office/drawing/2014/main" val="1684300326"/>
                  </a:ext>
                </a:extLst>
              </a:tr>
              <a:tr h="365760">
                <a:tc>
                  <a:txBody>
                    <a:bodyPr/>
                    <a:lstStyle/>
                    <a:p>
                      <a:pPr>
                        <a:defRPr sz="1100">
                          <a:solidFill>
                            <a:srgbClr val="333333"/>
                          </a:solidFill>
                        </a:defRPr>
                      </a:pPr>
                      <a:r>
                        <a:rPr sz="1200"/>
                        <a:t>Field lighting variation</a:t>
                      </a:r>
                    </a:p>
                  </a:txBody>
                  <a:tcPr anchor="ctr">
                    <a:solidFill>
                      <a:srgbClr val="FFFFFF"/>
                    </a:solidFill>
                  </a:tcPr>
                </a:tc>
                <a:tc>
                  <a:txBody>
                    <a:bodyPr/>
                    <a:lstStyle/>
                    <a:p>
                      <a:pPr>
                        <a:defRPr sz="1100">
                          <a:solidFill>
                            <a:srgbClr val="333333"/>
                          </a:solidFill>
                        </a:defRPr>
                      </a:pPr>
                      <a:r>
                        <a:rPr sz="1200" dirty="0"/>
                        <a:t>Poor image quality</a:t>
                      </a:r>
                    </a:p>
                  </a:txBody>
                  <a:tcPr anchor="ctr">
                    <a:solidFill>
                      <a:srgbClr val="FFFFFF"/>
                    </a:solidFill>
                  </a:tcPr>
                </a:tc>
                <a:tc>
                  <a:txBody>
                    <a:bodyPr/>
                    <a:lstStyle/>
                    <a:p>
                      <a:pPr>
                        <a:defRPr sz="1100">
                          <a:solidFill>
                            <a:srgbClr val="333333"/>
                          </a:solidFill>
                        </a:defRPr>
                      </a:pPr>
                      <a:r>
                        <a:rPr sz="1200" dirty="0"/>
                        <a:t>Green cloth covering (same approach as base paper)</a:t>
                      </a:r>
                    </a:p>
                  </a:txBody>
                  <a:tcPr anchor="ctr">
                    <a:solidFill>
                      <a:srgbClr val="FFFFFF"/>
                    </a:solidFill>
                  </a:tcPr>
                </a:tc>
                <a:extLst>
                  <a:ext uri="{0D108BD9-81ED-4DB2-BD59-A6C34878D82A}">
                    <a16:rowId xmlns:a16="http://schemas.microsoft.com/office/drawing/2014/main" val="4147781774"/>
                  </a:ext>
                </a:extLst>
              </a:tr>
              <a:tr h="365760">
                <a:tc>
                  <a:txBody>
                    <a:bodyPr/>
                    <a:lstStyle/>
                    <a:p>
                      <a:pPr>
                        <a:defRPr sz="1100">
                          <a:solidFill>
                            <a:srgbClr val="333333"/>
                          </a:solidFill>
                        </a:defRPr>
                      </a:pPr>
                      <a:r>
                        <a:rPr sz="1200"/>
                        <a:t>Solenoid timing errors</a:t>
                      </a:r>
                    </a:p>
                  </a:txBody>
                  <a:tcPr anchor="ctr">
                    <a:solidFill>
                      <a:srgbClr val="F2F2F2"/>
                    </a:solidFill>
                  </a:tcPr>
                </a:tc>
                <a:tc>
                  <a:txBody>
                    <a:bodyPr/>
                    <a:lstStyle/>
                    <a:p>
                      <a:pPr>
                        <a:defRPr sz="1100">
                          <a:solidFill>
                            <a:srgbClr val="333333"/>
                          </a:solidFill>
                        </a:defRPr>
                      </a:pPr>
                      <a:r>
                        <a:rPr sz="1200"/>
                        <a:t>Over/under spraying</a:t>
                      </a:r>
                    </a:p>
                  </a:txBody>
                  <a:tcPr anchor="ctr">
                    <a:solidFill>
                      <a:srgbClr val="F2F2F2"/>
                    </a:solidFill>
                  </a:tcPr>
                </a:tc>
                <a:tc>
                  <a:txBody>
                    <a:bodyPr/>
                    <a:lstStyle/>
                    <a:p>
                      <a:pPr>
                        <a:defRPr sz="1100">
                          <a:solidFill>
                            <a:srgbClr val="333333"/>
                          </a:solidFill>
                        </a:defRPr>
                      </a:pPr>
                      <a:r>
                        <a:rPr sz="1200" dirty="0"/>
                        <a:t>Precise Qs calibration; camera placed ahead of nozzle</a:t>
                      </a:r>
                    </a:p>
                  </a:txBody>
                  <a:tcPr anchor="ctr">
                    <a:solidFill>
                      <a:srgbClr val="F2F2F2"/>
                    </a:solidFill>
                  </a:tcPr>
                </a:tc>
                <a:extLst>
                  <a:ext uri="{0D108BD9-81ED-4DB2-BD59-A6C34878D82A}">
                    <a16:rowId xmlns:a16="http://schemas.microsoft.com/office/drawing/2014/main" val="1027843909"/>
                  </a:ext>
                </a:extLst>
              </a:tr>
              <a:tr h="365760">
                <a:tc>
                  <a:txBody>
                    <a:bodyPr/>
                    <a:lstStyle/>
                    <a:p>
                      <a:pPr>
                        <a:defRPr sz="1100">
                          <a:solidFill>
                            <a:srgbClr val="333333"/>
                          </a:solidFill>
                        </a:defRPr>
                      </a:pPr>
                      <a:r>
                        <a:rPr sz="1200"/>
                        <a:t>Component failure</a:t>
                      </a:r>
                    </a:p>
                  </a:txBody>
                  <a:tcPr anchor="ctr">
                    <a:solidFill>
                      <a:srgbClr val="FFFFFF"/>
                    </a:solidFill>
                  </a:tcPr>
                </a:tc>
                <a:tc>
                  <a:txBody>
                    <a:bodyPr/>
                    <a:lstStyle/>
                    <a:p>
                      <a:pPr>
                        <a:defRPr sz="1100">
                          <a:solidFill>
                            <a:srgbClr val="333333"/>
                          </a:solidFill>
                        </a:defRPr>
                      </a:pPr>
                      <a:r>
                        <a:rPr sz="1200"/>
                        <a:t>System downtime</a:t>
                      </a:r>
                    </a:p>
                  </a:txBody>
                  <a:tcPr anchor="ctr">
                    <a:solidFill>
                      <a:srgbClr val="FFFFFF"/>
                    </a:solidFill>
                  </a:tcPr>
                </a:tc>
                <a:tc>
                  <a:txBody>
                    <a:bodyPr/>
                    <a:lstStyle/>
                    <a:p>
                      <a:pPr>
                        <a:defRPr sz="1100">
                          <a:solidFill>
                            <a:srgbClr val="333333"/>
                          </a:solidFill>
                        </a:defRPr>
                      </a:pPr>
                      <a:r>
                        <a:rPr sz="1200" dirty="0"/>
                        <a:t>Keep spare ESP32-CAM and relay (Rs.600 backup)</a:t>
                      </a:r>
                    </a:p>
                  </a:txBody>
                  <a:tcPr anchor="ctr">
                    <a:solidFill>
                      <a:srgbClr val="FFFFFF"/>
                    </a:solidFill>
                  </a:tcPr>
                </a:tc>
                <a:extLst>
                  <a:ext uri="{0D108BD9-81ED-4DB2-BD59-A6C34878D82A}">
                    <a16:rowId xmlns:a16="http://schemas.microsoft.com/office/drawing/2014/main" val="2570477059"/>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752"/>
            <a:ext cx="8229600" cy="695262"/>
          </a:xfrm>
        </p:spPr>
        <p:txBody>
          <a:bodyPr/>
          <a:lstStyle/>
          <a:p>
            <a:pPr>
              <a:defRPr sz="2800" b="1">
                <a:solidFill>
                  <a:srgbClr val="1B3A5C"/>
                </a:solidFill>
              </a:defRPr>
            </a:pPr>
            <a:r>
              <a:rPr dirty="0"/>
              <a:t>Ethical Considerations</a:t>
            </a:r>
          </a:p>
        </p:txBody>
      </p:sp>
      <p:sp>
        <p:nvSpPr>
          <p:cNvPr id="3" name="Content Placeholder 2"/>
          <p:cNvSpPr>
            <a:spLocks noGrp="1"/>
          </p:cNvSpPr>
          <p:nvPr>
            <p:ph idx="1"/>
          </p:nvPr>
        </p:nvSpPr>
        <p:spPr>
          <a:xfrm>
            <a:off x="457200" y="1600201"/>
            <a:ext cx="8229600" cy="3941064"/>
          </a:xfrm>
        </p:spPr>
        <p:txBody>
          <a:bodyPr/>
          <a:lstStyle/>
          <a:p>
            <a:pPr>
              <a:spcAft>
                <a:spcPts val="800"/>
              </a:spcAft>
              <a:defRPr sz="1600">
                <a:solidFill>
                  <a:srgbClr val="333333"/>
                </a:solidFill>
              </a:defRPr>
            </a:pPr>
            <a:r>
              <a:rPr lang="en-US" b="1" dirty="0"/>
              <a:t>Environmental:</a:t>
            </a:r>
            <a:r>
              <a:rPr lang="en-US" dirty="0"/>
              <a:t> Reduces chemical pollution — The developed system appears promising and could be used extensively to reduce the cost of pest management as well as to control environmental pollution due to such agrochemicals.</a:t>
            </a:r>
          </a:p>
          <a:p>
            <a:pPr>
              <a:spcAft>
                <a:spcPts val="800"/>
              </a:spcAft>
              <a:defRPr sz="1600">
                <a:solidFill>
                  <a:srgbClr val="333333"/>
                </a:solidFill>
              </a:defRPr>
            </a:pPr>
            <a:r>
              <a:rPr lang="en-US" b="1" dirty="0"/>
              <a:t>Health &amp; Safety: </a:t>
            </a:r>
            <a:r>
              <a:rPr lang="en-US" dirty="0"/>
              <a:t>Less chemical exposure for agricultural workers and food consumers</a:t>
            </a:r>
          </a:p>
          <a:p>
            <a:pPr>
              <a:spcAft>
                <a:spcPts val="800"/>
              </a:spcAft>
              <a:defRPr sz="1600">
                <a:solidFill>
                  <a:srgbClr val="333333"/>
                </a:solidFill>
              </a:defRPr>
            </a:pPr>
            <a:r>
              <a:rPr lang="en-US" b="1" dirty="0"/>
              <a:t>Economic Equity: </a:t>
            </a:r>
            <a:r>
              <a:rPr lang="en-US" dirty="0"/>
              <a:t>Under ₹2500 cost makes precision agriculture accessible to smallholder farmers</a:t>
            </a:r>
          </a:p>
          <a:p>
            <a:pPr>
              <a:spcAft>
                <a:spcPts val="800"/>
              </a:spcAft>
              <a:defRPr sz="1600">
                <a:solidFill>
                  <a:srgbClr val="333333"/>
                </a:solidFill>
              </a:defRPr>
            </a:pPr>
            <a:r>
              <a:rPr lang="en-US" b="1" dirty="0"/>
              <a:t>Data Ethics: </a:t>
            </a:r>
            <a:r>
              <a:rPr lang="en-US" dirty="0"/>
              <a:t>Using publicly available </a:t>
            </a:r>
            <a:r>
              <a:rPr lang="en-US" dirty="0" err="1"/>
              <a:t>Kaggle</a:t>
            </a:r>
            <a:r>
              <a:rPr lang="en-US" dirty="0"/>
              <a:t> dataset with proper citations</a:t>
            </a:r>
          </a:p>
          <a:p>
            <a:pPr>
              <a:spcAft>
                <a:spcPts val="800"/>
              </a:spcAft>
              <a:defRPr sz="1600">
                <a:solidFill>
                  <a:srgbClr val="333333"/>
                </a:solidFill>
              </a:defRPr>
            </a:pPr>
            <a:r>
              <a:rPr lang="en-US" b="1" dirty="0"/>
              <a:t>Code Ethics: </a:t>
            </a:r>
            <a:r>
              <a:rPr lang="en-US" dirty="0"/>
              <a:t>Open-source libraries, no proprietary lock-in</a:t>
            </a:r>
          </a:p>
          <a:p>
            <a:pPr>
              <a:spcAft>
                <a:spcPts val="800"/>
              </a:spcAft>
              <a:defRPr sz="1600">
                <a:solidFill>
                  <a:srgbClr val="333333"/>
                </a:solidFill>
              </a:defRPr>
            </a:pPr>
            <a:r>
              <a:rPr lang="en-US" b="1" dirty="0"/>
              <a:t>AI Acknowledgment: </a:t>
            </a:r>
            <a:r>
              <a:rPr lang="en-US" dirty="0"/>
              <a:t>Plagiarism, unauthorized copying and undisclosed AI-generated content are not permitted. Any significant use of AI tools shall be appropriately acknowledged. — All AI tool usage will be disclosed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1803"/>
            <a:ext cx="8229600" cy="557466"/>
          </a:xfrm>
        </p:spPr>
        <p:txBody>
          <a:bodyPr/>
          <a:lstStyle/>
          <a:p>
            <a:pPr>
              <a:defRPr sz="2600" b="1">
                <a:solidFill>
                  <a:srgbClr val="1B3A5C"/>
                </a:solidFill>
              </a:defRPr>
            </a:pPr>
            <a:r>
              <a:rPr lang="en-IN" dirty="0"/>
              <a:t>Work Plan &amp; Timeline</a:t>
            </a:r>
          </a:p>
        </p:txBody>
      </p:sp>
      <p:graphicFrame>
        <p:nvGraphicFramePr>
          <p:cNvPr id="4" name="Table 3"/>
          <p:cNvGraphicFramePr>
            <a:graphicFrameLocks noGrp="1"/>
          </p:cNvGraphicFramePr>
          <p:nvPr>
            <p:extLst>
              <p:ext uri="{D42A27DB-BD31-4B8C-83A1-F6EECF244321}">
                <p14:modId xmlns:p14="http://schemas.microsoft.com/office/powerpoint/2010/main" val="995720234"/>
              </p:ext>
            </p:extLst>
          </p:nvPr>
        </p:nvGraphicFramePr>
        <p:xfrm>
          <a:off x="320385" y="930785"/>
          <a:ext cx="8503230" cy="3444240"/>
        </p:xfrm>
        <a:graphic>
          <a:graphicData uri="http://schemas.openxmlformats.org/drawingml/2006/table">
            <a:tbl>
              <a:tblPr firstRow="1" bandRow="1">
                <a:tableStyleId>{5C22544A-7EE6-4342-B048-85BDC9FD1C3A}</a:tableStyleId>
              </a:tblPr>
              <a:tblGrid>
                <a:gridCol w="1356898">
                  <a:extLst>
                    <a:ext uri="{9D8B030D-6E8A-4147-A177-3AD203B41FA5}">
                      <a16:colId xmlns:a16="http://schemas.microsoft.com/office/drawing/2014/main" val="20000"/>
                    </a:ext>
                  </a:extLst>
                </a:gridCol>
                <a:gridCol w="3650143">
                  <a:extLst>
                    <a:ext uri="{9D8B030D-6E8A-4147-A177-3AD203B41FA5}">
                      <a16:colId xmlns:a16="http://schemas.microsoft.com/office/drawing/2014/main" val="20001"/>
                    </a:ext>
                  </a:extLst>
                </a:gridCol>
                <a:gridCol w="1144232">
                  <a:extLst>
                    <a:ext uri="{9D8B030D-6E8A-4147-A177-3AD203B41FA5}">
                      <a16:colId xmlns:a16="http://schemas.microsoft.com/office/drawing/2014/main" val="20002"/>
                    </a:ext>
                  </a:extLst>
                </a:gridCol>
                <a:gridCol w="2351957">
                  <a:extLst>
                    <a:ext uri="{9D8B030D-6E8A-4147-A177-3AD203B41FA5}">
                      <a16:colId xmlns:a16="http://schemas.microsoft.com/office/drawing/2014/main" val="20003"/>
                    </a:ext>
                  </a:extLst>
                </a:gridCol>
              </a:tblGrid>
              <a:tr h="365760">
                <a:tc>
                  <a:txBody>
                    <a:bodyPr/>
                    <a:lstStyle/>
                    <a:p>
                      <a:pPr algn="ctr">
                        <a:defRPr sz="1200" b="1">
                          <a:solidFill>
                            <a:srgbClr val="FFFFFF"/>
                          </a:solidFill>
                        </a:defRPr>
                      </a:pPr>
                      <a:r>
                        <a:t>Week</a:t>
                      </a:r>
                    </a:p>
                  </a:txBody>
                  <a:tcPr anchor="ctr">
                    <a:solidFill>
                      <a:srgbClr val="1B3A5C"/>
                    </a:solidFill>
                  </a:tcPr>
                </a:tc>
                <a:tc>
                  <a:txBody>
                    <a:bodyPr/>
                    <a:lstStyle/>
                    <a:p>
                      <a:pPr algn="ctr">
                        <a:defRPr sz="1200" b="1">
                          <a:solidFill>
                            <a:srgbClr val="FFFFFF"/>
                          </a:solidFill>
                        </a:defRPr>
                      </a:pPr>
                      <a:r>
                        <a:rPr dirty="0"/>
                        <a:t>Task</a:t>
                      </a:r>
                    </a:p>
                  </a:txBody>
                  <a:tcPr anchor="ctr">
                    <a:solidFill>
                      <a:srgbClr val="1B3A5C"/>
                    </a:solidFill>
                  </a:tcPr>
                </a:tc>
                <a:tc>
                  <a:txBody>
                    <a:bodyPr/>
                    <a:lstStyle/>
                    <a:p>
                      <a:pPr algn="ctr">
                        <a:defRPr sz="1200" b="1">
                          <a:solidFill>
                            <a:srgbClr val="FFFFFF"/>
                          </a:solidFill>
                        </a:defRPr>
                      </a:pPr>
                      <a:r>
                        <a:t>Owner</a:t>
                      </a:r>
                    </a:p>
                  </a:txBody>
                  <a:tcPr anchor="ctr">
                    <a:solidFill>
                      <a:srgbClr val="1B3A5C"/>
                    </a:solidFill>
                  </a:tcPr>
                </a:tc>
                <a:tc>
                  <a:txBody>
                    <a:bodyPr/>
                    <a:lstStyle/>
                    <a:p>
                      <a:pPr algn="ctr">
                        <a:defRPr sz="1200" b="1">
                          <a:solidFill>
                            <a:srgbClr val="FFFFFF"/>
                          </a:solidFill>
                        </a:defRPr>
                      </a:pPr>
                      <a:r>
                        <a:t>Deliverable</a:t>
                      </a:r>
                    </a:p>
                  </a:txBody>
                  <a:tcPr anchor="ctr">
                    <a:solidFill>
                      <a:srgbClr val="1B3A5C"/>
                    </a:solidFill>
                  </a:tcPr>
                </a:tc>
                <a:extLst>
                  <a:ext uri="{0D108BD9-81ED-4DB2-BD59-A6C34878D82A}">
                    <a16:rowId xmlns:a16="http://schemas.microsoft.com/office/drawing/2014/main" val="10000"/>
                  </a:ext>
                </a:extLst>
              </a:tr>
              <a:tr h="365760">
                <a:tc>
                  <a:txBody>
                    <a:bodyPr/>
                    <a:lstStyle/>
                    <a:p>
                      <a:pPr>
                        <a:defRPr sz="1100">
                          <a:solidFill>
                            <a:srgbClr val="333333"/>
                          </a:solidFill>
                        </a:defRPr>
                      </a:pPr>
                      <a:r>
                        <a:rPr sz="1400" dirty="0"/>
                        <a:t>1-2 (Jul)</a:t>
                      </a:r>
                    </a:p>
                  </a:txBody>
                  <a:tcPr anchor="ctr">
                    <a:solidFill>
                      <a:srgbClr val="F2F2F2"/>
                    </a:solidFill>
                  </a:tcPr>
                </a:tc>
                <a:tc>
                  <a:txBody>
                    <a:bodyPr/>
                    <a:lstStyle/>
                    <a:p>
                      <a:pPr>
                        <a:defRPr sz="1100">
                          <a:solidFill>
                            <a:srgbClr val="333333"/>
                          </a:solidFill>
                        </a:defRPr>
                      </a:pPr>
                      <a:r>
                        <a:rPr sz="1400"/>
                        <a:t>Literature review, problem definition, Review 1</a:t>
                      </a:r>
                    </a:p>
                  </a:txBody>
                  <a:tcPr anchor="ctr">
                    <a:solidFill>
                      <a:srgbClr val="F2F2F2"/>
                    </a:solidFill>
                  </a:tcPr>
                </a:tc>
                <a:tc>
                  <a:txBody>
                    <a:bodyPr/>
                    <a:lstStyle/>
                    <a:p>
                      <a:pPr>
                        <a:defRPr sz="1100">
                          <a:solidFill>
                            <a:srgbClr val="333333"/>
                          </a:solidFill>
                        </a:defRPr>
                      </a:pPr>
                      <a:r>
                        <a:rPr sz="1400"/>
                        <a:t>Both</a:t>
                      </a:r>
                    </a:p>
                  </a:txBody>
                  <a:tcPr anchor="ctr">
                    <a:solidFill>
                      <a:srgbClr val="F2F2F2"/>
                    </a:solidFill>
                  </a:tcPr>
                </a:tc>
                <a:tc>
                  <a:txBody>
                    <a:bodyPr/>
                    <a:lstStyle/>
                    <a:p>
                      <a:pPr>
                        <a:defRPr sz="1100">
                          <a:solidFill>
                            <a:srgbClr val="333333"/>
                          </a:solidFill>
                        </a:defRPr>
                      </a:pPr>
                      <a:r>
                        <a:rPr sz="1400"/>
                        <a:t>Report Ch.1-2</a:t>
                      </a:r>
                    </a:p>
                  </a:txBody>
                  <a:tcPr anchor="ctr">
                    <a:solidFill>
                      <a:srgbClr val="F2F2F2"/>
                    </a:solidFill>
                  </a:tcPr>
                </a:tc>
                <a:extLst>
                  <a:ext uri="{0D108BD9-81ED-4DB2-BD59-A6C34878D82A}">
                    <a16:rowId xmlns:a16="http://schemas.microsoft.com/office/drawing/2014/main" val="10001"/>
                  </a:ext>
                </a:extLst>
              </a:tr>
              <a:tr h="365760">
                <a:tc>
                  <a:txBody>
                    <a:bodyPr/>
                    <a:lstStyle/>
                    <a:p>
                      <a:pPr>
                        <a:defRPr sz="1100">
                          <a:solidFill>
                            <a:srgbClr val="333333"/>
                          </a:solidFill>
                        </a:defRPr>
                      </a:pPr>
                      <a:r>
                        <a:rPr sz="1400" dirty="0"/>
                        <a:t>3-4 (Jul)</a:t>
                      </a:r>
                    </a:p>
                  </a:txBody>
                  <a:tcPr anchor="ctr">
                    <a:solidFill>
                      <a:srgbClr val="FFFFFF"/>
                    </a:solidFill>
                  </a:tcPr>
                </a:tc>
                <a:tc>
                  <a:txBody>
                    <a:bodyPr/>
                    <a:lstStyle/>
                    <a:p>
                      <a:pPr>
                        <a:defRPr sz="1100">
                          <a:solidFill>
                            <a:srgbClr val="333333"/>
                          </a:solidFill>
                        </a:defRPr>
                      </a:pPr>
                      <a:r>
                        <a:rPr sz="1400"/>
                        <a:t>CNN model training &amp; validation</a:t>
                      </a:r>
                    </a:p>
                  </a:txBody>
                  <a:tcPr anchor="ctr">
                    <a:solidFill>
                      <a:srgbClr val="FFFFFF"/>
                    </a:solidFill>
                  </a:tcPr>
                </a:tc>
                <a:tc>
                  <a:txBody>
                    <a:bodyPr/>
                    <a:lstStyle/>
                    <a:p>
                      <a:pPr>
                        <a:defRPr sz="1100">
                          <a:solidFill>
                            <a:srgbClr val="333333"/>
                          </a:solidFill>
                        </a:defRPr>
                      </a:pPr>
                      <a:r>
                        <a:rPr sz="1400"/>
                        <a:t>Sourish Das</a:t>
                      </a:r>
                    </a:p>
                  </a:txBody>
                  <a:tcPr anchor="ctr">
                    <a:solidFill>
                      <a:srgbClr val="FFFFFF"/>
                    </a:solidFill>
                  </a:tcPr>
                </a:tc>
                <a:tc>
                  <a:txBody>
                    <a:bodyPr/>
                    <a:lstStyle/>
                    <a:p>
                      <a:pPr>
                        <a:defRPr sz="1100">
                          <a:solidFill>
                            <a:srgbClr val="333333"/>
                          </a:solidFill>
                        </a:defRPr>
                      </a:pPr>
                      <a:r>
                        <a:rPr sz="1400"/>
                        <a:t>Trained model (&gt;90%)</a:t>
                      </a:r>
                    </a:p>
                  </a:txBody>
                  <a:tcPr anchor="ctr">
                    <a:solidFill>
                      <a:srgbClr val="FFFFFF"/>
                    </a:solidFill>
                  </a:tcPr>
                </a:tc>
                <a:extLst>
                  <a:ext uri="{0D108BD9-81ED-4DB2-BD59-A6C34878D82A}">
                    <a16:rowId xmlns:a16="http://schemas.microsoft.com/office/drawing/2014/main" val="10002"/>
                  </a:ext>
                </a:extLst>
              </a:tr>
              <a:tr h="365760">
                <a:tc>
                  <a:txBody>
                    <a:bodyPr/>
                    <a:lstStyle/>
                    <a:p>
                      <a:pPr>
                        <a:defRPr sz="1100">
                          <a:solidFill>
                            <a:srgbClr val="333333"/>
                          </a:solidFill>
                        </a:defRPr>
                      </a:pPr>
                      <a:r>
                        <a:rPr sz="1400"/>
                        <a:t>5-6 (Aug)</a:t>
                      </a:r>
                    </a:p>
                  </a:txBody>
                  <a:tcPr anchor="ctr">
                    <a:solidFill>
                      <a:srgbClr val="F2F2F2"/>
                    </a:solidFill>
                  </a:tcPr>
                </a:tc>
                <a:tc>
                  <a:txBody>
                    <a:bodyPr/>
                    <a:lstStyle/>
                    <a:p>
                      <a:pPr>
                        <a:defRPr sz="1100">
                          <a:solidFill>
                            <a:srgbClr val="333333"/>
                          </a:solidFill>
                        </a:defRPr>
                      </a:pPr>
                      <a:r>
                        <a:rPr sz="1400" dirty="0"/>
                        <a:t>Flask API + </a:t>
                      </a:r>
                      <a:r>
                        <a:rPr sz="1400" dirty="0" err="1"/>
                        <a:t>ngrok</a:t>
                      </a:r>
                      <a:r>
                        <a:rPr sz="1400" dirty="0"/>
                        <a:t>; Review 2 preparation</a:t>
                      </a:r>
                    </a:p>
                  </a:txBody>
                  <a:tcPr anchor="ctr">
                    <a:solidFill>
                      <a:srgbClr val="F2F2F2"/>
                    </a:solidFill>
                  </a:tcPr>
                </a:tc>
                <a:tc>
                  <a:txBody>
                    <a:bodyPr/>
                    <a:lstStyle/>
                    <a:p>
                      <a:pPr>
                        <a:defRPr sz="1100">
                          <a:solidFill>
                            <a:srgbClr val="333333"/>
                          </a:solidFill>
                        </a:defRPr>
                      </a:pPr>
                      <a:r>
                        <a:rPr sz="1400"/>
                        <a:t>Sourish Das</a:t>
                      </a:r>
                    </a:p>
                  </a:txBody>
                  <a:tcPr anchor="ctr">
                    <a:solidFill>
                      <a:srgbClr val="F2F2F2"/>
                    </a:solidFill>
                  </a:tcPr>
                </a:tc>
                <a:tc>
                  <a:txBody>
                    <a:bodyPr/>
                    <a:lstStyle/>
                    <a:p>
                      <a:pPr>
                        <a:defRPr sz="1100">
                          <a:solidFill>
                            <a:srgbClr val="333333"/>
                          </a:solidFill>
                        </a:defRPr>
                      </a:pPr>
                      <a:r>
                        <a:rPr sz="1400"/>
                        <a:t>Working cloud API</a:t>
                      </a:r>
                    </a:p>
                  </a:txBody>
                  <a:tcPr anchor="ctr">
                    <a:solidFill>
                      <a:srgbClr val="F2F2F2"/>
                    </a:solidFill>
                  </a:tcPr>
                </a:tc>
                <a:extLst>
                  <a:ext uri="{0D108BD9-81ED-4DB2-BD59-A6C34878D82A}">
                    <a16:rowId xmlns:a16="http://schemas.microsoft.com/office/drawing/2014/main" val="10003"/>
                  </a:ext>
                </a:extLst>
              </a:tr>
              <a:tr h="365760">
                <a:tc>
                  <a:txBody>
                    <a:bodyPr/>
                    <a:lstStyle/>
                    <a:p>
                      <a:pPr>
                        <a:defRPr sz="1100">
                          <a:solidFill>
                            <a:srgbClr val="333333"/>
                          </a:solidFill>
                        </a:defRPr>
                      </a:pPr>
                      <a:r>
                        <a:rPr sz="1400"/>
                        <a:t>7-8 (Aug-Sep)</a:t>
                      </a:r>
                    </a:p>
                  </a:txBody>
                  <a:tcPr anchor="ctr">
                    <a:solidFill>
                      <a:srgbClr val="FFFFFF"/>
                    </a:solidFill>
                  </a:tcPr>
                </a:tc>
                <a:tc>
                  <a:txBody>
                    <a:bodyPr/>
                    <a:lstStyle/>
                    <a:p>
                      <a:pPr>
                        <a:defRPr sz="1100">
                          <a:solidFill>
                            <a:srgbClr val="333333"/>
                          </a:solidFill>
                        </a:defRPr>
                      </a:pPr>
                      <a:r>
                        <a:rPr sz="1400" dirty="0"/>
                        <a:t>ESP32-CAM firmware (image capture + HTTP)</a:t>
                      </a:r>
                    </a:p>
                  </a:txBody>
                  <a:tcPr anchor="ctr">
                    <a:solidFill>
                      <a:srgbClr val="FFFFFF"/>
                    </a:solidFill>
                  </a:tcPr>
                </a:tc>
                <a:tc>
                  <a:txBody>
                    <a:bodyPr/>
                    <a:lstStyle/>
                    <a:p>
                      <a:pPr>
                        <a:defRPr sz="1100">
                          <a:solidFill>
                            <a:srgbClr val="333333"/>
                          </a:solidFill>
                        </a:defRPr>
                      </a:pPr>
                      <a:r>
                        <a:rPr sz="1400"/>
                        <a:t>Aditya Singh</a:t>
                      </a:r>
                    </a:p>
                  </a:txBody>
                  <a:tcPr anchor="ctr">
                    <a:solidFill>
                      <a:srgbClr val="FFFFFF"/>
                    </a:solidFill>
                  </a:tcPr>
                </a:tc>
                <a:tc>
                  <a:txBody>
                    <a:bodyPr/>
                    <a:lstStyle/>
                    <a:p>
                      <a:pPr>
                        <a:defRPr sz="1100">
                          <a:solidFill>
                            <a:srgbClr val="333333"/>
                          </a:solidFill>
                        </a:defRPr>
                      </a:pPr>
                      <a:r>
                        <a:rPr sz="1400"/>
                        <a:t>ESP32 sends &amp; receives</a:t>
                      </a:r>
                    </a:p>
                  </a:txBody>
                  <a:tcPr anchor="ctr">
                    <a:solidFill>
                      <a:srgbClr val="FFFFFF"/>
                    </a:solidFill>
                  </a:tcPr>
                </a:tc>
                <a:extLst>
                  <a:ext uri="{0D108BD9-81ED-4DB2-BD59-A6C34878D82A}">
                    <a16:rowId xmlns:a16="http://schemas.microsoft.com/office/drawing/2014/main" val="10004"/>
                  </a:ext>
                </a:extLst>
              </a:tr>
              <a:tr h="365760">
                <a:tc>
                  <a:txBody>
                    <a:bodyPr/>
                    <a:lstStyle/>
                    <a:p>
                      <a:pPr>
                        <a:defRPr sz="1100">
                          <a:solidFill>
                            <a:srgbClr val="333333"/>
                          </a:solidFill>
                        </a:defRPr>
                      </a:pPr>
                      <a:r>
                        <a:rPr sz="1400"/>
                        <a:t>9-10 (Sep)</a:t>
                      </a:r>
                    </a:p>
                  </a:txBody>
                  <a:tcPr anchor="ctr">
                    <a:solidFill>
                      <a:srgbClr val="F2F2F2"/>
                    </a:solidFill>
                  </a:tcPr>
                </a:tc>
                <a:tc>
                  <a:txBody>
                    <a:bodyPr/>
                    <a:lstStyle/>
                    <a:p>
                      <a:pPr>
                        <a:defRPr sz="1100">
                          <a:solidFill>
                            <a:srgbClr val="333333"/>
                          </a:solidFill>
                        </a:defRPr>
                      </a:pPr>
                      <a:r>
                        <a:rPr sz="1400" dirty="0"/>
                        <a:t>Arduino code + hardware assembly; Review 3</a:t>
                      </a:r>
                    </a:p>
                  </a:txBody>
                  <a:tcPr anchor="ctr">
                    <a:solidFill>
                      <a:srgbClr val="F2F2F2"/>
                    </a:solidFill>
                  </a:tcPr>
                </a:tc>
                <a:tc>
                  <a:txBody>
                    <a:bodyPr/>
                    <a:lstStyle/>
                    <a:p>
                      <a:pPr>
                        <a:defRPr sz="1100">
                          <a:solidFill>
                            <a:srgbClr val="333333"/>
                          </a:solidFill>
                        </a:defRPr>
                      </a:pPr>
                      <a:r>
                        <a:rPr sz="1400" dirty="0"/>
                        <a:t>Aditya Singh</a:t>
                      </a:r>
                    </a:p>
                  </a:txBody>
                  <a:tcPr anchor="ctr">
                    <a:solidFill>
                      <a:srgbClr val="F2F2F2"/>
                    </a:solidFill>
                  </a:tcPr>
                </a:tc>
                <a:tc>
                  <a:txBody>
                    <a:bodyPr/>
                    <a:lstStyle/>
                    <a:p>
                      <a:pPr>
                        <a:defRPr sz="1100">
                          <a:solidFill>
                            <a:srgbClr val="333333"/>
                          </a:solidFill>
                        </a:defRPr>
                      </a:pPr>
                      <a:r>
                        <a:rPr sz="1400"/>
                        <a:t>Valve control working</a:t>
                      </a:r>
                    </a:p>
                  </a:txBody>
                  <a:tcPr anchor="ctr">
                    <a:solidFill>
                      <a:srgbClr val="F2F2F2"/>
                    </a:solidFill>
                  </a:tcPr>
                </a:tc>
                <a:extLst>
                  <a:ext uri="{0D108BD9-81ED-4DB2-BD59-A6C34878D82A}">
                    <a16:rowId xmlns:a16="http://schemas.microsoft.com/office/drawing/2014/main" val="10005"/>
                  </a:ext>
                </a:extLst>
              </a:tr>
              <a:tr h="365760">
                <a:tc>
                  <a:txBody>
                    <a:bodyPr/>
                    <a:lstStyle/>
                    <a:p>
                      <a:pPr>
                        <a:defRPr sz="1100">
                          <a:solidFill>
                            <a:srgbClr val="333333"/>
                          </a:solidFill>
                        </a:defRPr>
                      </a:pPr>
                      <a:r>
                        <a:rPr sz="1400"/>
                        <a:t>11-12 (Oct)</a:t>
                      </a:r>
                    </a:p>
                  </a:txBody>
                  <a:tcPr anchor="ctr">
                    <a:solidFill>
                      <a:srgbClr val="FFFFFF"/>
                    </a:solidFill>
                  </a:tcPr>
                </a:tc>
                <a:tc>
                  <a:txBody>
                    <a:bodyPr/>
                    <a:lstStyle/>
                    <a:p>
                      <a:pPr>
                        <a:defRPr sz="1100">
                          <a:solidFill>
                            <a:srgbClr val="333333"/>
                          </a:solidFill>
                        </a:defRPr>
                      </a:pPr>
                      <a:r>
                        <a:rPr sz="1400"/>
                        <a:t>Blynk IoT + field testing + VRA vs CRA comparison</a:t>
                      </a:r>
                    </a:p>
                  </a:txBody>
                  <a:tcPr anchor="ctr">
                    <a:solidFill>
                      <a:srgbClr val="FFFFFF"/>
                    </a:solidFill>
                  </a:tcPr>
                </a:tc>
                <a:tc>
                  <a:txBody>
                    <a:bodyPr/>
                    <a:lstStyle/>
                    <a:p>
                      <a:pPr>
                        <a:defRPr sz="1100">
                          <a:solidFill>
                            <a:srgbClr val="333333"/>
                          </a:solidFill>
                        </a:defRPr>
                      </a:pPr>
                      <a:r>
                        <a:rPr sz="1400" dirty="0"/>
                        <a:t>Both</a:t>
                      </a:r>
                    </a:p>
                  </a:txBody>
                  <a:tcPr anchor="ctr">
                    <a:solidFill>
                      <a:srgbClr val="FFFFFF"/>
                    </a:solidFill>
                  </a:tcPr>
                </a:tc>
                <a:tc>
                  <a:txBody>
                    <a:bodyPr/>
                    <a:lstStyle/>
                    <a:p>
                      <a:pPr>
                        <a:defRPr sz="1100">
                          <a:solidFill>
                            <a:srgbClr val="333333"/>
                          </a:solidFill>
                        </a:defRPr>
                      </a:pPr>
                      <a:r>
                        <a:rPr sz="1400"/>
                        <a:t>End-to-end prototype</a:t>
                      </a:r>
                    </a:p>
                  </a:txBody>
                  <a:tcPr anchor="ctr">
                    <a:solidFill>
                      <a:srgbClr val="FFFFFF"/>
                    </a:solidFill>
                  </a:tcPr>
                </a:tc>
                <a:extLst>
                  <a:ext uri="{0D108BD9-81ED-4DB2-BD59-A6C34878D82A}">
                    <a16:rowId xmlns:a16="http://schemas.microsoft.com/office/drawing/2014/main" val="10006"/>
                  </a:ext>
                </a:extLst>
              </a:tr>
              <a:tr h="365760">
                <a:tc>
                  <a:txBody>
                    <a:bodyPr/>
                    <a:lstStyle/>
                    <a:p>
                      <a:pPr>
                        <a:defRPr sz="1100">
                          <a:solidFill>
                            <a:srgbClr val="333333"/>
                          </a:solidFill>
                        </a:defRPr>
                      </a:pPr>
                      <a:r>
                        <a:rPr sz="1400"/>
                        <a:t>13 (Oct)</a:t>
                      </a:r>
                    </a:p>
                  </a:txBody>
                  <a:tcPr anchor="ctr">
                    <a:solidFill>
                      <a:srgbClr val="F2F2F2"/>
                    </a:solidFill>
                  </a:tcPr>
                </a:tc>
                <a:tc>
                  <a:txBody>
                    <a:bodyPr/>
                    <a:lstStyle/>
                    <a:p>
                      <a:pPr>
                        <a:defRPr sz="1100">
                          <a:solidFill>
                            <a:srgbClr val="333333"/>
                          </a:solidFill>
                        </a:defRPr>
                      </a:pPr>
                      <a:r>
                        <a:rPr sz="1400"/>
                        <a:t>Results analysis, report; Review 4</a:t>
                      </a:r>
                    </a:p>
                  </a:txBody>
                  <a:tcPr anchor="ctr">
                    <a:solidFill>
                      <a:srgbClr val="F2F2F2"/>
                    </a:solidFill>
                  </a:tcPr>
                </a:tc>
                <a:tc>
                  <a:txBody>
                    <a:bodyPr/>
                    <a:lstStyle/>
                    <a:p>
                      <a:pPr>
                        <a:defRPr sz="1100">
                          <a:solidFill>
                            <a:srgbClr val="333333"/>
                          </a:solidFill>
                        </a:defRPr>
                      </a:pPr>
                      <a:r>
                        <a:rPr sz="1400" dirty="0"/>
                        <a:t>Both</a:t>
                      </a:r>
                    </a:p>
                  </a:txBody>
                  <a:tcPr anchor="ctr">
                    <a:solidFill>
                      <a:srgbClr val="F2F2F2"/>
                    </a:solidFill>
                  </a:tcPr>
                </a:tc>
                <a:tc>
                  <a:txBody>
                    <a:bodyPr/>
                    <a:lstStyle/>
                    <a:p>
                      <a:pPr>
                        <a:defRPr sz="1100">
                          <a:solidFill>
                            <a:srgbClr val="333333"/>
                          </a:solidFill>
                        </a:defRPr>
                      </a:pPr>
                      <a:r>
                        <a:rPr sz="1400" dirty="0"/>
                        <a:t>Complete report + demo</a:t>
                      </a:r>
                    </a:p>
                  </a:txBody>
                  <a:tcPr anchor="ctr">
                    <a:solidFill>
                      <a:srgbClr val="F2F2F2"/>
                    </a:solidFill>
                  </a:tcPr>
                </a:tc>
                <a:extLst>
                  <a:ext uri="{0D108BD9-81ED-4DB2-BD59-A6C34878D82A}">
                    <a16:rowId xmlns:a16="http://schemas.microsoft.com/office/drawing/2014/main" val="10007"/>
                  </a:ext>
                </a:extLst>
              </a:tr>
              <a:tr h="365760">
                <a:tc>
                  <a:txBody>
                    <a:bodyPr/>
                    <a:lstStyle/>
                    <a:p>
                      <a:pPr>
                        <a:defRPr sz="1100">
                          <a:solidFill>
                            <a:srgbClr val="333333"/>
                          </a:solidFill>
                        </a:defRPr>
                      </a:pPr>
                      <a:r>
                        <a:rPr sz="1400"/>
                        <a:t>14 (Oct)</a:t>
                      </a:r>
                    </a:p>
                  </a:txBody>
                  <a:tcPr anchor="ctr">
                    <a:solidFill>
                      <a:srgbClr val="FFFFFF"/>
                    </a:solidFill>
                  </a:tcPr>
                </a:tc>
                <a:tc>
                  <a:txBody>
                    <a:bodyPr/>
                    <a:lstStyle/>
                    <a:p>
                      <a:pPr>
                        <a:defRPr sz="1100">
                          <a:solidFill>
                            <a:srgbClr val="333333"/>
                          </a:solidFill>
                        </a:defRPr>
                      </a:pPr>
                      <a:r>
                        <a:rPr sz="1400"/>
                        <a:t>Final demo + viva; Review 5</a:t>
                      </a:r>
                    </a:p>
                  </a:txBody>
                  <a:tcPr anchor="ctr">
                    <a:solidFill>
                      <a:srgbClr val="FFFFFF"/>
                    </a:solidFill>
                  </a:tcPr>
                </a:tc>
                <a:tc>
                  <a:txBody>
                    <a:bodyPr/>
                    <a:lstStyle/>
                    <a:p>
                      <a:pPr>
                        <a:defRPr sz="1100">
                          <a:solidFill>
                            <a:srgbClr val="333333"/>
                          </a:solidFill>
                        </a:defRPr>
                      </a:pPr>
                      <a:r>
                        <a:rPr sz="1400"/>
                        <a:t>Both</a:t>
                      </a:r>
                    </a:p>
                  </a:txBody>
                  <a:tcPr anchor="ctr">
                    <a:solidFill>
                      <a:srgbClr val="FFFFFF"/>
                    </a:solidFill>
                  </a:tcPr>
                </a:tc>
                <a:tc>
                  <a:txBody>
                    <a:bodyPr/>
                    <a:lstStyle/>
                    <a:p>
                      <a:pPr>
                        <a:defRPr sz="1100">
                          <a:solidFill>
                            <a:srgbClr val="333333"/>
                          </a:solidFill>
                        </a:defRPr>
                      </a:pPr>
                      <a:r>
                        <a:rPr sz="1400" dirty="0"/>
                        <a:t>Final presentation</a:t>
                      </a:r>
                    </a:p>
                  </a:txBody>
                  <a:tcPr anchor="ctr">
                    <a:solidFill>
                      <a:srgbClr val="FFFFFF"/>
                    </a:solidFill>
                  </a:tcPr>
                </a:tc>
                <a:extLst>
                  <a:ext uri="{0D108BD9-81ED-4DB2-BD59-A6C34878D82A}">
                    <a16:rowId xmlns:a16="http://schemas.microsoft.com/office/drawing/2014/main" val="10008"/>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504688834"/>
              </p:ext>
            </p:extLst>
          </p:nvPr>
        </p:nvGraphicFramePr>
        <p:xfrm>
          <a:off x="365760" y="5136773"/>
          <a:ext cx="8229600" cy="1158240"/>
        </p:xfrm>
        <a:graphic>
          <a:graphicData uri="http://schemas.openxmlformats.org/drawingml/2006/table">
            <a:tbl>
              <a:tblPr>
                <a:tableStyleId>{7DF18680-E054-41AD-8BC1-D1AEF772440D}</a:tableStyleId>
              </a:tblPr>
              <a:tblGrid>
                <a:gridCol w="1499616">
                  <a:extLst>
                    <a:ext uri="{9D8B030D-6E8A-4147-A177-3AD203B41FA5}">
                      <a16:colId xmlns:a16="http://schemas.microsoft.com/office/drawing/2014/main" val="3532729025"/>
                    </a:ext>
                  </a:extLst>
                </a:gridCol>
                <a:gridCol w="6729984">
                  <a:extLst>
                    <a:ext uri="{9D8B030D-6E8A-4147-A177-3AD203B41FA5}">
                      <a16:colId xmlns:a16="http://schemas.microsoft.com/office/drawing/2014/main" val="3297716254"/>
                    </a:ext>
                  </a:extLst>
                </a:gridCol>
              </a:tblGrid>
              <a:tr h="0">
                <a:tc>
                  <a:txBody>
                    <a:bodyPr/>
                    <a:lstStyle/>
                    <a:p>
                      <a:pPr algn="ctr"/>
                      <a:r>
                        <a:rPr lang="en-IN" sz="1600" b="1" dirty="0"/>
                        <a:t>Member</a:t>
                      </a:r>
                    </a:p>
                  </a:txBody>
                  <a:tcPr anchor="ctr"/>
                </a:tc>
                <a:tc>
                  <a:txBody>
                    <a:bodyPr/>
                    <a:lstStyle/>
                    <a:p>
                      <a:pPr algn="ctr"/>
                      <a:r>
                        <a:rPr lang="en-IN" sz="1600" b="1" dirty="0"/>
                        <a:t>Primary Responsibilities</a:t>
                      </a:r>
                    </a:p>
                  </a:txBody>
                  <a:tcPr anchor="ctr"/>
                </a:tc>
                <a:extLst>
                  <a:ext uri="{0D108BD9-81ED-4DB2-BD59-A6C34878D82A}">
                    <a16:rowId xmlns:a16="http://schemas.microsoft.com/office/drawing/2014/main" val="1155166345"/>
                  </a:ext>
                </a:extLst>
              </a:tr>
              <a:tr h="0">
                <a:tc>
                  <a:txBody>
                    <a:bodyPr/>
                    <a:lstStyle/>
                    <a:p>
                      <a:r>
                        <a:rPr lang="en-IN" sz="1400" dirty="0" err="1"/>
                        <a:t>Sourish</a:t>
                      </a:r>
                      <a:r>
                        <a:rPr lang="en-IN" sz="1400" dirty="0"/>
                        <a:t> Das</a:t>
                      </a:r>
                    </a:p>
                  </a:txBody>
                  <a:tcPr anchor="ctr"/>
                </a:tc>
                <a:tc>
                  <a:txBody>
                    <a:bodyPr/>
                    <a:lstStyle/>
                    <a:p>
                      <a:r>
                        <a:rPr lang="en-US" sz="1400" dirty="0"/>
                        <a:t>CNN model development, Flask API development, cloud deployment, and </a:t>
                      </a:r>
                      <a:r>
                        <a:rPr lang="en-US" sz="1400" dirty="0" err="1"/>
                        <a:t>Blynk</a:t>
                      </a:r>
                      <a:r>
                        <a:rPr lang="en-US" sz="1400" dirty="0"/>
                        <a:t> </a:t>
                      </a:r>
                      <a:r>
                        <a:rPr lang="en-US" sz="1400" dirty="0" err="1"/>
                        <a:t>IoT</a:t>
                      </a:r>
                      <a:r>
                        <a:rPr lang="en-US" sz="1400" dirty="0"/>
                        <a:t> coding</a:t>
                      </a:r>
                    </a:p>
                  </a:txBody>
                  <a:tcPr anchor="ctr"/>
                </a:tc>
                <a:extLst>
                  <a:ext uri="{0D108BD9-81ED-4DB2-BD59-A6C34878D82A}">
                    <a16:rowId xmlns:a16="http://schemas.microsoft.com/office/drawing/2014/main" val="4225190961"/>
                  </a:ext>
                </a:extLst>
              </a:tr>
              <a:tr h="0">
                <a:tc>
                  <a:txBody>
                    <a:bodyPr/>
                    <a:lstStyle/>
                    <a:p>
                      <a:r>
                        <a:rPr lang="en-IN" sz="1400"/>
                        <a:t>Aditya Singh</a:t>
                      </a:r>
                    </a:p>
                  </a:txBody>
                  <a:tcPr anchor="ctr"/>
                </a:tc>
                <a:tc>
                  <a:txBody>
                    <a:bodyPr/>
                    <a:lstStyle/>
                    <a:p>
                      <a:r>
                        <a:rPr lang="en-IN" sz="1400" dirty="0"/>
                        <a:t>ESP32-CAM firmware development, Arduino Nano control logic, hardware assembly, circuit wiring, and system testing</a:t>
                      </a:r>
                    </a:p>
                  </a:txBody>
                  <a:tcPr anchor="ctr"/>
                </a:tc>
                <a:extLst>
                  <a:ext uri="{0D108BD9-81ED-4DB2-BD59-A6C34878D82A}">
                    <a16:rowId xmlns:a16="http://schemas.microsoft.com/office/drawing/2014/main" val="1578531286"/>
                  </a:ext>
                </a:extLst>
              </a:tr>
            </a:tbl>
          </a:graphicData>
        </a:graphic>
      </p:graphicFrame>
      <p:sp>
        <p:nvSpPr>
          <p:cNvPr id="7" name="Rectangle 6"/>
          <p:cNvSpPr/>
          <p:nvPr/>
        </p:nvSpPr>
        <p:spPr>
          <a:xfrm>
            <a:off x="320040" y="4628941"/>
            <a:ext cx="3163824" cy="1015663"/>
          </a:xfrm>
          <a:prstGeom prst="rect">
            <a:avLst/>
          </a:prstGeom>
        </p:spPr>
        <p:txBody>
          <a:bodyPr wrap="square">
            <a:spAutoFit/>
          </a:bodyPr>
          <a:lstStyle/>
          <a:p>
            <a:r>
              <a:rPr lang="en-IN" sz="2000" b="1" dirty="0">
                <a:solidFill>
                  <a:schemeClr val="tx1">
                    <a:lumMod val="95000"/>
                    <a:lumOff val="5000"/>
                  </a:schemeClr>
                </a:solidFill>
              </a:rPr>
              <a:t>Member</a:t>
            </a:r>
            <a:r>
              <a:rPr lang="en-IN" sz="2000" b="1" dirty="0">
                <a:solidFill>
                  <a:schemeClr val="tx1">
                    <a:lumMod val="95000"/>
                    <a:lumOff val="5000"/>
                  </a:schemeClr>
                </a:solidFill>
                <a:latin typeface="Segoe WPC"/>
              </a:rPr>
              <a:t> </a:t>
            </a:r>
            <a:r>
              <a:rPr lang="en-IN" sz="2000" b="1" dirty="0">
                <a:solidFill>
                  <a:schemeClr val="tx1">
                    <a:lumMod val="95000"/>
                    <a:lumOff val="5000"/>
                  </a:schemeClr>
                </a:solidFill>
              </a:rPr>
              <a:t>Responsibilities</a:t>
            </a:r>
            <a:r>
              <a:rPr lang="en-IN" sz="2000" b="1" dirty="0">
                <a:solidFill>
                  <a:schemeClr val="tx1">
                    <a:lumMod val="95000"/>
                    <a:lumOff val="5000"/>
                  </a:schemeClr>
                </a:solidFill>
                <a:latin typeface="Segoe WPC"/>
              </a:rPr>
              <a:t>:</a:t>
            </a:r>
            <a:endParaRPr lang="en-IN" sz="2000" dirty="0">
              <a:solidFill>
                <a:schemeClr val="tx1">
                  <a:lumMod val="95000"/>
                  <a:lumOff val="5000"/>
                </a:schemeClr>
              </a:solidFill>
              <a:latin typeface="Segoe WPC"/>
            </a:endParaRPr>
          </a:p>
          <a:p>
            <a:r>
              <a:rPr lang="en-IN" sz="2000" dirty="0">
                <a:solidFill>
                  <a:schemeClr val="tx1">
                    <a:lumMod val="95000"/>
                    <a:lumOff val="5000"/>
                  </a:schemeClr>
                </a:solidFill>
                <a:latin typeface="Segoe WPC"/>
              </a:rPr>
              <a:t/>
            </a:r>
            <a:br>
              <a:rPr lang="en-IN" sz="2000" dirty="0">
                <a:solidFill>
                  <a:schemeClr val="tx1">
                    <a:lumMod val="95000"/>
                    <a:lumOff val="5000"/>
                  </a:schemeClr>
                </a:solidFill>
                <a:latin typeface="Segoe WPC"/>
              </a:rPr>
            </a:br>
            <a:endParaRPr lang="en-IN" sz="2000" dirty="0">
              <a:solidFill>
                <a:schemeClr val="tx1">
                  <a:lumMod val="95000"/>
                  <a:lumOff val="5000"/>
                </a:schemeClr>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92125"/>
          </a:xfrm>
        </p:spPr>
        <p:txBody>
          <a:bodyPr/>
          <a:lstStyle/>
          <a:p>
            <a:pPr>
              <a:defRPr sz="2600" b="1">
                <a:solidFill>
                  <a:srgbClr val="1B3A5C"/>
                </a:solidFill>
              </a:defRPr>
            </a:pPr>
            <a:r>
              <a:rPr lang="en-US" dirty="0"/>
              <a:t>Novelty: Base Paper vs Our Proposed System</a:t>
            </a:r>
          </a:p>
        </p:txBody>
      </p:sp>
      <p:graphicFrame>
        <p:nvGraphicFramePr>
          <p:cNvPr id="4" name="Table 3"/>
          <p:cNvGraphicFramePr>
            <a:graphicFrameLocks noGrp="1"/>
          </p:cNvGraphicFramePr>
          <p:nvPr>
            <p:extLst>
              <p:ext uri="{D42A27DB-BD31-4B8C-83A1-F6EECF244321}">
                <p14:modId xmlns:p14="http://schemas.microsoft.com/office/powerpoint/2010/main" val="646738053"/>
              </p:ext>
            </p:extLst>
          </p:nvPr>
        </p:nvGraphicFramePr>
        <p:xfrm>
          <a:off x="274320" y="1362456"/>
          <a:ext cx="8595360" cy="329184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365760">
                <a:tc>
                  <a:txBody>
                    <a:bodyPr/>
                    <a:lstStyle/>
                    <a:p>
                      <a:pPr algn="ctr">
                        <a:defRPr sz="1200" b="1">
                          <a:solidFill>
                            <a:srgbClr val="FFFFFF"/>
                          </a:solidFill>
                        </a:defRPr>
                      </a:pPr>
                      <a:r>
                        <a:rPr sz="1800" dirty="0"/>
                        <a:t>Aspect</a:t>
                      </a:r>
                    </a:p>
                  </a:txBody>
                  <a:tcPr anchor="ctr">
                    <a:solidFill>
                      <a:srgbClr val="1B3A5C"/>
                    </a:solidFill>
                  </a:tcPr>
                </a:tc>
                <a:tc>
                  <a:txBody>
                    <a:bodyPr/>
                    <a:lstStyle/>
                    <a:p>
                      <a:pPr algn="ctr">
                        <a:defRPr sz="1200" b="1">
                          <a:solidFill>
                            <a:srgbClr val="FFFFFF"/>
                          </a:solidFill>
                        </a:defRPr>
                      </a:pPr>
                      <a:r>
                        <a:rPr sz="1800" dirty="0" err="1"/>
                        <a:t>Tewari</a:t>
                      </a:r>
                      <a:r>
                        <a:rPr sz="1800" dirty="0"/>
                        <a:t> et al. (2020) - Base Paper</a:t>
                      </a:r>
                    </a:p>
                  </a:txBody>
                  <a:tcPr anchor="ctr">
                    <a:solidFill>
                      <a:srgbClr val="1B3A5C"/>
                    </a:solidFill>
                  </a:tcPr>
                </a:tc>
                <a:tc>
                  <a:txBody>
                    <a:bodyPr/>
                    <a:lstStyle/>
                    <a:p>
                      <a:pPr algn="ctr">
                        <a:defRPr sz="1200" b="1">
                          <a:solidFill>
                            <a:srgbClr val="FFFFFF"/>
                          </a:solidFill>
                        </a:defRPr>
                      </a:pPr>
                      <a:r>
                        <a:rPr sz="1800" dirty="0"/>
                        <a:t>Our Proposed System</a:t>
                      </a:r>
                    </a:p>
                  </a:txBody>
                  <a:tcPr anchor="ctr">
                    <a:solidFill>
                      <a:srgbClr val="1B3A5C"/>
                    </a:solidFill>
                  </a:tcPr>
                </a:tc>
                <a:extLst>
                  <a:ext uri="{0D108BD9-81ED-4DB2-BD59-A6C34878D82A}">
                    <a16:rowId xmlns:a16="http://schemas.microsoft.com/office/drawing/2014/main" val="10000"/>
                  </a:ext>
                </a:extLst>
              </a:tr>
              <a:tr h="365760">
                <a:tc>
                  <a:txBody>
                    <a:bodyPr/>
                    <a:lstStyle/>
                    <a:p>
                      <a:pPr>
                        <a:defRPr sz="1100">
                          <a:solidFill>
                            <a:srgbClr val="333333"/>
                          </a:solidFill>
                        </a:defRPr>
                      </a:pPr>
                      <a:r>
                        <a:rPr sz="1400"/>
                        <a:t>Disease Detection</a:t>
                      </a:r>
                    </a:p>
                  </a:txBody>
                  <a:tcPr anchor="ctr">
                    <a:solidFill>
                      <a:srgbClr val="F2F2F2"/>
                    </a:solidFill>
                  </a:tcPr>
                </a:tc>
                <a:tc>
                  <a:txBody>
                    <a:bodyPr/>
                    <a:lstStyle/>
                    <a:p>
                      <a:pPr>
                        <a:defRPr sz="1100">
                          <a:solidFill>
                            <a:srgbClr val="333333"/>
                          </a:solidFill>
                        </a:defRPr>
                      </a:pPr>
                      <a:r>
                        <a:rPr sz="1400"/>
                        <a:t>Chromatic Aberration (CA) thresholding</a:t>
                      </a:r>
                    </a:p>
                  </a:txBody>
                  <a:tcPr anchor="ctr">
                    <a:solidFill>
                      <a:srgbClr val="F2F2F2"/>
                    </a:solidFill>
                  </a:tcPr>
                </a:tc>
                <a:tc>
                  <a:txBody>
                    <a:bodyPr/>
                    <a:lstStyle/>
                    <a:p>
                      <a:pPr>
                        <a:defRPr sz="1100">
                          <a:solidFill>
                            <a:srgbClr val="333333"/>
                          </a:solidFill>
                        </a:defRPr>
                      </a:pPr>
                      <a:r>
                        <a:rPr sz="1400"/>
                        <a:t>CNN (MobileNetV2) deep learning</a:t>
                      </a:r>
                    </a:p>
                  </a:txBody>
                  <a:tcPr anchor="ctr">
                    <a:solidFill>
                      <a:srgbClr val="F2F2F2"/>
                    </a:solidFill>
                  </a:tcPr>
                </a:tc>
                <a:extLst>
                  <a:ext uri="{0D108BD9-81ED-4DB2-BD59-A6C34878D82A}">
                    <a16:rowId xmlns:a16="http://schemas.microsoft.com/office/drawing/2014/main" val="10001"/>
                  </a:ext>
                </a:extLst>
              </a:tr>
              <a:tr h="365760">
                <a:tc>
                  <a:txBody>
                    <a:bodyPr/>
                    <a:lstStyle/>
                    <a:p>
                      <a:pPr>
                        <a:defRPr sz="1100">
                          <a:solidFill>
                            <a:srgbClr val="333333"/>
                          </a:solidFill>
                        </a:defRPr>
                      </a:pPr>
                      <a:r>
                        <a:rPr sz="1400"/>
                        <a:t>Compute Platform</a:t>
                      </a:r>
                    </a:p>
                  </a:txBody>
                  <a:tcPr anchor="ctr">
                    <a:solidFill>
                      <a:srgbClr val="FFFFFF"/>
                    </a:solidFill>
                  </a:tcPr>
                </a:tc>
                <a:tc>
                  <a:txBody>
                    <a:bodyPr/>
                    <a:lstStyle/>
                    <a:p>
                      <a:pPr>
                        <a:defRPr sz="1100">
                          <a:solidFill>
                            <a:srgbClr val="333333"/>
                          </a:solidFill>
                        </a:defRPr>
                      </a:pPr>
                      <a:r>
                        <a:rPr sz="1400"/>
                        <a:t>Laptop (Intel i5 + MATLAB R2014b)</a:t>
                      </a:r>
                    </a:p>
                  </a:txBody>
                  <a:tcPr anchor="ctr">
                    <a:solidFill>
                      <a:srgbClr val="FFFFFF"/>
                    </a:solidFill>
                  </a:tcPr>
                </a:tc>
                <a:tc>
                  <a:txBody>
                    <a:bodyPr/>
                    <a:lstStyle/>
                    <a:p>
                      <a:pPr>
                        <a:defRPr sz="1100">
                          <a:solidFill>
                            <a:srgbClr val="333333"/>
                          </a:solidFill>
                        </a:defRPr>
                      </a:pPr>
                      <a:r>
                        <a:rPr sz="1400"/>
                        <a:t>ESP32-CAM + Cloud (Google Colab)</a:t>
                      </a:r>
                    </a:p>
                  </a:txBody>
                  <a:tcPr anchor="ctr">
                    <a:solidFill>
                      <a:srgbClr val="FFFFFF"/>
                    </a:solidFill>
                  </a:tcPr>
                </a:tc>
                <a:extLst>
                  <a:ext uri="{0D108BD9-81ED-4DB2-BD59-A6C34878D82A}">
                    <a16:rowId xmlns:a16="http://schemas.microsoft.com/office/drawing/2014/main" val="10002"/>
                  </a:ext>
                </a:extLst>
              </a:tr>
              <a:tr h="365760">
                <a:tc>
                  <a:txBody>
                    <a:bodyPr/>
                    <a:lstStyle/>
                    <a:p>
                      <a:pPr>
                        <a:defRPr sz="1100">
                          <a:solidFill>
                            <a:srgbClr val="333333"/>
                          </a:solidFill>
                        </a:defRPr>
                      </a:pPr>
                      <a:r>
                        <a:rPr sz="1400"/>
                        <a:t>Image Processing</a:t>
                      </a:r>
                    </a:p>
                  </a:txBody>
                  <a:tcPr anchor="ctr">
                    <a:solidFill>
                      <a:srgbClr val="F2F2F2"/>
                    </a:solidFill>
                  </a:tcPr>
                </a:tc>
                <a:tc>
                  <a:txBody>
                    <a:bodyPr/>
                    <a:lstStyle/>
                    <a:p>
                      <a:pPr>
                        <a:defRPr sz="1100">
                          <a:solidFill>
                            <a:srgbClr val="333333"/>
                          </a:solidFill>
                        </a:defRPr>
                      </a:pPr>
                      <a:r>
                        <a:rPr sz="1400" dirty="0"/>
                        <a:t>MATLAB Image Processing Toolbox</a:t>
                      </a:r>
                    </a:p>
                  </a:txBody>
                  <a:tcPr anchor="ctr">
                    <a:solidFill>
                      <a:srgbClr val="F2F2F2"/>
                    </a:solidFill>
                  </a:tcPr>
                </a:tc>
                <a:tc>
                  <a:txBody>
                    <a:bodyPr/>
                    <a:lstStyle/>
                    <a:p>
                      <a:pPr>
                        <a:defRPr sz="1100">
                          <a:solidFill>
                            <a:srgbClr val="333333"/>
                          </a:solidFill>
                        </a:defRPr>
                      </a:pPr>
                      <a:r>
                        <a:rPr sz="1400"/>
                        <a:t>Python + TensorFlow/Keras (free)</a:t>
                      </a:r>
                    </a:p>
                  </a:txBody>
                  <a:tcPr anchor="ctr">
                    <a:solidFill>
                      <a:srgbClr val="F2F2F2"/>
                    </a:solidFill>
                  </a:tcPr>
                </a:tc>
                <a:extLst>
                  <a:ext uri="{0D108BD9-81ED-4DB2-BD59-A6C34878D82A}">
                    <a16:rowId xmlns:a16="http://schemas.microsoft.com/office/drawing/2014/main" val="10003"/>
                  </a:ext>
                </a:extLst>
              </a:tr>
              <a:tr h="365760">
                <a:tc>
                  <a:txBody>
                    <a:bodyPr/>
                    <a:lstStyle/>
                    <a:p>
                      <a:pPr>
                        <a:defRPr sz="1100">
                          <a:solidFill>
                            <a:srgbClr val="333333"/>
                          </a:solidFill>
                        </a:defRPr>
                      </a:pPr>
                      <a:r>
                        <a:rPr sz="1400"/>
                        <a:t>Monitoring</a:t>
                      </a:r>
                    </a:p>
                  </a:txBody>
                  <a:tcPr anchor="ctr">
                    <a:solidFill>
                      <a:srgbClr val="FFFFFF"/>
                    </a:solidFill>
                  </a:tcPr>
                </a:tc>
                <a:tc>
                  <a:txBody>
                    <a:bodyPr/>
                    <a:lstStyle/>
                    <a:p>
                      <a:pPr>
                        <a:defRPr sz="1100">
                          <a:solidFill>
                            <a:srgbClr val="333333"/>
                          </a:solidFill>
                        </a:defRPr>
                      </a:pPr>
                      <a:r>
                        <a:rPr sz="1400" dirty="0"/>
                        <a:t>None</a:t>
                      </a:r>
                    </a:p>
                  </a:txBody>
                  <a:tcPr anchor="ctr">
                    <a:solidFill>
                      <a:srgbClr val="FFFFFF"/>
                    </a:solidFill>
                  </a:tcPr>
                </a:tc>
                <a:tc>
                  <a:txBody>
                    <a:bodyPr/>
                    <a:lstStyle/>
                    <a:p>
                      <a:pPr>
                        <a:defRPr sz="1100">
                          <a:solidFill>
                            <a:srgbClr val="333333"/>
                          </a:solidFill>
                        </a:defRPr>
                      </a:pPr>
                      <a:r>
                        <a:rPr sz="1400"/>
                        <a:t>Blynk IoT dashboard (mobile app)</a:t>
                      </a:r>
                    </a:p>
                  </a:txBody>
                  <a:tcPr anchor="ctr">
                    <a:solidFill>
                      <a:srgbClr val="FFFFFF"/>
                    </a:solidFill>
                  </a:tcPr>
                </a:tc>
                <a:extLst>
                  <a:ext uri="{0D108BD9-81ED-4DB2-BD59-A6C34878D82A}">
                    <a16:rowId xmlns:a16="http://schemas.microsoft.com/office/drawing/2014/main" val="10004"/>
                  </a:ext>
                </a:extLst>
              </a:tr>
              <a:tr h="365760">
                <a:tc>
                  <a:txBody>
                    <a:bodyPr/>
                    <a:lstStyle/>
                    <a:p>
                      <a:pPr>
                        <a:defRPr sz="1100">
                          <a:solidFill>
                            <a:srgbClr val="333333"/>
                          </a:solidFill>
                        </a:defRPr>
                      </a:pPr>
                      <a:r>
                        <a:rPr sz="1400"/>
                        <a:t>Severity Levels</a:t>
                      </a:r>
                    </a:p>
                  </a:txBody>
                  <a:tcPr anchor="ctr">
                    <a:solidFill>
                      <a:srgbClr val="F2F2F2"/>
                    </a:solidFill>
                  </a:tcPr>
                </a:tc>
                <a:tc>
                  <a:txBody>
                    <a:bodyPr/>
                    <a:lstStyle/>
                    <a:p>
                      <a:pPr>
                        <a:defRPr sz="1100">
                          <a:solidFill>
                            <a:srgbClr val="333333"/>
                          </a:solidFill>
                        </a:defRPr>
                      </a:pPr>
                      <a:r>
                        <a:rPr sz="1400" dirty="0"/>
                        <a:t>3 levels (always sprays min 33%)</a:t>
                      </a:r>
                    </a:p>
                  </a:txBody>
                  <a:tcPr anchor="ctr">
                    <a:solidFill>
                      <a:srgbClr val="F2F2F2"/>
                    </a:solidFill>
                  </a:tcPr>
                </a:tc>
                <a:tc>
                  <a:txBody>
                    <a:bodyPr/>
                    <a:lstStyle/>
                    <a:p>
                      <a:pPr>
                        <a:defRPr sz="1100">
                          <a:solidFill>
                            <a:srgbClr val="333333"/>
                          </a:solidFill>
                        </a:defRPr>
                      </a:pPr>
                      <a:r>
                        <a:rPr sz="1400" dirty="0"/>
                        <a:t>4 levels (Healthy = 0% spray)</a:t>
                      </a:r>
                    </a:p>
                  </a:txBody>
                  <a:tcPr anchor="ctr">
                    <a:solidFill>
                      <a:srgbClr val="F2F2F2"/>
                    </a:solidFill>
                  </a:tcPr>
                </a:tc>
                <a:extLst>
                  <a:ext uri="{0D108BD9-81ED-4DB2-BD59-A6C34878D82A}">
                    <a16:rowId xmlns:a16="http://schemas.microsoft.com/office/drawing/2014/main" val="10005"/>
                  </a:ext>
                </a:extLst>
              </a:tr>
              <a:tr h="365760">
                <a:tc>
                  <a:txBody>
                    <a:bodyPr/>
                    <a:lstStyle/>
                    <a:p>
                      <a:pPr>
                        <a:defRPr sz="1100">
                          <a:solidFill>
                            <a:srgbClr val="333333"/>
                          </a:solidFill>
                        </a:defRPr>
                      </a:pPr>
                      <a:r>
                        <a:rPr sz="1400"/>
                        <a:t>Estimated Cost</a:t>
                      </a:r>
                    </a:p>
                  </a:txBody>
                  <a:tcPr anchor="ctr">
                    <a:solidFill>
                      <a:srgbClr val="FFFFFF"/>
                    </a:solidFill>
                  </a:tcPr>
                </a:tc>
                <a:tc>
                  <a:txBody>
                    <a:bodyPr/>
                    <a:lstStyle/>
                    <a:p>
                      <a:pPr>
                        <a:defRPr sz="1100">
                          <a:solidFill>
                            <a:srgbClr val="333333"/>
                          </a:solidFill>
                        </a:defRPr>
                      </a:pPr>
                      <a:r>
                        <a:rPr sz="1400"/>
                        <a:t>High (Laptop + webcam + MATLAB license)</a:t>
                      </a:r>
                    </a:p>
                  </a:txBody>
                  <a:tcPr anchor="ctr">
                    <a:solidFill>
                      <a:srgbClr val="FFFFFF"/>
                    </a:solidFill>
                  </a:tcPr>
                </a:tc>
                <a:tc>
                  <a:txBody>
                    <a:bodyPr/>
                    <a:lstStyle/>
                    <a:p>
                      <a:pPr>
                        <a:defRPr sz="1100">
                          <a:solidFill>
                            <a:srgbClr val="333333"/>
                          </a:solidFill>
                        </a:defRPr>
                      </a:pPr>
                      <a:r>
                        <a:rPr sz="1400" dirty="0"/>
                        <a:t>Under Rs.2500</a:t>
                      </a:r>
                    </a:p>
                  </a:txBody>
                  <a:tcPr anchor="ctr">
                    <a:solidFill>
                      <a:srgbClr val="FFFFFF"/>
                    </a:solidFill>
                  </a:tcPr>
                </a:tc>
                <a:extLst>
                  <a:ext uri="{0D108BD9-81ED-4DB2-BD59-A6C34878D82A}">
                    <a16:rowId xmlns:a16="http://schemas.microsoft.com/office/drawing/2014/main" val="10006"/>
                  </a:ext>
                </a:extLst>
              </a:tr>
              <a:tr h="365760">
                <a:tc>
                  <a:txBody>
                    <a:bodyPr/>
                    <a:lstStyle/>
                    <a:p>
                      <a:pPr>
                        <a:defRPr sz="1100">
                          <a:solidFill>
                            <a:srgbClr val="333333"/>
                          </a:solidFill>
                        </a:defRPr>
                      </a:pPr>
                      <a:r>
                        <a:rPr sz="1400" dirty="0"/>
                        <a:t>Portability</a:t>
                      </a:r>
                    </a:p>
                  </a:txBody>
                  <a:tcPr anchor="ctr">
                    <a:solidFill>
                      <a:srgbClr val="F2F2F2"/>
                    </a:solidFill>
                  </a:tcPr>
                </a:tc>
                <a:tc>
                  <a:txBody>
                    <a:bodyPr/>
                    <a:lstStyle/>
                    <a:p>
                      <a:pPr>
                        <a:defRPr sz="1100">
                          <a:solidFill>
                            <a:srgbClr val="333333"/>
                          </a:solidFill>
                        </a:defRPr>
                      </a:pPr>
                      <a:r>
                        <a:rPr sz="1400"/>
                        <a:t>Cart with laptop mounted</a:t>
                      </a:r>
                    </a:p>
                  </a:txBody>
                  <a:tcPr anchor="ctr">
                    <a:solidFill>
                      <a:srgbClr val="F2F2F2"/>
                    </a:solidFill>
                  </a:tcPr>
                </a:tc>
                <a:tc>
                  <a:txBody>
                    <a:bodyPr/>
                    <a:lstStyle/>
                    <a:p>
                      <a:pPr>
                        <a:defRPr sz="1100">
                          <a:solidFill>
                            <a:srgbClr val="333333"/>
                          </a:solidFill>
                        </a:defRPr>
                      </a:pPr>
                      <a:r>
                        <a:rPr sz="1400" dirty="0"/>
                        <a:t>Compact embedded system</a:t>
                      </a:r>
                    </a:p>
                  </a:txBody>
                  <a:tcPr anchor="ctr">
                    <a:solidFill>
                      <a:srgbClr val="F2F2F2"/>
                    </a:solidFill>
                  </a:tcPr>
                </a:tc>
                <a:extLst>
                  <a:ext uri="{0D108BD9-81ED-4DB2-BD59-A6C34878D82A}">
                    <a16:rowId xmlns:a16="http://schemas.microsoft.com/office/drawing/2014/main" val="10007"/>
                  </a:ext>
                </a:extLst>
              </a:tr>
              <a:tr h="365760">
                <a:tc>
                  <a:txBody>
                    <a:bodyPr/>
                    <a:lstStyle/>
                    <a:p>
                      <a:pPr>
                        <a:defRPr sz="1100">
                          <a:solidFill>
                            <a:srgbClr val="333333"/>
                          </a:solidFill>
                        </a:defRPr>
                      </a:pPr>
                      <a:r>
                        <a:rPr sz="1400"/>
                        <a:t>Robustness</a:t>
                      </a:r>
                    </a:p>
                  </a:txBody>
                  <a:tcPr anchor="ctr">
                    <a:solidFill>
                      <a:srgbClr val="FFFFFF"/>
                    </a:solidFill>
                  </a:tcPr>
                </a:tc>
                <a:tc>
                  <a:txBody>
                    <a:bodyPr/>
                    <a:lstStyle/>
                    <a:p>
                      <a:pPr>
                        <a:defRPr sz="1100">
                          <a:solidFill>
                            <a:srgbClr val="333333"/>
                          </a:solidFill>
                        </a:defRPr>
                      </a:pPr>
                      <a:r>
                        <a:rPr sz="1400"/>
                        <a:t>Sensitive to lighting changes</a:t>
                      </a:r>
                    </a:p>
                  </a:txBody>
                  <a:tcPr anchor="ctr">
                    <a:solidFill>
                      <a:srgbClr val="FFFFFF"/>
                    </a:solidFill>
                  </a:tcPr>
                </a:tc>
                <a:tc>
                  <a:txBody>
                    <a:bodyPr/>
                    <a:lstStyle/>
                    <a:p>
                      <a:pPr>
                        <a:defRPr sz="1100">
                          <a:solidFill>
                            <a:srgbClr val="333333"/>
                          </a:solidFill>
                        </a:defRPr>
                      </a:pPr>
                      <a:r>
                        <a:rPr sz="1400" dirty="0"/>
                        <a:t>CNN generalizes across conditions</a:t>
                      </a:r>
                    </a:p>
                  </a:txBody>
                  <a:tcPr anchor="ctr">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958" y="309772"/>
            <a:ext cx="8229600" cy="603186"/>
          </a:xfrm>
        </p:spPr>
        <p:txBody>
          <a:bodyPr/>
          <a:lstStyle/>
          <a:p>
            <a:pPr>
              <a:defRPr sz="2600" b="1">
                <a:solidFill>
                  <a:srgbClr val="1B3A5C"/>
                </a:solidFill>
              </a:defRPr>
            </a:pPr>
            <a:r>
              <a:rPr lang="en-IN" dirty="0"/>
              <a:t>References</a:t>
            </a:r>
          </a:p>
        </p:txBody>
      </p:sp>
      <p:sp>
        <p:nvSpPr>
          <p:cNvPr id="3" name="TextBox 2"/>
          <p:cNvSpPr txBox="1"/>
          <p:nvPr/>
        </p:nvSpPr>
        <p:spPr>
          <a:xfrm>
            <a:off x="457200" y="274320"/>
            <a:ext cx="184731" cy="492443"/>
          </a:xfrm>
          <a:prstGeom prst="rect">
            <a:avLst/>
          </a:prstGeom>
          <a:noFill/>
        </p:spPr>
        <p:txBody>
          <a:bodyPr wrap="none">
            <a:spAutoFit/>
          </a:bodyPr>
          <a:lstStyle/>
          <a:p>
            <a:pPr>
              <a:defRPr sz="2600" b="1">
                <a:solidFill>
                  <a:srgbClr val="1B3A5C"/>
                </a:solidFill>
              </a:defRPr>
            </a:pPr>
            <a:endParaRPr dirty="0"/>
          </a:p>
        </p:txBody>
      </p:sp>
      <p:sp>
        <p:nvSpPr>
          <p:cNvPr id="4" name="TextBox 3"/>
          <p:cNvSpPr txBox="1"/>
          <p:nvPr/>
        </p:nvSpPr>
        <p:spPr>
          <a:xfrm>
            <a:off x="189781" y="1034059"/>
            <a:ext cx="8867955" cy="4939814"/>
          </a:xfrm>
          <a:prstGeom prst="rect">
            <a:avLst/>
          </a:prstGeom>
          <a:noFill/>
        </p:spPr>
        <p:txBody>
          <a:bodyPr wrap="square">
            <a:spAutoFit/>
          </a:bodyPr>
          <a:lstStyle/>
          <a:p>
            <a:pPr>
              <a:spcAft>
                <a:spcPts val="600"/>
              </a:spcAft>
              <a:defRPr sz="1100">
                <a:solidFill>
                  <a:srgbClr val="333333"/>
                </a:solidFill>
              </a:defRPr>
            </a:pPr>
            <a:r>
              <a:rPr lang="en-IN" sz="1400" dirty="0"/>
              <a:t>[1] </a:t>
            </a:r>
            <a:r>
              <a:rPr lang="en-IN" sz="1400" dirty="0" err="1"/>
              <a:t>Tewari</a:t>
            </a:r>
            <a:r>
              <a:rPr lang="en-IN" sz="1400" dirty="0"/>
              <a:t>, V.K., </a:t>
            </a:r>
            <a:r>
              <a:rPr lang="en-IN" sz="1400" dirty="0" err="1"/>
              <a:t>Pareek</a:t>
            </a:r>
            <a:r>
              <a:rPr lang="en-IN" sz="1400" dirty="0"/>
              <a:t>, C.M., Lal, G., </a:t>
            </a:r>
            <a:r>
              <a:rPr lang="en-IN" sz="1400" dirty="0" err="1"/>
              <a:t>Dhruw</a:t>
            </a:r>
            <a:r>
              <a:rPr lang="en-IN" sz="1400" dirty="0"/>
              <a:t>, L.K., &amp; Singh, N. (2020). Image processing based real-time variable-rate chemical spraying system for disease control in paddy crop. Artificial Intelligence in Agriculture, 4, 21-30. </a:t>
            </a:r>
            <a:r>
              <a:rPr lang="en-IN" sz="1400" dirty="0">
                <a:hlinkClick r:id="rId2"/>
              </a:rPr>
              <a:t>https://</a:t>
            </a:r>
            <a:r>
              <a:rPr lang="en-IN" sz="1400" dirty="0" smtClean="0">
                <a:hlinkClick r:id="rId2"/>
              </a:rPr>
              <a:t>doi.org/10.1016/j.aiia.2020.01.002</a:t>
            </a:r>
            <a:endParaRPr lang="en-IN" sz="1400" dirty="0" smtClean="0"/>
          </a:p>
          <a:p>
            <a:pPr>
              <a:spcAft>
                <a:spcPts val="600"/>
              </a:spcAft>
              <a:defRPr sz="1100">
                <a:solidFill>
                  <a:srgbClr val="333333"/>
                </a:solidFill>
              </a:defRPr>
            </a:pPr>
            <a:r>
              <a:rPr lang="en-IN" sz="1400" dirty="0" smtClean="0"/>
              <a:t>[</a:t>
            </a:r>
            <a:r>
              <a:rPr lang="en-IN" sz="1400" dirty="0"/>
              <a:t>2] </a:t>
            </a:r>
            <a:r>
              <a:rPr lang="en-IN" sz="1400" dirty="0" err="1"/>
              <a:t>Mohanty</a:t>
            </a:r>
            <a:r>
              <a:rPr lang="en-IN" sz="1400" dirty="0"/>
              <a:t>, S.P., Hughes, D.P., &amp; </a:t>
            </a:r>
            <a:r>
              <a:rPr lang="en-IN" sz="1400" dirty="0" err="1"/>
              <a:t>Salathé</a:t>
            </a:r>
            <a:r>
              <a:rPr lang="en-IN" sz="1400" dirty="0"/>
              <a:t>, M. (2016). Using Deep Learning for Image-Based Plant Disease Detection. Frontiers in Plant Science, 7, 1419. </a:t>
            </a:r>
            <a:r>
              <a:rPr lang="en-IN" sz="1400" dirty="0">
                <a:hlinkClick r:id="rId3"/>
              </a:rPr>
              <a:t>https://</a:t>
            </a:r>
            <a:r>
              <a:rPr lang="en-IN" sz="1400" dirty="0" smtClean="0">
                <a:hlinkClick r:id="rId3"/>
              </a:rPr>
              <a:t>doi.org/10.3389/fpls.2016.01419</a:t>
            </a:r>
            <a:endParaRPr lang="en-IN" sz="1400" dirty="0" smtClean="0"/>
          </a:p>
          <a:p>
            <a:pPr>
              <a:spcAft>
                <a:spcPts val="600"/>
              </a:spcAft>
              <a:defRPr sz="1100">
                <a:solidFill>
                  <a:srgbClr val="333333"/>
                </a:solidFill>
              </a:defRPr>
            </a:pPr>
            <a:r>
              <a:rPr lang="en-IN" sz="1400" dirty="0" smtClean="0"/>
              <a:t>[3</a:t>
            </a:r>
            <a:r>
              <a:rPr lang="en-IN" sz="1400" dirty="0"/>
              <a:t>] </a:t>
            </a:r>
            <a:r>
              <a:rPr lang="en-IN" sz="1400" dirty="0" err="1"/>
              <a:t>Oberti</a:t>
            </a:r>
            <a:r>
              <a:rPr lang="en-IN" sz="1400" dirty="0"/>
              <a:t>, R., </a:t>
            </a:r>
            <a:r>
              <a:rPr lang="en-IN" sz="1400" dirty="0" err="1"/>
              <a:t>Marchi</a:t>
            </a:r>
            <a:r>
              <a:rPr lang="en-IN" sz="1400" dirty="0"/>
              <a:t>, M., </a:t>
            </a:r>
            <a:r>
              <a:rPr lang="en-IN" sz="1400" dirty="0" err="1"/>
              <a:t>Tirelli</a:t>
            </a:r>
            <a:r>
              <a:rPr lang="en-IN" sz="1400" dirty="0"/>
              <a:t>, P., et al. (2016). Selective spraying of grapevines for disease control using a modular agricultural robot. </a:t>
            </a:r>
            <a:r>
              <a:rPr lang="en-IN" sz="1400" dirty="0" err="1"/>
              <a:t>Biosystems</a:t>
            </a:r>
            <a:r>
              <a:rPr lang="en-IN" sz="1400" dirty="0"/>
              <a:t> Engineering, 146, 203-215. </a:t>
            </a:r>
            <a:r>
              <a:rPr lang="en-IN" sz="1400" dirty="0">
                <a:hlinkClick r:id="rId4"/>
              </a:rPr>
              <a:t>https://</a:t>
            </a:r>
            <a:r>
              <a:rPr lang="en-IN" sz="1400" dirty="0" smtClean="0">
                <a:hlinkClick r:id="rId4"/>
              </a:rPr>
              <a:t>doi.org/10.1016/j.biosystemseng.2015.12.004</a:t>
            </a:r>
            <a:endParaRPr lang="en-IN" sz="1400" dirty="0" smtClean="0"/>
          </a:p>
          <a:p>
            <a:pPr>
              <a:spcAft>
                <a:spcPts val="600"/>
              </a:spcAft>
              <a:defRPr sz="1100">
                <a:solidFill>
                  <a:srgbClr val="333333"/>
                </a:solidFill>
              </a:defRPr>
            </a:pPr>
            <a:r>
              <a:rPr lang="en-IN" sz="1400" dirty="0" smtClean="0"/>
              <a:t>[</a:t>
            </a:r>
            <a:r>
              <a:rPr lang="en-IN" sz="1400" dirty="0"/>
              <a:t>4] </a:t>
            </a:r>
            <a:r>
              <a:rPr lang="en-IN" sz="1400" dirty="0" err="1"/>
              <a:t>Partel</a:t>
            </a:r>
            <a:r>
              <a:rPr lang="en-IN" sz="1400" dirty="0"/>
              <a:t>, V., Kakarla, S.C., &amp; </a:t>
            </a:r>
            <a:r>
              <a:rPr lang="en-IN" sz="1400" dirty="0" err="1"/>
              <a:t>Ampatzidis</a:t>
            </a:r>
            <a:r>
              <a:rPr lang="en-IN" sz="1400" dirty="0"/>
              <a:t>, Y. (2019). Development and evaluation of a low-cost and smart technology for precision weed management utilizing artificial intelligence. Computers and Electronics in Agriculture, 157, 339-350. </a:t>
            </a:r>
            <a:r>
              <a:rPr lang="en-IN" sz="1400" dirty="0">
                <a:hlinkClick r:id="rId5"/>
              </a:rPr>
              <a:t>https://</a:t>
            </a:r>
            <a:r>
              <a:rPr lang="en-IN" sz="1400" dirty="0" smtClean="0">
                <a:hlinkClick r:id="rId5"/>
              </a:rPr>
              <a:t>doi.org/10.1016/j.compag.2018.12.048</a:t>
            </a:r>
            <a:endParaRPr lang="en-IN" sz="1400" dirty="0" smtClean="0"/>
          </a:p>
          <a:p>
            <a:pPr>
              <a:spcAft>
                <a:spcPts val="600"/>
              </a:spcAft>
              <a:defRPr sz="1100">
                <a:solidFill>
                  <a:srgbClr val="333333"/>
                </a:solidFill>
              </a:defRPr>
            </a:pPr>
            <a:r>
              <a:rPr lang="en-IN" sz="1400" dirty="0" smtClean="0"/>
              <a:t>[5</a:t>
            </a:r>
            <a:r>
              <a:rPr lang="en-IN" sz="1400" dirty="0"/>
              <a:t>] Esau, T.J., Zaman, Q.U., Chang, Y.K., et al. (2014). Spot-application of fungicide for wild blueberry using an automated prototype variable rate sprayer. Precision Agriculture, 15(2), 147-161. </a:t>
            </a:r>
            <a:r>
              <a:rPr lang="en-IN" sz="1400" dirty="0">
                <a:hlinkClick r:id="rId6"/>
              </a:rPr>
              <a:t>https://</a:t>
            </a:r>
            <a:r>
              <a:rPr lang="en-IN" sz="1400" dirty="0" smtClean="0">
                <a:hlinkClick r:id="rId6"/>
              </a:rPr>
              <a:t>doi.org/10.1007/s11119-013-9319-4</a:t>
            </a:r>
            <a:endParaRPr lang="en-IN" sz="1400" dirty="0" smtClean="0"/>
          </a:p>
          <a:p>
            <a:pPr>
              <a:spcAft>
                <a:spcPts val="600"/>
              </a:spcAft>
              <a:defRPr sz="1100">
                <a:solidFill>
                  <a:srgbClr val="333333"/>
                </a:solidFill>
              </a:defRPr>
            </a:pPr>
            <a:r>
              <a:rPr lang="en-IN" sz="1400" dirty="0" smtClean="0"/>
              <a:t>[6</a:t>
            </a:r>
            <a:r>
              <a:rPr lang="en-IN" sz="1400" dirty="0"/>
              <a:t>] Campos, J., </a:t>
            </a:r>
            <a:r>
              <a:rPr lang="en-IN" sz="1400" dirty="0" err="1"/>
              <a:t>Llop</a:t>
            </a:r>
            <a:r>
              <a:rPr lang="en-IN" sz="1400" dirty="0"/>
              <a:t>, J., </a:t>
            </a:r>
            <a:r>
              <a:rPr lang="en-IN" sz="1400" dirty="0" err="1"/>
              <a:t>Gallart</a:t>
            </a:r>
            <a:r>
              <a:rPr lang="en-IN" sz="1400" dirty="0"/>
              <a:t>, M., et al. (2020). Development of canopy vigour maps using UAV for site-specific management during vineyard spraying process. Precision Agriculture, 21, 1136-1156. </a:t>
            </a:r>
            <a:r>
              <a:rPr lang="en-IN" sz="1400" dirty="0">
                <a:hlinkClick r:id="rId7"/>
              </a:rPr>
              <a:t>https://</a:t>
            </a:r>
            <a:r>
              <a:rPr lang="en-IN" sz="1400" dirty="0" smtClean="0">
                <a:hlinkClick r:id="rId7"/>
              </a:rPr>
              <a:t>doi.org/10.1007/s11119-019-09694-2</a:t>
            </a:r>
            <a:endParaRPr lang="en-IN" sz="1400" dirty="0" smtClean="0"/>
          </a:p>
          <a:p>
            <a:pPr>
              <a:spcAft>
                <a:spcPts val="600"/>
              </a:spcAft>
              <a:defRPr sz="1100">
                <a:solidFill>
                  <a:srgbClr val="333333"/>
                </a:solidFill>
              </a:defRPr>
            </a:pPr>
            <a:r>
              <a:rPr lang="en-IN" sz="1400" dirty="0" smtClean="0"/>
              <a:t>[7</a:t>
            </a:r>
            <a:r>
              <a:rPr lang="en-IN" sz="1400" dirty="0"/>
              <a:t>] </a:t>
            </a:r>
            <a:r>
              <a:rPr lang="en-IN" sz="1400" dirty="0" err="1"/>
              <a:t>Ferentinos</a:t>
            </a:r>
            <a:r>
              <a:rPr lang="en-IN" sz="1400" dirty="0"/>
              <a:t>, K.P. (2018). Deep learning models for plant disease detection and diagnosis. Computers and Electronics in Agriculture, 145, 311-318. </a:t>
            </a:r>
            <a:r>
              <a:rPr lang="en-IN" sz="1400" dirty="0">
                <a:hlinkClick r:id="rId8"/>
              </a:rPr>
              <a:t>https://</a:t>
            </a:r>
            <a:r>
              <a:rPr lang="en-IN" sz="1400" dirty="0" smtClean="0">
                <a:hlinkClick r:id="rId8"/>
              </a:rPr>
              <a:t>doi.org/10.1016/j.compag.2017.11.017</a:t>
            </a:r>
            <a:endParaRPr lang="en-IN" sz="1400" dirty="0" smtClean="0"/>
          </a:p>
          <a:p>
            <a:pPr>
              <a:spcAft>
                <a:spcPts val="600"/>
              </a:spcAft>
              <a:defRPr sz="1100">
                <a:solidFill>
                  <a:srgbClr val="333333"/>
                </a:solidFill>
              </a:defRPr>
            </a:pPr>
            <a:r>
              <a:rPr lang="en-IN" sz="1400" dirty="0" smtClean="0"/>
              <a:t>[8</a:t>
            </a:r>
            <a:r>
              <a:rPr lang="en-IN" sz="1400" dirty="0"/>
              <a:t>] </a:t>
            </a:r>
            <a:r>
              <a:rPr lang="en-IN" sz="1400" dirty="0" err="1"/>
              <a:t>Sethy</a:t>
            </a:r>
            <a:r>
              <a:rPr lang="en-IN" sz="1400" dirty="0"/>
              <a:t>, P.K., </a:t>
            </a:r>
            <a:r>
              <a:rPr lang="en-IN" sz="1400" dirty="0" err="1"/>
              <a:t>Barpanda</a:t>
            </a:r>
            <a:r>
              <a:rPr lang="en-IN" sz="1400" dirty="0"/>
              <a:t>, N.K., </a:t>
            </a:r>
            <a:r>
              <a:rPr lang="en-IN" sz="1400" dirty="0" err="1"/>
              <a:t>Rath</a:t>
            </a:r>
            <a:r>
              <a:rPr lang="en-IN" sz="1400" dirty="0"/>
              <a:t>, A.K., &amp; </a:t>
            </a:r>
            <a:r>
              <a:rPr lang="en-IN" sz="1400" dirty="0" err="1"/>
              <a:t>Behera</a:t>
            </a:r>
            <a:r>
              <a:rPr lang="en-IN" sz="1400" dirty="0"/>
              <a:t>, S.K. (2020). Deep feature based rice leaf disease identification using support vector machine. Computers and Electronics in Agriculture, 175, 105527. </a:t>
            </a:r>
            <a:r>
              <a:rPr lang="en-IN" sz="1400" dirty="0" smtClean="0">
                <a:hlinkClick r:id="rId9"/>
              </a:rPr>
              <a:t>https</a:t>
            </a:r>
            <a:r>
              <a:rPr lang="en-IN" sz="1400" dirty="0">
                <a:hlinkClick r:id="rId9"/>
              </a:rPr>
              <a:t>://</a:t>
            </a:r>
            <a:r>
              <a:rPr lang="en-IN" sz="1400" dirty="0" smtClean="0">
                <a:hlinkClick r:id="rId9"/>
              </a:rPr>
              <a:t>doi.org/10.1016/j.compag.2020.105527</a:t>
            </a:r>
            <a:endParaRPr lang="en-IN" sz="1400" dirty="0" smtClean="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00425"/>
            <a:ext cx="8229600" cy="544872"/>
          </a:xfrm>
        </p:spPr>
        <p:txBody>
          <a:bodyPr>
            <a:normAutofit/>
          </a:bodyPr>
          <a:lstStyle/>
          <a:p>
            <a:r>
              <a:rPr lang="en-IN" sz="2600" b="1" dirty="0">
                <a:solidFill>
                  <a:schemeClr val="tx2">
                    <a:lumMod val="50000"/>
                  </a:schemeClr>
                </a:solidFill>
              </a:rPr>
              <a:t>References</a:t>
            </a:r>
          </a:p>
        </p:txBody>
      </p:sp>
      <p:sp>
        <p:nvSpPr>
          <p:cNvPr id="5" name="Content Placeholder 4"/>
          <p:cNvSpPr>
            <a:spLocks noGrp="1"/>
          </p:cNvSpPr>
          <p:nvPr>
            <p:ph idx="1"/>
          </p:nvPr>
        </p:nvSpPr>
        <p:spPr>
          <a:xfrm>
            <a:off x="457200" y="1104181"/>
            <a:ext cx="8229600" cy="5158596"/>
          </a:xfrm>
        </p:spPr>
        <p:txBody>
          <a:bodyPr>
            <a:noAutofit/>
          </a:bodyPr>
          <a:lstStyle/>
          <a:p>
            <a:pPr marL="0" indent="0">
              <a:spcAft>
                <a:spcPts val="600"/>
              </a:spcAft>
              <a:buNone/>
              <a:defRPr sz="1100">
                <a:solidFill>
                  <a:srgbClr val="333333"/>
                </a:solidFill>
              </a:defRPr>
            </a:pPr>
            <a:r>
              <a:rPr lang="en-IN" sz="1400" dirty="0"/>
              <a:t>[9] Rahman, C.R., </a:t>
            </a:r>
            <a:r>
              <a:rPr lang="en-IN" sz="1400" dirty="0" err="1"/>
              <a:t>Arko</a:t>
            </a:r>
            <a:r>
              <a:rPr lang="en-IN" sz="1400" dirty="0"/>
              <a:t>, P.S., Ali, M.E., et al. (2020). Identification and recognition of rice diseases and pests using convolutional neural networks. </a:t>
            </a:r>
            <a:r>
              <a:rPr lang="en-IN" sz="1400" dirty="0" err="1"/>
              <a:t>Biosystems</a:t>
            </a:r>
            <a:r>
              <a:rPr lang="en-IN" sz="1400" dirty="0"/>
              <a:t> Engineering, 194, 112-120. </a:t>
            </a:r>
            <a:r>
              <a:rPr lang="en-IN" sz="1400" dirty="0">
                <a:hlinkClick r:id="rId2"/>
              </a:rPr>
              <a:t>https://doi.org/10.1016/j.biosystemseng.2020.03.020</a:t>
            </a:r>
            <a:endParaRPr lang="en-IN" sz="1400" dirty="0"/>
          </a:p>
          <a:p>
            <a:pPr marL="0" indent="0">
              <a:spcAft>
                <a:spcPts val="600"/>
              </a:spcAft>
              <a:buNone/>
              <a:defRPr sz="1100">
                <a:solidFill>
                  <a:srgbClr val="333333"/>
                </a:solidFill>
              </a:defRPr>
            </a:pPr>
            <a:r>
              <a:rPr lang="en-IN" sz="1400" dirty="0" smtClean="0"/>
              <a:t>[10] </a:t>
            </a:r>
            <a:r>
              <a:rPr lang="en-IN" sz="1400" dirty="0"/>
              <a:t>Chen, J., Chen, J., Zhang, D., Sun, Y., &amp; </a:t>
            </a:r>
            <a:r>
              <a:rPr lang="en-IN" sz="1400" dirty="0" err="1"/>
              <a:t>Nanehkaran</a:t>
            </a:r>
            <a:r>
              <a:rPr lang="en-IN" sz="1400" dirty="0"/>
              <a:t>, Y.A. (2020). Using deep transfer learning for image-based plant disease identification. Computers and Electronics in Agriculture, 173, 105393. </a:t>
            </a:r>
            <a:r>
              <a:rPr lang="en-IN" sz="1400" dirty="0">
                <a:hlinkClick r:id="rId3"/>
              </a:rPr>
              <a:t>https://</a:t>
            </a:r>
            <a:r>
              <a:rPr lang="en-IN" sz="1400" dirty="0" smtClean="0">
                <a:hlinkClick r:id="rId3"/>
              </a:rPr>
              <a:t>doi.org/10.1016/j.compag.2020.105393</a:t>
            </a:r>
            <a:endParaRPr lang="en-IN" sz="1400" dirty="0" smtClean="0"/>
          </a:p>
          <a:p>
            <a:pPr marL="0" indent="0">
              <a:spcAft>
                <a:spcPts val="600"/>
              </a:spcAft>
              <a:buNone/>
              <a:defRPr sz="1100">
                <a:solidFill>
                  <a:srgbClr val="333333"/>
                </a:solidFill>
              </a:defRPr>
            </a:pPr>
            <a:r>
              <a:rPr lang="en-IN" sz="1400" dirty="0" smtClean="0"/>
              <a:t>[11] </a:t>
            </a:r>
            <a:r>
              <a:rPr lang="en-IN" sz="1400" dirty="0" err="1"/>
              <a:t>Samseemoung</a:t>
            </a:r>
            <a:r>
              <a:rPr lang="en-IN" sz="1400" dirty="0"/>
              <a:t>, G., </a:t>
            </a:r>
            <a:r>
              <a:rPr lang="en-IN" sz="1400" dirty="0" err="1"/>
              <a:t>Soni</a:t>
            </a:r>
            <a:r>
              <a:rPr lang="en-IN" sz="1400" dirty="0"/>
              <a:t>, P., &amp; </a:t>
            </a:r>
            <a:r>
              <a:rPr lang="en-IN" sz="1400" dirty="0" err="1"/>
              <a:t>Suwan</a:t>
            </a:r>
            <a:r>
              <a:rPr lang="en-IN" sz="1400" dirty="0"/>
              <a:t>, P. (2017). Development of a variable rate chemical sprayer for monitoring diseases and pests infestation in coconut plantations. Agriculture, 7(10), 89. </a:t>
            </a:r>
            <a:r>
              <a:rPr lang="en-IN" sz="1400" dirty="0">
                <a:hlinkClick r:id="rId4"/>
              </a:rPr>
              <a:t>https://</a:t>
            </a:r>
            <a:r>
              <a:rPr lang="en-IN" sz="1400" dirty="0" smtClean="0">
                <a:hlinkClick r:id="rId4"/>
              </a:rPr>
              <a:t>doi.org/10.3390/agriculture7100089</a:t>
            </a:r>
            <a:endParaRPr lang="en-IN" sz="1400" dirty="0" smtClean="0"/>
          </a:p>
          <a:p>
            <a:pPr marL="0" indent="0">
              <a:spcAft>
                <a:spcPts val="600"/>
              </a:spcAft>
              <a:buNone/>
              <a:defRPr sz="1100">
                <a:solidFill>
                  <a:srgbClr val="333333"/>
                </a:solidFill>
              </a:defRPr>
            </a:pPr>
            <a:r>
              <a:rPr lang="en-IN" sz="1400" dirty="0" smtClean="0"/>
              <a:t>[12] </a:t>
            </a:r>
            <a:r>
              <a:rPr lang="en-IN" sz="1400" dirty="0" err="1" smtClean="0"/>
              <a:t>Rehman</a:t>
            </a:r>
            <a:r>
              <a:rPr lang="en-IN" sz="1400" dirty="0" smtClean="0"/>
              <a:t>, T.U., Zaman, Q.U., Chang, Y.K., et al. (2019). Development and field evaluation of a machine vision based in-season weed detection system for wild blueberry. Computers and Electronics in Agriculture, 162, 1-13. </a:t>
            </a:r>
            <a:r>
              <a:rPr lang="en-IN" sz="1400" dirty="0" smtClean="0">
                <a:hlinkClick r:id="rId5"/>
              </a:rPr>
              <a:t>https://doi.org/10.1016/j.compag.2019.03.023</a:t>
            </a:r>
            <a:endParaRPr lang="en-IN" sz="1400" dirty="0" smtClean="0"/>
          </a:p>
          <a:p>
            <a:pPr marL="0" indent="0">
              <a:spcAft>
                <a:spcPts val="600"/>
              </a:spcAft>
              <a:buNone/>
              <a:defRPr sz="1100">
                <a:solidFill>
                  <a:srgbClr val="333333"/>
                </a:solidFill>
              </a:defRPr>
            </a:pPr>
            <a:r>
              <a:rPr lang="en-IN" sz="1400" dirty="0" smtClean="0"/>
              <a:t>[13] </a:t>
            </a:r>
            <a:r>
              <a:rPr lang="en-IN" sz="1400" dirty="0"/>
              <a:t>Xu, Y., Gao, Z., </a:t>
            </a:r>
            <a:r>
              <a:rPr lang="en-IN" sz="1400" dirty="0" err="1"/>
              <a:t>Khot</a:t>
            </a:r>
            <a:r>
              <a:rPr lang="en-IN" sz="1400" dirty="0"/>
              <a:t>, L., </a:t>
            </a:r>
            <a:r>
              <a:rPr lang="en-IN" sz="1400" dirty="0" err="1"/>
              <a:t>Meng</a:t>
            </a:r>
            <a:r>
              <a:rPr lang="en-IN" sz="1400" dirty="0"/>
              <a:t>, X., &amp; Zhang, Q. (2018). A real-time weed mapping and precision herbicide spraying system for row crops. Sensors, 18(12), 4245. </a:t>
            </a:r>
            <a:r>
              <a:rPr lang="en-IN" sz="1400" dirty="0">
                <a:hlinkClick r:id="rId6"/>
              </a:rPr>
              <a:t>https://</a:t>
            </a:r>
            <a:r>
              <a:rPr lang="en-IN" sz="1400" dirty="0" smtClean="0">
                <a:hlinkClick r:id="rId6"/>
              </a:rPr>
              <a:t>doi.org/10.3390/s18124245</a:t>
            </a:r>
            <a:endParaRPr lang="en-IN" sz="1400" dirty="0" smtClean="0"/>
          </a:p>
          <a:p>
            <a:pPr marL="0" indent="0">
              <a:buNone/>
            </a:pPr>
            <a:r>
              <a:rPr lang="en-IN" sz="1400" dirty="0"/>
              <a:t>[</a:t>
            </a:r>
            <a:r>
              <a:rPr lang="en-IN" sz="1400" dirty="0" smtClean="0"/>
              <a:t>14] </a:t>
            </a:r>
            <a:r>
              <a:rPr lang="en-IN" sz="1400" dirty="0"/>
              <a:t>J. Zhang, Y. Chen, C. </a:t>
            </a:r>
            <a:r>
              <a:rPr lang="en-IN" sz="1400" dirty="0" err="1"/>
              <a:t>Gu</a:t>
            </a:r>
            <a:r>
              <a:rPr lang="en-IN" sz="1400" dirty="0"/>
              <a:t>, Z. Li, J. Huang, X. </a:t>
            </a:r>
            <a:r>
              <a:rPr lang="en-IN" sz="1400" dirty="0" err="1"/>
              <a:t>Lv</a:t>
            </a:r>
            <a:r>
              <a:rPr lang="en-IN" sz="1400" dirty="0"/>
              <a:t>, S. Zhang, and W. </a:t>
            </a:r>
            <a:r>
              <a:rPr lang="en-IN" sz="1400" dirty="0" err="1"/>
              <a:t>Qiu</a:t>
            </a:r>
            <a:r>
              <a:rPr lang="en-IN" sz="1400" dirty="0"/>
              <a:t>, “A variable-rate spraying method fusing canopy volume and disease detection to reduce pesticide dosage,” </a:t>
            </a:r>
            <a:r>
              <a:rPr lang="en-IN" sz="1400" i="1" dirty="0"/>
              <a:t>Computers and Electronics in Agriculture</a:t>
            </a:r>
            <a:r>
              <a:rPr lang="en-IN" sz="1400" dirty="0"/>
              <a:t>, vol. 237, p. 110606, 2025, </a:t>
            </a:r>
            <a:r>
              <a:rPr lang="en-IN" sz="1400" dirty="0" err="1" smtClean="0">
                <a:hlinkClick r:id="rId7"/>
              </a:rPr>
              <a:t>doi</a:t>
            </a:r>
            <a:r>
              <a:rPr lang="en-IN" sz="1400" dirty="0">
                <a:hlinkClick r:id="rId7"/>
              </a:rPr>
              <a:t>: 10.1016/j.compag.2025.110606. </a:t>
            </a:r>
            <a:endParaRPr lang="en-IN" sz="1400" dirty="0"/>
          </a:p>
          <a:p>
            <a:pPr marL="0" indent="0">
              <a:buNone/>
            </a:pPr>
            <a:r>
              <a:rPr lang="en-IN" sz="1400" dirty="0"/>
              <a:t>[</a:t>
            </a:r>
            <a:r>
              <a:rPr lang="en-IN" sz="1400" dirty="0" smtClean="0"/>
              <a:t>15] </a:t>
            </a:r>
            <a:r>
              <a:rPr lang="en-IN" sz="1400" dirty="0"/>
              <a:t>A. E. </a:t>
            </a:r>
            <a:r>
              <a:rPr lang="en-IN" sz="1400" dirty="0" err="1"/>
              <a:t>Abioye</a:t>
            </a:r>
            <a:r>
              <a:rPr lang="en-IN" sz="1400" dirty="0"/>
              <a:t>, P. A. </a:t>
            </a:r>
            <a:r>
              <a:rPr lang="en-IN" sz="1400" dirty="0" err="1"/>
              <a:t>Larbi</a:t>
            </a:r>
            <a:r>
              <a:rPr lang="en-IN" sz="1400" dirty="0"/>
              <a:t>, and A. A. K. </a:t>
            </a:r>
            <a:r>
              <a:rPr lang="en-IN" sz="1400" dirty="0" err="1"/>
              <a:t>Hadwan</a:t>
            </a:r>
            <a:r>
              <a:rPr lang="en-IN" sz="1400" dirty="0"/>
              <a:t>, “Deep learning guided variable rate robotic sprayer prototype,” </a:t>
            </a:r>
            <a:r>
              <a:rPr lang="en-IN" sz="1400" i="1" dirty="0"/>
              <a:t>Smart Agricultural Technology</a:t>
            </a:r>
            <a:r>
              <a:rPr lang="en-IN" sz="1400" dirty="0"/>
              <a:t>, vol. 9, p. 100540, </a:t>
            </a:r>
            <a:r>
              <a:rPr lang="en-IN" sz="1400" dirty="0" smtClean="0"/>
              <a:t>2024, </a:t>
            </a:r>
            <a:r>
              <a:rPr lang="en-IN" sz="1400" dirty="0" smtClean="0">
                <a:hlinkClick r:id="rId8" tooltip="Persistent link using digital object identifier"/>
              </a:rPr>
              <a:t>https</a:t>
            </a:r>
            <a:r>
              <a:rPr lang="en-IN" sz="1400" dirty="0">
                <a:hlinkClick r:id="rId8" tooltip="Persistent link using digital object identifier"/>
              </a:rPr>
              <a:t>://doi.org/10.1016/j.atech.2024.100540</a:t>
            </a:r>
            <a:r>
              <a:rPr lang="en-IN" sz="1400" dirty="0" smtClean="0"/>
              <a:t>. </a:t>
            </a:r>
            <a:endParaRPr lang="en-IN" sz="1400" dirty="0"/>
          </a:p>
          <a:p>
            <a:pPr marL="0" indent="0">
              <a:spcAft>
                <a:spcPts val="600"/>
              </a:spcAft>
              <a:buNone/>
              <a:defRPr sz="1100">
                <a:solidFill>
                  <a:srgbClr val="333333"/>
                </a:solidFill>
              </a:defRPr>
            </a:pPr>
            <a:endParaRPr lang="en-IN" sz="1400" dirty="0"/>
          </a:p>
        </p:txBody>
      </p:sp>
    </p:spTree>
    <p:extLst>
      <p:ext uri="{BB962C8B-B14F-4D97-AF65-F5344CB8AC3E}">
        <p14:creationId xmlns:p14="http://schemas.microsoft.com/office/powerpoint/2010/main" val="23279190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697353"/>
            <a:ext cx="7772400" cy="1470025"/>
          </a:xfrm>
        </p:spPr>
        <p:txBody>
          <a:bodyPr/>
          <a:lstStyle/>
          <a:p>
            <a:pPr>
              <a:defRPr sz="4400" b="1">
                <a:solidFill>
                  <a:srgbClr val="1B3A5C"/>
                </a:solidFill>
              </a:defRPr>
            </a:pPr>
            <a:r>
              <a:rPr lang="en-US" dirty="0" smtClean="0"/>
              <a:t>Thank </a:t>
            </a:r>
            <a:r>
              <a:rPr lang="en-US" dirty="0"/>
              <a:t>you for your time. </a:t>
            </a:r>
            <a:br>
              <a:rPr lang="en-US" dirty="0"/>
            </a:br>
            <a:r>
              <a:rPr lang="en-US" dirty="0" smtClean="0"/>
              <a:t>We're </a:t>
            </a:r>
            <a:r>
              <a:rPr lang="en-US" dirty="0"/>
              <a:t>happy to take questions.</a:t>
            </a: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587</TotalTime>
  <Words>4515</Words>
  <Application>Microsoft Office PowerPoint</Application>
  <PresentationFormat>On-screen Show (4:3)</PresentationFormat>
  <Paragraphs>448</Paragraphs>
  <Slides>24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Segoe WPC</vt:lpstr>
      <vt:lpstr>Office Theme</vt:lpstr>
      <vt:lpstr>Deep Learning and IoT-Based Real-Time Variable-Rate Chemical Spraying System for Disease Control in Paddy Crop</vt:lpstr>
      <vt:lpstr>Problem Statement</vt:lpstr>
      <vt:lpstr>Domain: Variable-Rate Application (VRA)</vt:lpstr>
      <vt:lpstr>Domain: Deep Learning in Agriculture</vt:lpstr>
      <vt:lpstr>Literature Review: Variable-Rate Spraying Systems</vt:lpstr>
      <vt:lpstr>Literature Review: Deep Learning for Rice Disease Detection</vt:lpstr>
      <vt:lpstr>PowerPoint Presentation</vt:lpstr>
      <vt:lpstr>Literature Review — CNN Architectures Evaluated</vt:lpstr>
      <vt:lpstr>Identified Research Gap &amp; Our Contribution</vt:lpstr>
      <vt:lpstr>Project Objectives</vt:lpstr>
      <vt:lpstr>Scope &amp; Expected Outcomes</vt:lpstr>
      <vt:lpstr>Proposed Methodology - Overview</vt:lpstr>
      <vt:lpstr>Proposed Methodology: CNN Model Pipeline</vt:lpstr>
      <vt:lpstr>Proposed Methodology: Spray Decision Algorithm</vt:lpstr>
      <vt:lpstr>PowerPoint Presentation</vt:lpstr>
      <vt:lpstr>Module Design</vt:lpstr>
      <vt:lpstr>Hardware Components</vt:lpstr>
      <vt:lpstr>Feasibility Analysis</vt:lpstr>
      <vt:lpstr>Ethical Considerations</vt:lpstr>
      <vt:lpstr>Work Plan &amp; Timeline</vt:lpstr>
      <vt:lpstr>Novelty: Base Paper vs Our Proposed System</vt:lpstr>
      <vt:lpstr>References</vt:lpstr>
      <vt:lpstr>References</vt:lpstr>
      <vt:lpstr>Thank you for your time.  We're happy to take questions.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 and IoT-Based Real-Time Variable-Rate Chemical Spraying System for Disease Control in Paddy Crop</dc:title>
  <dc:subject/>
  <dc:creator>SOURISH DAS</dc:creator>
  <cp:keywords/>
  <dc:description>generated using python-pptx</dc:description>
  <cp:lastModifiedBy>SOURISH DAS</cp:lastModifiedBy>
  <cp:revision>174</cp:revision>
  <dcterms:created xsi:type="dcterms:W3CDTF">2013-01-27T09:14:16Z</dcterms:created>
  <dcterms:modified xsi:type="dcterms:W3CDTF">2026-08-19T07:31:27Z</dcterms:modified>
  <cp:category/>
</cp:coreProperties>
</file>