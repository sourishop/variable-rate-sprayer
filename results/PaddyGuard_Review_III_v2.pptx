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35D07F"/>
                </a:solidFill>
                <a:latin typeface="Calibri"/>
              </a:defRPr>
            </a:pPr>
            <a:r>
              <a:t>PaddyGuard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E8F5EC"/>
                </a:solidFill>
                <a:latin typeface="Calibri"/>
              </a:defRPr>
            </a:pPr>
            <a:r>
              <a:t>Deep Learning-Based Rice Leaf Disease Detection</a:t>
            </a:r>
            <a:br/>
            <a:r>
              <a:t>&amp; Variable-Rate Chemical Spraying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FB3A0"/>
                </a:solidFill>
                <a:latin typeface="Calibri"/>
              </a:defRPr>
            </a:pPr>
            <a:r>
              <a:t>Review III — Panel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FB3A0"/>
                </a:solidFill>
                <a:latin typeface="Calibri"/>
              </a:defRPr>
            </a:pPr>
            <a:r>
              <a:t>Based on Tewari et al. (2020) methodology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35D07F"/>
                </a:solidFill>
                <a:latin typeface="Calibri"/>
              </a:defRPr>
            </a:pPr>
            <a:r>
              <a:t>Problem Statement &amp; Objective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5486400" cy="2743200"/>
          </a:xfrm>
          <a:prstGeom prst="roundRect">
            <a:avLst/>
          </a:prstGeom>
          <a:solidFill>
            <a:srgbClr val="122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5D07F"/>
                </a:solidFill>
                <a:latin typeface="Calibri"/>
              </a:defRPr>
            </a:pPr>
            <a:r>
              <a:t>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F5EC"/>
                </a:solidFill>
                <a:latin typeface="Calibri"/>
              </a:defRPr>
            </a:pPr>
            <a:r>
              <a:t>• 20-40% of global crop yield lost to plant diseases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84831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F5EC"/>
                </a:solidFill>
                <a:latin typeface="Calibri"/>
              </a:defRPr>
            </a:pPr>
            <a:r>
              <a:t>• Traditional uniform spraying wastes chemicals &amp; harms environment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32303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F5EC"/>
                </a:solidFill>
                <a:latin typeface="Calibri"/>
              </a:defRPr>
            </a:pPr>
            <a:r>
              <a:t>• Manual disease diagnosis is slow and subjective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779775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F5EC"/>
                </a:solidFill>
                <a:latin typeface="Calibri"/>
              </a:defRPr>
            </a:pPr>
            <a:r>
              <a:t>• Existing systems lack real severity measurement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097280"/>
            <a:ext cx="5486400" cy="2743200"/>
          </a:xfrm>
          <a:prstGeom prst="roundRect">
            <a:avLst/>
          </a:prstGeom>
          <a:solidFill>
            <a:srgbClr val="122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28016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B6F36B"/>
                </a:solidFill>
                <a:latin typeface="Calibri"/>
              </a:defRPr>
            </a:pPr>
            <a:r>
              <a:t>Our Solution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7373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F5EC"/>
                </a:solidFill>
                <a:latin typeface="Calibri"/>
              </a:defRPr>
            </a:pPr>
            <a:r>
              <a:t>• CNN classifier identifies the disease type (6 classes incl. Healthy)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084831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F5EC"/>
                </a:solidFill>
                <a:latin typeface="Calibri"/>
              </a:defRPr>
            </a:pPr>
            <a:r>
              <a:t>• Trained segmentation model measures actual diseased area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432303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F5EC"/>
                </a:solidFill>
                <a:latin typeface="Calibri"/>
              </a:defRPr>
            </a:pPr>
            <a:r>
              <a:t>• Disease-specific dosing: different diseases get different spray intensity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779775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F5EC"/>
                </a:solidFill>
                <a:latin typeface="Calibri"/>
              </a:defRPr>
            </a:pPr>
            <a:r>
              <a:t>• Variable-rate spray: solenoid open time proportional to severity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3127247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F5EC"/>
                </a:solidFill>
                <a:latin typeface="Calibri"/>
              </a:defRPr>
            </a:pPr>
            <a:r>
              <a:t>• Interactive web demo for real-time diagnosis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35D07F"/>
                </a:solidFill>
                <a:latin typeface="Calibri"/>
              </a:defRPr>
            </a:pPr>
            <a:r>
              <a:t>System Architecture — Pipeline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2103120" cy="2011680"/>
          </a:xfrm>
          <a:prstGeom prst="roundRect">
            <a:avLst/>
          </a:prstGeom>
          <a:solidFill>
            <a:srgbClr val="122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4630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5D07F"/>
                </a:solidFill>
                <a:latin typeface="Calibri"/>
              </a:defRPr>
            </a:pPr>
            <a:r>
              <a:t>1. Upload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01168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F5EC"/>
                </a:solidFill>
                <a:latin typeface="Calibri"/>
              </a:defRPr>
            </a:pPr>
            <a:r>
              <a:t>User uploads</a:t>
            </a:r>
            <a:br/>
            <a:r>
              <a:t>a leaf image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88920" y="1371600"/>
            <a:ext cx="2103120" cy="2011680"/>
          </a:xfrm>
          <a:prstGeom prst="roundRect">
            <a:avLst/>
          </a:prstGeom>
          <a:solidFill>
            <a:srgbClr val="122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79" y="14630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B6F36B"/>
                </a:solidFill>
                <a:latin typeface="Calibri"/>
              </a:defRPr>
            </a:pPr>
            <a:r>
              <a:t>2. Classify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79" y="201168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F5EC"/>
                </a:solidFill>
                <a:latin typeface="Calibri"/>
              </a:defRPr>
            </a:pPr>
            <a:r>
              <a:t>EfficientNetV2-B0</a:t>
            </a:r>
            <a:br/>
            <a:r>
              <a:t>identifies disease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20640" y="1371600"/>
            <a:ext cx="2103120" cy="2011680"/>
          </a:xfrm>
          <a:prstGeom prst="roundRect">
            <a:avLst/>
          </a:prstGeom>
          <a:solidFill>
            <a:srgbClr val="122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57800" y="14630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B6F36B"/>
                </a:solidFill>
                <a:latin typeface="Calibri"/>
              </a:defRPr>
            </a:pPr>
            <a:r>
              <a:t>3. Segment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57800" y="201168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F5EC"/>
                </a:solidFill>
                <a:latin typeface="Calibri"/>
              </a:defRPr>
            </a:pPr>
            <a:r>
              <a:t>U-Net detects</a:t>
            </a:r>
            <a:br/>
            <a:r>
              <a:t>lesion pixels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52359" y="1371600"/>
            <a:ext cx="2103120" cy="2011680"/>
          </a:xfrm>
          <a:prstGeom prst="roundRect">
            <a:avLst/>
          </a:prstGeom>
          <a:solidFill>
            <a:srgbClr val="122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19" y="14630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B443"/>
                </a:solidFill>
                <a:latin typeface="Calibri"/>
              </a:defRPr>
            </a:pPr>
            <a:r>
              <a:t>4. Severity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19" y="201168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F5EC"/>
                </a:solidFill>
                <a:latin typeface="Calibri"/>
              </a:defRPr>
            </a:pPr>
            <a:r>
              <a:t>diseased ÷ leaf</a:t>
            </a:r>
            <a:br/>
            <a:r>
              <a:t>= severity 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784080" y="1371600"/>
            <a:ext cx="2103120" cy="2011680"/>
          </a:xfrm>
          <a:prstGeom prst="roundRect">
            <a:avLst/>
          </a:prstGeom>
          <a:solidFill>
            <a:srgbClr val="122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921240" y="14630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5A5A"/>
                </a:solidFill>
                <a:latin typeface="Calibri"/>
              </a:defRPr>
            </a:pPr>
            <a:r>
              <a:t>5. Spray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21240" y="201168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F5EC"/>
                </a:solidFill>
                <a:latin typeface="Calibri"/>
              </a:defRPr>
            </a:pPr>
            <a:r>
              <a:t>C_eff → solenoid</a:t>
            </a:r>
            <a:br/>
            <a:r>
              <a:t>open time (t_s)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8404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FB3A0"/>
                </a:solidFill>
                <a:latin typeface="Calibri"/>
              </a:defRPr>
            </a:pPr>
            <a:r>
              <a:t>Key novelty: The CNN diagnoses WHICH disease; segmentation measures HOW MUCH.</a:t>
            </a:r>
            <a:br/>
            <a:r>
              <a:t>These are independent — the disease type then scales the spray dose via a per-disease factor.</a:t>
            </a:r>
            <a:br/>
            <a:r>
              <a:t>Interactive leaf tracing (MobileSAM / free-form polygon) isolates the main leaf from cluttered backgrounds.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35D07F"/>
                </a:solidFill>
                <a:latin typeface="Calibri"/>
              </a:defRPr>
            </a:pPr>
            <a:r>
              <a:t>Modules Implemented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8503920" cy="3703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4114800"/>
                <a:gridCol w="1828800"/>
              </a:tblGrid>
              <a:tr h="41148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6130C"/>
                          </a:solidFill>
                          <a:latin typeface="Calibri"/>
                        </a:defRPr>
                      </a:pPr>
                      <a:r>
                        <a:t>Module</a:t>
                      </a:r>
                    </a:p>
                  </a:txBody>
                  <a:tcPr>
                    <a:solidFill>
                      <a:srgbClr val="35D07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6130C"/>
                          </a:solidFill>
                          <a:latin typeface="Calibri"/>
                        </a:defRPr>
                      </a:pPr>
                      <a:r>
                        <a:t>Method</a:t>
                      </a:r>
                    </a:p>
                  </a:txBody>
                  <a:tcPr>
                    <a:solidFill>
                      <a:srgbClr val="35D07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6130C"/>
                          </a:solidFill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35D07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F5EC"/>
                          </a:solidFill>
                          <a:latin typeface="Calibri"/>
                        </a:defRPr>
                      </a:pPr>
                      <a:r>
                        <a:t>Disease Classifier</a:t>
                      </a:r>
                    </a:p>
                  </a:txBody>
                  <a:tcPr>
                    <a:solidFill>
                      <a:srgbClr val="1222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F5EC"/>
                          </a:solidFill>
                          <a:latin typeface="Calibri"/>
                        </a:defRPr>
                      </a:pPr>
                      <a:r>
                        <a:t>EfficientNetV2-B0 (transfer learning)</a:t>
                      </a:r>
                    </a:p>
                  </a:txBody>
                  <a:tcPr>
                    <a:solidFill>
                      <a:srgbClr val="1222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F5EC"/>
                          </a:solidFill>
                          <a:latin typeface="Calibri"/>
                        </a:defRPr>
                      </a:pPr>
                      <a:r>
                        <a:t>Trained &amp; deployed</a:t>
                      </a:r>
                    </a:p>
                  </a:txBody>
                  <a:tcPr>
                    <a:solidFill>
                      <a:srgbClr val="12221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F5EC"/>
                          </a:solidFill>
                          <a:latin typeface="Calibri"/>
                        </a:defRPr>
                      </a:pPr>
                      <a:r>
                        <a:t>Lesion Segmenter</a:t>
                      </a:r>
                    </a:p>
                  </a:txBody>
                  <a:tcPr>
                    <a:solidFill>
                      <a:srgbClr val="1222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F5EC"/>
                          </a:solidFill>
                          <a:latin typeface="Calibri"/>
                        </a:defRPr>
                      </a:pPr>
                      <a:r>
                        <a:t>U-Net (MobileNetV2 encoder), Dice+BCE</a:t>
                      </a:r>
                    </a:p>
                  </a:txBody>
                  <a:tcPr>
                    <a:solidFill>
                      <a:srgbClr val="1222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F5EC"/>
                          </a:solidFill>
                          <a:latin typeface="Calibri"/>
                        </a:defRPr>
                      </a:pPr>
                      <a:r>
                        <a:t>Trained &amp; deployed</a:t>
                      </a:r>
                    </a:p>
                  </a:txBody>
                  <a:tcPr>
                    <a:solidFill>
                      <a:srgbClr val="12221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F5EC"/>
                          </a:solidFill>
                          <a:latin typeface="Calibri"/>
                        </a:defRPr>
                      </a:pPr>
                      <a:r>
                        <a:t>Leaf Isolation</a:t>
                      </a:r>
                    </a:p>
                  </a:txBody>
                  <a:tcPr>
                    <a:solidFill>
                      <a:srgbClr val="1222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F5EC"/>
                          </a:solidFill>
                          <a:latin typeface="Calibri"/>
                        </a:defRPr>
                      </a:pPr>
                      <a:r>
                        <a:t>MobileSAM + free-form lasso</a:t>
                      </a:r>
                    </a:p>
                  </a:txBody>
                  <a:tcPr>
                    <a:solidFill>
                      <a:srgbClr val="1222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F5EC"/>
                          </a:solidFill>
                          <a:latin typeface="Calibri"/>
                        </a:defRPr>
                      </a:pPr>
                      <a:r>
                        <a:t>Deployed</a:t>
                      </a:r>
                    </a:p>
                  </a:txBody>
                  <a:tcPr>
                    <a:solidFill>
                      <a:srgbClr val="12221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F5EC"/>
                          </a:solidFill>
                          <a:latin typeface="Calibri"/>
                        </a:defRPr>
                      </a:pPr>
                      <a:r>
                        <a:t>Severity Measurement</a:t>
                      </a:r>
                    </a:p>
                  </a:txBody>
                  <a:tcPr>
                    <a:solidFill>
                      <a:srgbClr val="1222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F5EC"/>
                          </a:solidFill>
                          <a:latin typeface="Calibri"/>
                        </a:defRPr>
                      </a:pPr>
                      <a:r>
                        <a:t>diseased px ÷ leaf px × 100</a:t>
                      </a:r>
                    </a:p>
                  </a:txBody>
                  <a:tcPr>
                    <a:solidFill>
                      <a:srgbClr val="1222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F5EC"/>
                          </a:solidFill>
                          <a:latin typeface="Calibri"/>
                        </a:defRPr>
                      </a:pPr>
                      <a:r>
                        <a:t>Deployed</a:t>
                      </a:r>
                    </a:p>
                  </a:txBody>
                  <a:tcPr>
                    <a:solidFill>
                      <a:srgbClr val="12221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F5EC"/>
                          </a:solidFill>
                          <a:latin typeface="Calibri"/>
                        </a:defRPr>
                      </a:pPr>
                      <a:r>
                        <a:t>Disease-Specific Dosing</a:t>
                      </a:r>
                    </a:p>
                  </a:txBody>
                  <a:tcPr>
                    <a:solidFill>
                      <a:srgbClr val="1222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F5EC"/>
                          </a:solidFill>
                          <a:latin typeface="Calibri"/>
                        </a:defRPr>
                      </a:pPr>
                      <a:r>
                        <a:t>Per-disease factor × base coefficient</a:t>
                      </a:r>
                    </a:p>
                  </a:txBody>
                  <a:tcPr>
                    <a:solidFill>
                      <a:srgbClr val="1222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F5EC"/>
                          </a:solidFill>
                          <a:latin typeface="Calibri"/>
                        </a:defRPr>
                      </a:pPr>
                      <a:r>
                        <a:t>Deployed</a:t>
                      </a:r>
                    </a:p>
                  </a:txBody>
                  <a:tcPr>
                    <a:solidFill>
                      <a:srgbClr val="12221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F5EC"/>
                          </a:solidFill>
                          <a:latin typeface="Calibri"/>
                        </a:defRPr>
                      </a:pPr>
                      <a:r>
                        <a:t>Variable-Rate Spray</a:t>
                      </a:r>
                    </a:p>
                  </a:txBody>
                  <a:tcPr>
                    <a:solidFill>
                      <a:srgbClr val="1222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F5EC"/>
                          </a:solidFill>
                          <a:latin typeface="Calibri"/>
                        </a:defRPr>
                      </a:pPr>
                      <a:r>
                        <a:t>Standardized solenoid timing (0.5–3.0s)</a:t>
                      </a:r>
                    </a:p>
                  </a:txBody>
                  <a:tcPr>
                    <a:solidFill>
                      <a:srgbClr val="1222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F5EC"/>
                          </a:solidFill>
                          <a:latin typeface="Calibri"/>
                        </a:defRPr>
                      </a:pPr>
                      <a:r>
                        <a:t>Deployed</a:t>
                      </a:r>
                    </a:p>
                  </a:txBody>
                  <a:tcPr>
                    <a:solidFill>
                      <a:srgbClr val="12221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F5EC"/>
                          </a:solidFill>
                          <a:latin typeface="Calibri"/>
                        </a:defRPr>
                      </a:pPr>
                      <a:r>
                        <a:t>Confidence Gate</a:t>
                      </a:r>
                    </a:p>
                  </a:txBody>
                  <a:tcPr>
                    <a:solidFill>
                      <a:srgbClr val="1222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F5EC"/>
                          </a:solidFill>
                          <a:latin typeface="Calibri"/>
                        </a:defRPr>
                      </a:pPr>
                      <a:r>
                        <a:t>Flag uncertain predictions (&lt;70%)</a:t>
                      </a:r>
                    </a:p>
                  </a:txBody>
                  <a:tcPr>
                    <a:solidFill>
                      <a:srgbClr val="1222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F5EC"/>
                          </a:solidFill>
                          <a:latin typeface="Calibri"/>
                        </a:defRPr>
                      </a:pPr>
                      <a:r>
                        <a:t>Deployed</a:t>
                      </a:r>
                    </a:p>
                  </a:txBody>
                  <a:tcPr>
                    <a:solidFill>
                      <a:srgbClr val="12221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F5EC"/>
                          </a:solidFill>
                          <a:latin typeface="Calibri"/>
                        </a:defRPr>
                      </a:pPr>
                      <a:r>
                        <a:t>Web Demo (PaddyGuard)</a:t>
                      </a:r>
                    </a:p>
                  </a:txBody>
                  <a:tcPr>
                    <a:solidFill>
                      <a:srgbClr val="1222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F5EC"/>
                          </a:solidFill>
                          <a:latin typeface="Calibri"/>
                        </a:defRPr>
                      </a:pPr>
                      <a:r>
                        <a:t>Flask + animated frontend (3 tabs)</a:t>
                      </a:r>
                    </a:p>
                  </a:txBody>
                  <a:tcPr>
                    <a:solidFill>
                      <a:srgbClr val="1222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F5EC"/>
                          </a:solidFill>
                          <a:latin typeface="Calibri"/>
                        </a:defRPr>
                      </a:pPr>
                      <a:r>
                        <a:t>Deployed</a:t>
                      </a:r>
                    </a:p>
                  </a:txBody>
                  <a:tcPr>
                    <a:solidFill>
                      <a:srgbClr val="12221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35D07F"/>
                </a:solidFill>
                <a:latin typeface="Calibri"/>
              </a:defRPr>
            </a:pPr>
            <a:r>
              <a:t>Classifier Results — 3-Class Model (UCI Dataset)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FB3A0"/>
                </a:solidFill>
                <a:latin typeface="Calibri"/>
              </a:defRPr>
            </a:pPr>
            <a:r>
              <a:t>Held-out test set: 164 images the model never saw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554480"/>
          <a:ext cx="566928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005840"/>
                <a:gridCol w="914400"/>
                <a:gridCol w="822960"/>
                <a:gridCol w="914400"/>
              </a:tblGrid>
              <a:tr h="41148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6130C"/>
                          </a:solidFill>
                          <a:latin typeface="Calibri"/>
                        </a:defRPr>
                      </a:pPr>
                      <a:r>
                        <a:t>Class</a:t>
                      </a:r>
                    </a:p>
                  </a:txBody>
                  <a:tcPr>
                    <a:solidFill>
                      <a:srgbClr val="35D07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6130C"/>
                          </a:solidFill>
                          <a:latin typeface="Calibri"/>
                        </a:defRPr>
                      </a:pPr>
                      <a:r>
                        <a:t>Precision</a:t>
                      </a:r>
                    </a:p>
                  </a:txBody>
                  <a:tcPr>
                    <a:solidFill>
                      <a:srgbClr val="35D07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6130C"/>
                          </a:solidFill>
                          <a:latin typeface="Calibri"/>
                        </a:defRPr>
                      </a:pPr>
                      <a:r>
                        <a:t>Recall</a:t>
                      </a:r>
                    </a:p>
                  </a:txBody>
                  <a:tcPr>
                    <a:solidFill>
                      <a:srgbClr val="35D07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6130C"/>
                          </a:solidFill>
                          <a:latin typeface="Calibri"/>
                        </a:defRPr>
                      </a:pPr>
                      <a:r>
                        <a:t>F1</a:t>
                      </a:r>
                    </a:p>
                  </a:txBody>
                  <a:tcPr>
                    <a:solidFill>
                      <a:srgbClr val="35D07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6130C"/>
                          </a:solidFill>
                          <a:latin typeface="Calibri"/>
                        </a:defRPr>
                      </a:pPr>
                      <a:r>
                        <a:t>Support</a:t>
                      </a:r>
                    </a:p>
                  </a:txBody>
                  <a:tcPr>
                    <a:solidFill>
                      <a:srgbClr val="35D07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F5EC"/>
                          </a:solidFill>
                          <a:latin typeface="Calibri"/>
                        </a:defRPr>
                      </a:pPr>
                      <a:r>
                        <a:t>Bacterial leaf blight</a:t>
                      </a:r>
                    </a:p>
                  </a:txBody>
                  <a:tcPr>
                    <a:solidFill>
                      <a:srgbClr val="1222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F5EC"/>
                          </a:solidFill>
                          <a:latin typeface="Calibri"/>
                        </a:defRPr>
                      </a:pPr>
                      <a:r>
                        <a:t>1.00</a:t>
                      </a:r>
                    </a:p>
                  </a:txBody>
                  <a:tcPr>
                    <a:solidFill>
                      <a:srgbClr val="1222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F5EC"/>
                          </a:solidFill>
                          <a:latin typeface="Calibri"/>
                        </a:defRPr>
                      </a:pPr>
                      <a:r>
                        <a:t>1.00</a:t>
                      </a:r>
                    </a:p>
                  </a:txBody>
                  <a:tcPr>
                    <a:solidFill>
                      <a:srgbClr val="1222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F5EC"/>
                          </a:solidFill>
                          <a:latin typeface="Calibri"/>
                        </a:defRPr>
                      </a:pPr>
                      <a:r>
                        <a:t>1.00</a:t>
                      </a:r>
                    </a:p>
                  </a:txBody>
                  <a:tcPr>
                    <a:solidFill>
                      <a:srgbClr val="1222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F5EC"/>
                          </a:solidFill>
                          <a:latin typeface="Calibri"/>
                        </a:defRPr>
                      </a:pPr>
                      <a:r>
                        <a:t>55</a:t>
                      </a:r>
                    </a:p>
                  </a:txBody>
                  <a:tcPr>
                    <a:solidFill>
                      <a:srgbClr val="12221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F5EC"/>
                          </a:solidFill>
                          <a:latin typeface="Calibri"/>
                        </a:defRPr>
                      </a:pPr>
                      <a:r>
                        <a:t>Brown spot</a:t>
                      </a:r>
                    </a:p>
                  </a:txBody>
                  <a:tcPr>
                    <a:solidFill>
                      <a:srgbClr val="1222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F5EC"/>
                          </a:solidFill>
                          <a:latin typeface="Calibri"/>
                        </a:defRPr>
                      </a:pPr>
                      <a:r>
                        <a:t>0.86</a:t>
                      </a:r>
                    </a:p>
                  </a:txBody>
                  <a:tcPr>
                    <a:solidFill>
                      <a:srgbClr val="1222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F5EC"/>
                          </a:solidFill>
                          <a:latin typeface="Calibri"/>
                        </a:defRPr>
                      </a:pPr>
                      <a:r>
                        <a:t>0.89</a:t>
                      </a:r>
                    </a:p>
                  </a:txBody>
                  <a:tcPr>
                    <a:solidFill>
                      <a:srgbClr val="1222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F5EC"/>
                          </a:solidFill>
                          <a:latin typeface="Calibri"/>
                        </a:defRPr>
                      </a:pPr>
                      <a:r>
                        <a:t>0.87</a:t>
                      </a:r>
                    </a:p>
                  </a:txBody>
                  <a:tcPr>
                    <a:solidFill>
                      <a:srgbClr val="1222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F5EC"/>
                          </a:solidFill>
                          <a:latin typeface="Calibri"/>
                        </a:defRPr>
                      </a:pPr>
                      <a:r>
                        <a:t>54</a:t>
                      </a:r>
                    </a:p>
                  </a:txBody>
                  <a:tcPr>
                    <a:solidFill>
                      <a:srgbClr val="12221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F5EC"/>
                          </a:solidFill>
                          <a:latin typeface="Calibri"/>
                        </a:defRPr>
                      </a:pPr>
                      <a:r>
                        <a:t>Leaf smut</a:t>
                      </a:r>
                    </a:p>
                  </a:txBody>
                  <a:tcPr>
                    <a:solidFill>
                      <a:srgbClr val="1222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F5EC"/>
                          </a:solidFill>
                          <a:latin typeface="Calibri"/>
                        </a:defRPr>
                      </a:pPr>
                      <a:r>
                        <a:t>0.89</a:t>
                      </a:r>
                    </a:p>
                  </a:txBody>
                  <a:tcPr>
                    <a:solidFill>
                      <a:srgbClr val="1222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F5EC"/>
                          </a:solidFill>
                          <a:latin typeface="Calibri"/>
                        </a:defRPr>
                      </a:pPr>
                      <a:r>
                        <a:t>0.85</a:t>
                      </a:r>
                    </a:p>
                  </a:txBody>
                  <a:tcPr>
                    <a:solidFill>
                      <a:srgbClr val="1222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F5EC"/>
                          </a:solidFill>
                          <a:latin typeface="Calibri"/>
                        </a:defRPr>
                      </a:pPr>
                      <a:r>
                        <a:t>0.87</a:t>
                      </a:r>
                    </a:p>
                  </a:txBody>
                  <a:tcPr>
                    <a:solidFill>
                      <a:srgbClr val="1222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F5EC"/>
                          </a:solidFill>
                          <a:latin typeface="Calibri"/>
                        </a:defRPr>
                      </a:pPr>
                      <a:r>
                        <a:t>55</a:t>
                      </a:r>
                    </a:p>
                  </a:txBody>
                  <a:tcPr>
                    <a:solidFill>
                      <a:srgbClr val="12221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F5EC"/>
                          </a:solidFill>
                          <a:latin typeface="Calibri"/>
                        </a:defRPr>
                      </a:pPr>
                      <a:r>
                        <a:t>Overall accuracy</a:t>
                      </a:r>
                    </a:p>
                  </a:txBody>
                  <a:tcPr>
                    <a:solidFill>
                      <a:srgbClr val="1222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F5EC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1222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F5EC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1222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F5EC"/>
                          </a:solidFill>
                          <a:latin typeface="Calibri"/>
                        </a:defRPr>
                      </a:pPr>
                      <a:r>
                        <a:t>0.915</a:t>
                      </a:r>
                    </a:p>
                  </a:txBody>
                  <a:tcPr>
                    <a:solidFill>
                      <a:srgbClr val="1222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F5EC"/>
                          </a:solidFill>
                          <a:latin typeface="Calibri"/>
                        </a:defRPr>
                      </a:pPr>
                      <a:r>
                        <a:t>164</a:t>
                      </a:r>
                    </a:p>
                  </a:txBody>
                  <a:tcPr>
                    <a:solidFill>
                      <a:srgbClr val="12221B"/>
                    </a:solidFill>
                  </a:tcPr>
                </a:tc>
              </a:tr>
            </a:tbl>
          </a:graphicData>
        </a:graphic>
      </p:graphicFrame>
      <p:pic>
        <p:nvPicPr>
          <p:cNvPr id="5" name="Picture 4" descr="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1463040"/>
            <a:ext cx="3840480" cy="3291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4297680"/>
            <a:ext cx="5943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FB3A0"/>
                </a:solidFill>
                <a:latin typeface="Calibri"/>
              </a:defRPr>
            </a:pPr>
            <a:r>
              <a:t>Bacterial leaf blight classified perfectly. The small error is</a:t>
            </a:r>
            <a:br/>
            <a:r>
              <a:t>Brown spot ↔ Leaf smut (visually similar tan lesions).</a:t>
            </a:r>
            <a:br/>
            <a:r>
              <a:t>91.5% on a fully held-out set shows the architecture works well</a:t>
            </a:r>
            <a:br/>
            <a:r>
              <a:t>when class data is sufficient.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35D07F"/>
                </a:solidFill>
                <a:latin typeface="Calibri"/>
              </a:defRPr>
            </a:pPr>
            <a:r>
              <a:t>Classifier Results — 6-Class Merged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FB3A0"/>
                </a:solidFill>
                <a:latin typeface="Calibri"/>
              </a:defRPr>
            </a:pPr>
            <a:r>
              <a:t>Held-out validation: 815 images · 4 of 6 classes evaluated (HF dataset)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554480"/>
          <a:ext cx="566928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005840"/>
                <a:gridCol w="914400"/>
                <a:gridCol w="822960"/>
                <a:gridCol w="914400"/>
              </a:tblGrid>
              <a:tr h="41148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6130C"/>
                          </a:solidFill>
                          <a:latin typeface="Calibri"/>
                        </a:defRPr>
                      </a:pPr>
                      <a:r>
                        <a:t>Class</a:t>
                      </a:r>
                    </a:p>
                  </a:txBody>
                  <a:tcPr>
                    <a:solidFill>
                      <a:srgbClr val="35D07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6130C"/>
                          </a:solidFill>
                          <a:latin typeface="Calibri"/>
                        </a:defRPr>
                      </a:pPr>
                      <a:r>
                        <a:t>Precision</a:t>
                      </a:r>
                    </a:p>
                  </a:txBody>
                  <a:tcPr>
                    <a:solidFill>
                      <a:srgbClr val="35D07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6130C"/>
                          </a:solidFill>
                          <a:latin typeface="Calibri"/>
                        </a:defRPr>
                      </a:pPr>
                      <a:r>
                        <a:t>Recall</a:t>
                      </a:r>
                    </a:p>
                  </a:txBody>
                  <a:tcPr>
                    <a:solidFill>
                      <a:srgbClr val="35D07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6130C"/>
                          </a:solidFill>
                          <a:latin typeface="Calibri"/>
                        </a:defRPr>
                      </a:pPr>
                      <a:r>
                        <a:t>F1</a:t>
                      </a:r>
                    </a:p>
                  </a:txBody>
                  <a:tcPr>
                    <a:solidFill>
                      <a:srgbClr val="35D07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6130C"/>
                          </a:solidFill>
                          <a:latin typeface="Calibri"/>
                        </a:defRPr>
                      </a:pPr>
                      <a:r>
                        <a:t>Support</a:t>
                      </a:r>
                    </a:p>
                  </a:txBody>
                  <a:tcPr>
                    <a:solidFill>
                      <a:srgbClr val="35D07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F5EC"/>
                          </a:solidFill>
                          <a:latin typeface="Calibri"/>
                        </a:defRPr>
                      </a:pPr>
                      <a:r>
                        <a:t>Neck_Blast</a:t>
                      </a:r>
                    </a:p>
                  </a:txBody>
                  <a:tcPr>
                    <a:solidFill>
                      <a:srgbClr val="1222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F5EC"/>
                          </a:solidFill>
                          <a:latin typeface="Calibri"/>
                        </a:defRPr>
                      </a:pPr>
                      <a:r>
                        <a:t>1.00</a:t>
                      </a:r>
                    </a:p>
                  </a:txBody>
                  <a:tcPr>
                    <a:solidFill>
                      <a:srgbClr val="1222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F5EC"/>
                          </a:solidFill>
                          <a:latin typeface="Calibri"/>
                        </a:defRPr>
                      </a:pPr>
                      <a:r>
                        <a:t>1.00</a:t>
                      </a:r>
                    </a:p>
                  </a:txBody>
                  <a:tcPr>
                    <a:solidFill>
                      <a:srgbClr val="1222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F5EC"/>
                          </a:solidFill>
                          <a:latin typeface="Calibri"/>
                        </a:defRPr>
                      </a:pPr>
                      <a:r>
                        <a:t>1.00</a:t>
                      </a:r>
                    </a:p>
                  </a:txBody>
                  <a:tcPr>
                    <a:solidFill>
                      <a:srgbClr val="1222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F5EC"/>
                          </a:solidFill>
                          <a:latin typeface="Calibri"/>
                        </a:defRPr>
                      </a:pPr>
                      <a:r>
                        <a:t>206</a:t>
                      </a:r>
                    </a:p>
                  </a:txBody>
                  <a:tcPr>
                    <a:solidFill>
                      <a:srgbClr val="12221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F5EC"/>
                          </a:solidFill>
                          <a:latin typeface="Calibri"/>
                        </a:defRPr>
                      </a:pPr>
                      <a:r>
                        <a:t>Healthy</a:t>
                      </a:r>
                    </a:p>
                  </a:txBody>
                  <a:tcPr>
                    <a:solidFill>
                      <a:srgbClr val="1222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F5EC"/>
                          </a:solidFill>
                          <a:latin typeface="Calibri"/>
                        </a:defRPr>
                      </a:pPr>
                      <a:r>
                        <a:t>0.83</a:t>
                      </a:r>
                    </a:p>
                  </a:txBody>
                  <a:tcPr>
                    <a:solidFill>
                      <a:srgbClr val="1222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F5EC"/>
                          </a:solidFill>
                          <a:latin typeface="Calibri"/>
                        </a:defRPr>
                      </a:pPr>
                      <a:r>
                        <a:t>0.88</a:t>
                      </a:r>
                    </a:p>
                  </a:txBody>
                  <a:tcPr>
                    <a:solidFill>
                      <a:srgbClr val="1222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F5EC"/>
                          </a:solidFill>
                          <a:latin typeface="Calibri"/>
                        </a:defRPr>
                      </a:pPr>
                      <a:r>
                        <a:t>0.85</a:t>
                      </a:r>
                    </a:p>
                  </a:txBody>
                  <a:tcPr>
                    <a:solidFill>
                      <a:srgbClr val="1222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F5EC"/>
                          </a:solidFill>
                          <a:latin typeface="Calibri"/>
                        </a:defRPr>
                      </a:pPr>
                      <a:r>
                        <a:t>288</a:t>
                      </a:r>
                    </a:p>
                  </a:txBody>
                  <a:tcPr>
                    <a:solidFill>
                      <a:srgbClr val="12221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F5EC"/>
                          </a:solidFill>
                          <a:latin typeface="Calibri"/>
                        </a:defRPr>
                      </a:pPr>
                      <a:r>
                        <a:t>Brown_Spot</a:t>
                      </a:r>
                    </a:p>
                  </a:txBody>
                  <a:tcPr>
                    <a:solidFill>
                      <a:srgbClr val="1222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F5EC"/>
                          </a:solidFill>
                          <a:latin typeface="Calibri"/>
                        </a:defRPr>
                      </a:pPr>
                      <a:r>
                        <a:t>0.73</a:t>
                      </a:r>
                    </a:p>
                  </a:txBody>
                  <a:tcPr>
                    <a:solidFill>
                      <a:srgbClr val="1222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F5EC"/>
                          </a:solidFill>
                          <a:latin typeface="Calibri"/>
                        </a:defRPr>
                      </a:pPr>
                      <a:r>
                        <a:t>0.74</a:t>
                      </a:r>
                    </a:p>
                  </a:txBody>
                  <a:tcPr>
                    <a:solidFill>
                      <a:srgbClr val="1222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F5EC"/>
                          </a:solidFill>
                          <a:latin typeface="Calibri"/>
                        </a:defRPr>
                      </a:pPr>
                      <a:r>
                        <a:t>0.73</a:t>
                      </a:r>
                    </a:p>
                  </a:txBody>
                  <a:tcPr>
                    <a:solidFill>
                      <a:srgbClr val="1222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F5EC"/>
                          </a:solidFill>
                          <a:latin typeface="Calibri"/>
                        </a:defRPr>
                      </a:pPr>
                      <a:r>
                        <a:t>126</a:t>
                      </a:r>
                    </a:p>
                  </a:txBody>
                  <a:tcPr>
                    <a:solidFill>
                      <a:srgbClr val="12221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F5EC"/>
                          </a:solidFill>
                          <a:latin typeface="Calibri"/>
                        </a:defRPr>
                      </a:pPr>
                      <a:r>
                        <a:t>Blast</a:t>
                      </a:r>
                    </a:p>
                  </a:txBody>
                  <a:tcPr>
                    <a:solidFill>
                      <a:srgbClr val="1222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F5EC"/>
                          </a:solidFill>
                          <a:latin typeface="Calibri"/>
                        </a:defRPr>
                      </a:pPr>
                      <a:r>
                        <a:t>0.74</a:t>
                      </a:r>
                    </a:p>
                  </a:txBody>
                  <a:tcPr>
                    <a:solidFill>
                      <a:srgbClr val="1222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F5EC"/>
                          </a:solidFill>
                          <a:latin typeface="Calibri"/>
                        </a:defRPr>
                      </a:pPr>
                      <a:r>
                        <a:t>0.67</a:t>
                      </a:r>
                    </a:p>
                  </a:txBody>
                  <a:tcPr>
                    <a:solidFill>
                      <a:srgbClr val="1222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F5EC"/>
                          </a:solidFill>
                          <a:latin typeface="Calibri"/>
                        </a:defRPr>
                      </a:pPr>
                      <a:r>
                        <a:t>0.71</a:t>
                      </a:r>
                    </a:p>
                  </a:txBody>
                  <a:tcPr>
                    <a:solidFill>
                      <a:srgbClr val="1222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F5EC"/>
                          </a:solidFill>
                          <a:latin typeface="Calibri"/>
                        </a:defRPr>
                      </a:pPr>
                      <a:r>
                        <a:t>195</a:t>
                      </a:r>
                    </a:p>
                  </a:txBody>
                  <a:tcPr>
                    <a:solidFill>
                      <a:srgbClr val="12221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F5EC"/>
                          </a:solidFill>
                          <a:latin typeface="Calibri"/>
                        </a:defRPr>
                      </a:pPr>
                      <a:r>
                        <a:t>Overall accuracy</a:t>
                      </a:r>
                    </a:p>
                  </a:txBody>
                  <a:tcPr>
                    <a:solidFill>
                      <a:srgbClr val="1222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F5EC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1222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F5EC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1222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F5EC"/>
                          </a:solidFill>
                          <a:latin typeface="Calibri"/>
                        </a:defRPr>
                      </a:pPr>
                      <a:r>
                        <a:t>0.838</a:t>
                      </a:r>
                    </a:p>
                  </a:txBody>
                  <a:tcPr>
                    <a:solidFill>
                      <a:srgbClr val="1222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F5EC"/>
                          </a:solidFill>
                          <a:latin typeface="Calibri"/>
                        </a:defRPr>
                      </a:pPr>
                      <a:r>
                        <a:t>815</a:t>
                      </a:r>
                    </a:p>
                  </a:txBody>
                  <a:tcPr>
                    <a:solidFill>
                      <a:srgbClr val="12221B"/>
                    </a:solidFill>
                  </a:tcPr>
                </a:tc>
              </a:tr>
            </a:tbl>
          </a:graphicData>
        </a:graphic>
      </p:graphicFrame>
      <p:pic>
        <p:nvPicPr>
          <p:cNvPr id="5" name="Picture 4" descr="confusion_matrix_merg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1463040"/>
            <a:ext cx="3866606" cy="3383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4480560"/>
            <a:ext cx="5943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FB3A0"/>
                </a:solidFill>
                <a:latin typeface="Calibri"/>
              </a:defRPr>
            </a:pPr>
            <a:r>
              <a:t>Neck blast: perfect (1.00) · Healthy: strong (0.85) — the spray/</a:t>
            </a:r>
            <a:br/>
            <a:r>
              <a:t>don't-spray decision is reliable. Blast vs Brown spot are the</a:t>
            </a:r>
            <a:br/>
            <a:r>
              <a:t>weaker pair (both tan lesions). Bacterial Blight &amp; Leaf Smut</a:t>
            </a:r>
            <a:br/>
            <a:r>
              <a:t>(55 imgs each) — known data limitation.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35D07F"/>
                </a:solidFill>
                <a:latin typeface="Calibri"/>
              </a:defRPr>
            </a:pPr>
            <a:r>
              <a:t>Lesion Segmenter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FB3A0"/>
                </a:solidFill>
                <a:latin typeface="Calibri"/>
              </a:defRPr>
            </a:pPr>
            <a:r>
              <a:t>Evaluated on PlantSeg validation set: 1,247 images with expert pixel masks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554480"/>
          <a:ext cx="9601200" cy="123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828800"/>
                <a:gridCol w="2743200"/>
                <a:gridCol w="2743200"/>
              </a:tblGrid>
              <a:tr h="41148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6130C"/>
                          </a:solidFill>
                          <a:latin typeface="Calibri"/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35D07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6130C"/>
                          </a:solidFill>
                          <a:latin typeface="Calibri"/>
                        </a:defRPr>
                      </a:pPr>
                      <a:r>
                        <a:t>Our U-Net</a:t>
                      </a:r>
                    </a:p>
                  </a:txBody>
                  <a:tcPr>
                    <a:solidFill>
                      <a:srgbClr val="35D07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6130C"/>
                          </a:solidFill>
                          <a:latin typeface="Calibri"/>
                        </a:defRPr>
                      </a:pPr>
                      <a:r>
                        <a:t>PlantSeg Best (SegNext)</a:t>
                      </a:r>
                    </a:p>
                  </a:txBody>
                  <a:tcPr>
                    <a:solidFill>
                      <a:srgbClr val="35D07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6130C"/>
                          </a:solidFill>
                          <a:latin typeface="Calibri"/>
                        </a:defRPr>
                      </a:pPr>
                      <a:r>
                        <a:t>PlantSeg DeepLabV3+</a:t>
                      </a:r>
                    </a:p>
                  </a:txBody>
                  <a:tcPr>
                    <a:solidFill>
                      <a:srgbClr val="35D07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F5EC"/>
                          </a:solidFill>
                          <a:latin typeface="Calibri"/>
                        </a:defRPr>
                      </a:pPr>
                      <a:r>
                        <a:t>Mean IoU</a:t>
                      </a:r>
                    </a:p>
                  </a:txBody>
                  <a:tcPr>
                    <a:solidFill>
                      <a:srgbClr val="1222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F5EC"/>
                          </a:solidFill>
                          <a:latin typeface="Calibri"/>
                        </a:defRPr>
                      </a:pPr>
                      <a:r>
                        <a:t>0.4450</a:t>
                      </a:r>
                    </a:p>
                  </a:txBody>
                  <a:tcPr>
                    <a:solidFill>
                      <a:srgbClr val="1222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F5EC"/>
                          </a:solidFill>
                          <a:latin typeface="Calibri"/>
                        </a:defRPr>
                      </a:pPr>
                      <a:r>
                        <a:t>0.4452</a:t>
                      </a:r>
                    </a:p>
                  </a:txBody>
                  <a:tcPr>
                    <a:solidFill>
                      <a:srgbClr val="1222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F5EC"/>
                          </a:solidFill>
                          <a:latin typeface="Calibri"/>
                        </a:defRPr>
                      </a:pPr>
                      <a:r>
                        <a:t>0.2508–0.2718</a:t>
                      </a:r>
                    </a:p>
                  </a:txBody>
                  <a:tcPr>
                    <a:solidFill>
                      <a:srgbClr val="12221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F5EC"/>
                          </a:solidFill>
                          <a:latin typeface="Calibri"/>
                        </a:defRPr>
                      </a:pPr>
                      <a:r>
                        <a:t>Mean Dice</a:t>
                      </a:r>
                    </a:p>
                  </a:txBody>
                  <a:tcPr>
                    <a:solidFill>
                      <a:srgbClr val="1222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F5EC"/>
                          </a:solidFill>
                          <a:latin typeface="Calibri"/>
                        </a:defRPr>
                      </a:pPr>
                      <a:r>
                        <a:t>0.5641</a:t>
                      </a:r>
                    </a:p>
                  </a:txBody>
                  <a:tcPr>
                    <a:solidFill>
                      <a:srgbClr val="1222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F5EC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222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F5EC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2221B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30175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FB3A0"/>
                </a:solidFill>
                <a:latin typeface="Calibri"/>
              </a:defRPr>
            </a:pPr>
            <a:r>
              <a:t>Our lightweight binary U-Net (MobileNetV2 encoder) achieves 0.445 IoU —</a:t>
            </a:r>
            <a:br/>
            <a:r>
              <a:t>on par with the PlantSeg paper's BEST baseline (SegNext-MSCAN-L at 0.4452 mIoU)</a:t>
            </a:r>
            <a:br/>
            <a:r>
              <a:t>while being far smaller and faster.</a:t>
            </a:r>
            <a:br/>
            <a:br/>
            <a:r>
              <a:t>Note: PlantSeg baselines are on 115-class multi-disease segmentation;</a:t>
            </a:r>
            <a:br/>
            <a:r>
              <a:t>our task is simpler (binary lesion vs not), but the comparison demonstrates</a:t>
            </a:r>
            <a:br/>
            <a:r>
              <a:t>competitive pixel-level disease detection on in-the-wild images.</a:t>
            </a:r>
            <a:br/>
            <a:br/>
            <a:r>
              <a:t>The trained model clearly outperforms the classical colour-threshold method</a:t>
            </a:r>
            <a:br/>
            <a:r>
              <a:t>on cluttered field photos.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35D07F"/>
                </a:solidFill>
                <a:latin typeface="Calibri"/>
              </a:defRPr>
            </a:pPr>
            <a:r>
              <a:t>Severity → Variable-Rate Spray Mapping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097280"/>
          <a:ext cx="960120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914400"/>
                <a:gridCol w="822960"/>
                <a:gridCol w="1828800"/>
                <a:gridCol w="1828800"/>
                <a:gridCol w="1828800"/>
                <a:gridCol w="1188720"/>
              </a:tblGrid>
              <a:tr h="41148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6130C"/>
                          </a:solidFill>
                          <a:latin typeface="Calibri"/>
                        </a:defRPr>
                      </a:pPr>
                      <a:r>
                        <a:t>Severity %</a:t>
                      </a:r>
                    </a:p>
                  </a:txBody>
                  <a:tcPr>
                    <a:solidFill>
                      <a:srgbClr val="35D07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6130C"/>
                          </a:solidFill>
                          <a:latin typeface="Calibri"/>
                        </a:defRPr>
                      </a:pPr>
                      <a:r>
                        <a:t>Level</a:t>
                      </a:r>
                    </a:p>
                  </a:txBody>
                  <a:tcPr>
                    <a:solidFill>
                      <a:srgbClr val="35D07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6130C"/>
                          </a:solidFill>
                          <a:latin typeface="Calibri"/>
                        </a:defRPr>
                      </a:pPr>
                      <a:r>
                        <a:t>Base C</a:t>
                      </a:r>
                    </a:p>
                  </a:txBody>
                  <a:tcPr>
                    <a:solidFill>
                      <a:srgbClr val="35D07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6130C"/>
                          </a:solidFill>
                          <a:latin typeface="Calibri"/>
                        </a:defRPr>
                      </a:pPr>
                      <a:r>
                        <a:t>Bact. blight (×1.2)</a:t>
                      </a:r>
                    </a:p>
                  </a:txBody>
                  <a:tcPr>
                    <a:solidFill>
                      <a:srgbClr val="35D07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6130C"/>
                          </a:solidFill>
                          <a:latin typeface="Calibri"/>
                        </a:defRPr>
                      </a:pPr>
                      <a:r>
                        <a:t>Brown spot (×1.0)</a:t>
                      </a:r>
                    </a:p>
                  </a:txBody>
                  <a:tcPr>
                    <a:solidFill>
                      <a:srgbClr val="35D07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6130C"/>
                          </a:solidFill>
                          <a:latin typeface="Calibri"/>
                        </a:defRPr>
                      </a:pPr>
                      <a:r>
                        <a:t>Leaf smut (×0.8)</a:t>
                      </a:r>
                    </a:p>
                  </a:txBody>
                  <a:tcPr>
                    <a:solidFill>
                      <a:srgbClr val="35D07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6130C"/>
                          </a:solidFill>
                          <a:latin typeface="Calibri"/>
                        </a:defRPr>
                      </a:pPr>
                      <a:r>
                        <a:t>Spray time</a:t>
                      </a:r>
                    </a:p>
                  </a:txBody>
                  <a:tcPr>
                    <a:solidFill>
                      <a:srgbClr val="35D07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F5EC"/>
                          </a:solidFill>
                          <a:latin typeface="Calibri"/>
                        </a:defRPr>
                      </a:pPr>
                      <a:r>
                        <a:t>0 (Healthy)</a:t>
                      </a:r>
                    </a:p>
                  </a:txBody>
                  <a:tcPr>
                    <a:solidFill>
                      <a:srgbClr val="1222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F5EC"/>
                          </a:solidFill>
                          <a:latin typeface="Calibri"/>
                        </a:defRPr>
                      </a:pPr>
                      <a:r>
                        <a:t>Healthy</a:t>
                      </a:r>
                    </a:p>
                  </a:txBody>
                  <a:tcPr>
                    <a:solidFill>
                      <a:srgbClr val="1222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F5EC"/>
                          </a:solidFill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1222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F5EC"/>
                          </a:solidFill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1222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F5EC"/>
                          </a:solidFill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1222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F5EC"/>
                          </a:solidFill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1222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F5EC"/>
                          </a:solidFill>
                          <a:latin typeface="Calibri"/>
                        </a:defRPr>
                      </a:pPr>
                      <a:r>
                        <a:t>0.00 s</a:t>
                      </a:r>
                    </a:p>
                  </a:txBody>
                  <a:tcPr>
                    <a:solidFill>
                      <a:srgbClr val="12221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F5EC"/>
                          </a:solidFill>
                          <a:latin typeface="Calibri"/>
                        </a:defRPr>
                      </a:pPr>
                      <a:r>
                        <a:t>0.1 – 5</a:t>
                      </a:r>
                    </a:p>
                  </a:txBody>
                  <a:tcPr>
                    <a:solidFill>
                      <a:srgbClr val="1222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F5EC"/>
                          </a:solidFill>
                          <a:latin typeface="Calibri"/>
                        </a:defRPr>
                      </a:pPr>
                      <a:r>
                        <a:t>Low</a:t>
                      </a:r>
                    </a:p>
                  </a:txBody>
                  <a:tcPr>
                    <a:solidFill>
                      <a:srgbClr val="1222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F5EC"/>
                          </a:solidFill>
                          <a:latin typeface="Calibri"/>
                        </a:defRPr>
                      </a:pPr>
                      <a:r>
                        <a:t>0.30</a:t>
                      </a:r>
                    </a:p>
                  </a:txBody>
                  <a:tcPr>
                    <a:solidFill>
                      <a:srgbClr val="1222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F5EC"/>
                          </a:solidFill>
                          <a:latin typeface="Calibri"/>
                        </a:defRPr>
                      </a:pPr>
                      <a:r>
                        <a:t>0.36</a:t>
                      </a:r>
                    </a:p>
                  </a:txBody>
                  <a:tcPr>
                    <a:solidFill>
                      <a:srgbClr val="1222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F5EC"/>
                          </a:solidFill>
                          <a:latin typeface="Calibri"/>
                        </a:defRPr>
                      </a:pPr>
                      <a:r>
                        <a:t>0.30</a:t>
                      </a:r>
                    </a:p>
                  </a:txBody>
                  <a:tcPr>
                    <a:solidFill>
                      <a:srgbClr val="1222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F5EC"/>
                          </a:solidFill>
                          <a:latin typeface="Calibri"/>
                        </a:defRPr>
                      </a:pPr>
                      <a:r>
                        <a:t>0.24</a:t>
                      </a:r>
                    </a:p>
                  </a:txBody>
                  <a:tcPr>
                    <a:solidFill>
                      <a:srgbClr val="1222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F5EC"/>
                          </a:solidFill>
                          <a:latin typeface="Calibri"/>
                        </a:defRPr>
                      </a:pPr>
                      <a:r>
                        <a:t>~1.1–1.4 s</a:t>
                      </a:r>
                    </a:p>
                  </a:txBody>
                  <a:tcPr>
                    <a:solidFill>
                      <a:srgbClr val="12221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F5EC"/>
                          </a:solidFill>
                          <a:latin typeface="Calibri"/>
                        </a:defRPr>
                      </a:pPr>
                      <a:r>
                        <a:t>5.1 – 20</a:t>
                      </a:r>
                    </a:p>
                  </a:txBody>
                  <a:tcPr>
                    <a:solidFill>
                      <a:srgbClr val="1222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F5EC"/>
                          </a:solidFill>
                          <a:latin typeface="Calibri"/>
                        </a:defRPr>
                      </a:pPr>
                      <a:r>
                        <a:t>Medium</a:t>
                      </a:r>
                    </a:p>
                  </a:txBody>
                  <a:tcPr>
                    <a:solidFill>
                      <a:srgbClr val="1222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F5EC"/>
                          </a:solidFill>
                          <a:latin typeface="Calibri"/>
                        </a:defRPr>
                      </a:pPr>
                      <a:r>
                        <a:t>0.55</a:t>
                      </a:r>
                    </a:p>
                  </a:txBody>
                  <a:tcPr>
                    <a:solidFill>
                      <a:srgbClr val="1222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F5EC"/>
                          </a:solidFill>
                          <a:latin typeface="Calibri"/>
                        </a:defRPr>
                      </a:pPr>
                      <a:r>
                        <a:t>0.66</a:t>
                      </a:r>
                    </a:p>
                  </a:txBody>
                  <a:tcPr>
                    <a:solidFill>
                      <a:srgbClr val="1222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F5EC"/>
                          </a:solidFill>
                          <a:latin typeface="Calibri"/>
                        </a:defRPr>
                      </a:pPr>
                      <a:r>
                        <a:t>0.55</a:t>
                      </a:r>
                    </a:p>
                  </a:txBody>
                  <a:tcPr>
                    <a:solidFill>
                      <a:srgbClr val="1222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F5EC"/>
                          </a:solidFill>
                          <a:latin typeface="Calibri"/>
                        </a:defRPr>
                      </a:pPr>
                      <a:r>
                        <a:t>0.44</a:t>
                      </a:r>
                    </a:p>
                  </a:txBody>
                  <a:tcPr>
                    <a:solidFill>
                      <a:srgbClr val="1222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F5EC"/>
                          </a:solidFill>
                          <a:latin typeface="Calibri"/>
                        </a:defRPr>
                      </a:pPr>
                      <a:r>
                        <a:t>~1.6–2.2 s</a:t>
                      </a:r>
                    </a:p>
                  </a:txBody>
                  <a:tcPr>
                    <a:solidFill>
                      <a:srgbClr val="12221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F5EC"/>
                          </a:solidFill>
                          <a:latin typeface="Calibri"/>
                        </a:defRPr>
                      </a:pPr>
                      <a:r>
                        <a:t>&gt; 20</a:t>
                      </a:r>
                    </a:p>
                  </a:txBody>
                  <a:tcPr>
                    <a:solidFill>
                      <a:srgbClr val="1222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F5EC"/>
                          </a:solidFill>
                          <a:latin typeface="Calibri"/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1222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F5EC"/>
                          </a:solidFill>
                          <a:latin typeface="Calibri"/>
                        </a:defRPr>
                      </a:pPr>
                      <a:r>
                        <a:t>0.80</a:t>
                      </a:r>
                    </a:p>
                  </a:txBody>
                  <a:tcPr>
                    <a:solidFill>
                      <a:srgbClr val="1222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F5EC"/>
                          </a:solidFill>
                          <a:latin typeface="Calibri"/>
                        </a:defRPr>
                      </a:pPr>
                      <a:r>
                        <a:t>0.96</a:t>
                      </a:r>
                    </a:p>
                  </a:txBody>
                  <a:tcPr>
                    <a:solidFill>
                      <a:srgbClr val="1222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F5EC"/>
                          </a:solidFill>
                          <a:latin typeface="Calibri"/>
                        </a:defRPr>
                      </a:pPr>
                      <a:r>
                        <a:t>0.80</a:t>
                      </a:r>
                    </a:p>
                  </a:txBody>
                  <a:tcPr>
                    <a:solidFill>
                      <a:srgbClr val="1222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F5EC"/>
                          </a:solidFill>
                          <a:latin typeface="Calibri"/>
                        </a:defRPr>
                      </a:pPr>
                      <a:r>
                        <a:t>0.64</a:t>
                      </a:r>
                    </a:p>
                  </a:txBody>
                  <a:tcPr>
                    <a:solidFill>
                      <a:srgbClr val="1222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F5EC"/>
                          </a:solidFill>
                          <a:latin typeface="Calibri"/>
                        </a:defRPr>
                      </a:pPr>
                      <a:r>
                        <a:t>~2.1–2.9 s</a:t>
                      </a:r>
                    </a:p>
                  </a:txBody>
                  <a:tcPr>
                    <a:solidFill>
                      <a:srgbClr val="12221B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347472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FB3A0"/>
                </a:solidFill>
                <a:latin typeface="Consolas"/>
              </a:defRPr>
            </a:pPr>
            <a:r>
              <a:t>Equations (Tewari et al. 2020):</a:t>
            </a:r>
            <a:br/>
            <a:r>
              <a:t>  a = (C_eff × A) / (d × 10)  [mL/hill]     A=500 L/ha, d=25 hills/m²</a:t>
            </a:r>
            <a:br/>
            <a:r>
              <a:t>  t_s = t_min + C_eff × (t_max − t_min)       t_min=0.5s, t_max=3.0s</a:t>
            </a:r>
            <a:br/>
            <a:br/>
            <a:r>
              <a:t>Solenoid timing standardized to a real 0.5–3.0s valve window</a:t>
            </a:r>
            <a:br/>
            <a:r>
              <a:t>(UNL Extension G2302; Agriculture 2024, 14(3), 361).</a:t>
            </a:r>
            <a:br/>
            <a:r>
              <a:t>Disease-specific factors ensure the CNN's diagnosis genuinely affects the spray dose.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35D07F"/>
                </a:solidFill>
                <a:latin typeface="Calibri"/>
              </a:defRPr>
            </a:pPr>
            <a:r>
              <a:t>Robustness &amp; Safety Features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5394960" cy="2194560"/>
          </a:xfrm>
          <a:prstGeom prst="roundRect">
            <a:avLst/>
          </a:prstGeom>
          <a:solidFill>
            <a:srgbClr val="122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B443"/>
                </a:solidFill>
                <a:latin typeface="Calibri"/>
              </a:defRPr>
            </a:pPr>
            <a:r>
              <a:t>Confidence Gate (70%)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F5EC"/>
                </a:solidFill>
                <a:latin typeface="Calibri"/>
              </a:defRPr>
            </a:pPr>
            <a:r>
              <a:t>Sub-70% predictions flagged as 'uncertain' —</a:t>
            </a:r>
            <a:br/>
            <a:r>
              <a:t>stops the system from asserting shaky guesses.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097280"/>
            <a:ext cx="5394960" cy="2194560"/>
          </a:xfrm>
          <a:prstGeom prst="roundRect">
            <a:avLst/>
          </a:prstGeom>
          <a:solidFill>
            <a:srgbClr val="122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28016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5D07F"/>
                </a:solidFill>
                <a:latin typeface="Calibri"/>
              </a:defRPr>
            </a:pPr>
            <a:r>
              <a:t>Severity Floor (1.5%)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828800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F5EC"/>
                </a:solidFill>
                <a:latin typeface="Calibri"/>
              </a:defRPr>
            </a:pPr>
            <a:r>
              <a:t>If diseased area &lt; 1.5% of leaf, treated as Healthy →</a:t>
            </a:r>
            <a:br/>
            <a:r>
              <a:t>no spray. Eliminates false positives from stray specks.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657600"/>
            <a:ext cx="5394960" cy="2194560"/>
          </a:xfrm>
          <a:prstGeom prst="roundRect">
            <a:avLst/>
          </a:prstGeom>
          <a:solidFill>
            <a:srgbClr val="122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8404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B6F36B"/>
                </a:solidFill>
                <a:latin typeface="Calibri"/>
              </a:defRPr>
            </a:pPr>
            <a:r>
              <a:t>Graceful Fallbacks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389120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F5EC"/>
                </a:solidFill>
                <a:latin typeface="Calibri"/>
              </a:defRPr>
            </a:pPr>
            <a:r>
              <a:t>Trained segmenter → colour method; SAM → auto leaf mask.</a:t>
            </a:r>
            <a:br/>
            <a:r>
              <a:t>Every component degrades gracefully if unavailable.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657600"/>
            <a:ext cx="5394960" cy="2194560"/>
          </a:xfrm>
          <a:prstGeom prst="roundRect">
            <a:avLst/>
          </a:prstGeom>
          <a:solidFill>
            <a:srgbClr val="122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38404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B6F36B"/>
                </a:solidFill>
                <a:latin typeface="Calibri"/>
              </a:defRPr>
            </a:pPr>
            <a:r>
              <a:t>Interactive Leaf Tracing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4389120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F5EC"/>
                </a:solidFill>
                <a:latin typeface="Calibri"/>
              </a:defRPr>
            </a:pPr>
            <a:r>
              <a:t>Free-form polygon drawn by user becomes the leaf mask.</a:t>
            </a:r>
            <a:br/>
            <a:r>
              <a:t>Solves the 'background counted as leaf' problem.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35D07F"/>
                </a:solidFill>
                <a:latin typeface="Calibri"/>
              </a:defRPr>
            </a:pPr>
            <a:r>
              <a:t>Known Limitations &amp; Future Work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5486400" cy="3657600"/>
          </a:xfrm>
          <a:prstGeom prst="roundRect">
            <a:avLst/>
          </a:prstGeom>
          <a:solidFill>
            <a:srgbClr val="122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B443"/>
                </a:solidFill>
                <a:latin typeface="Calibri"/>
              </a:defRPr>
            </a:pPr>
            <a:r>
              <a:t>Current Limitations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F5EC"/>
                </a:solidFill>
                <a:latin typeface="Calibri"/>
              </a:defRPr>
            </a:pPr>
            <a:r>
              <a:t>• Bacterial Blight &amp; Leaf Smut: only 55 training images each → weakest classes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84831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F5EC"/>
                </a:solidFill>
                <a:latin typeface="Calibri"/>
              </a:defRPr>
            </a:pPr>
            <a:r>
              <a:t>• Blast vs Brown Spot confusion (visually similar tan lesions)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32303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F5EC"/>
                </a:solidFill>
                <a:latin typeface="Calibri"/>
              </a:defRPr>
            </a:pPr>
            <a:r>
              <a:t>• Field-photo segmentation imperfect on very cluttered backgrounds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779775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F5EC"/>
                </a:solidFill>
                <a:latin typeface="Calibri"/>
              </a:defRPr>
            </a:pPr>
            <a:r>
              <a:t>• Spray timing (0.5–3.0s) is a research-backed default, not hardware-calibrated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127247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F5EC"/>
                </a:solidFill>
                <a:latin typeface="Calibri"/>
              </a:defRPr>
            </a:pPr>
            <a:r>
              <a:t>• PlantSeg segmenter evaluated at 0.445 IoU — strong but not pixel-perfect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097280"/>
            <a:ext cx="5486400" cy="3657600"/>
          </a:xfrm>
          <a:prstGeom prst="roundRect">
            <a:avLst/>
          </a:prstGeom>
          <a:solidFill>
            <a:srgbClr val="122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28016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B6F36B"/>
                </a:solidFill>
                <a:latin typeface="Calibri"/>
              </a:defRPr>
            </a:pPr>
            <a:r>
              <a:t>Future Work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7373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F5EC"/>
                </a:solidFill>
                <a:latin typeface="Calibri"/>
              </a:defRPr>
            </a:pPr>
            <a:r>
              <a:t>• Collect more balanced training data for weak classes (biggest accuracy lever)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084831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F5EC"/>
                </a:solidFill>
                <a:latin typeface="Calibri"/>
              </a:defRPr>
            </a:pPr>
            <a:r>
              <a:t>• Higher input resolution (299/384 px) to distinguish similar lesions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432303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F5EC"/>
                </a:solidFill>
                <a:latin typeface="Calibri"/>
              </a:defRPr>
            </a:pPr>
            <a:r>
              <a:t>• Larger backbone (EfficientNetV2-B2/B3) for better feature extraction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779775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F5EC"/>
                </a:solidFill>
                <a:latin typeface="Calibri"/>
              </a:defRPr>
            </a:pPr>
            <a:r>
              <a:t>• Hardware calibration: measure actual pump/nozzle → tune spray timing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3127247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F5EC"/>
                </a:solidFill>
                <a:latin typeface="Calibri"/>
              </a:defRPr>
            </a:pPr>
            <a:r>
              <a:t>• Deploy on edge device (TFLite on Raspberry Pi / ESP32 for field use)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35D07F"/>
                </a:solidFill>
                <a:latin typeface="Calibri"/>
              </a:defRPr>
            </a:pPr>
            <a:r>
              <a:t>Live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E8F5EC"/>
                </a:solidFill>
                <a:latin typeface="Consolas"/>
              </a:defRPr>
            </a:pPr>
            <a:r>
              <a:t>python app/server.py → http://127.0.0.1:5000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FB3A0"/>
                </a:solidFill>
                <a:latin typeface="Calibri"/>
              </a:defRPr>
            </a:pPr>
            <a:r>
              <a:t>1. Upload a rice leaf image (drag &amp; drop)</a:t>
            </a:r>
            <a:br/>
            <a:r>
              <a:t>2. Auto-analysis: disease class + severity + spray decision</a:t>
            </a:r>
            <a:br/>
            <a:r>
              <a:t>3. Trace around the main leaf for precise isolation</a:t>
            </a:r>
            <a:br/>
            <a:r>
              <a:t>4. Watch: animated severity formulas → disease-specific dosing → spray hose animation</a:t>
            </a:r>
            <a:br/>
            <a:r>
              <a:t>5. History tab: browse all past analyses</a:t>
            </a:r>
            <a:br/>
            <a:r>
              <a:t>6. About tab: pipeline explanation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35D07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E8F5EC"/>
                </a:solidFill>
                <a:latin typeface="Calibri"/>
              </a:defRPr>
            </a:pPr>
            <a:r>
              <a:t>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FB3A0"/>
                </a:solidFill>
                <a:latin typeface="Calibri"/>
              </a:defRPr>
            </a:pPr>
            <a:r>
              <a:t>PaddyGuard · EfficientNetV2-B0 + U-Net Segmentation + MobileSAM</a:t>
            </a:r>
            <a:br/>
            <a:r>
              <a:t>Based on Tewari et al. (2020) methodology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